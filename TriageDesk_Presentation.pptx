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Zane. My project is TriageDesk — a SOC alert triage and incident management platform. In one line: it turns thousands of raw security alerts into a small number of managed incidents an analyst can actually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is alert overload. A company runs many security tools and together they fire thousands of alerts a day. Analysts can't review them all, so real threats get buried in noise, incidents sit unowned, and there's no single place to manage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simple picture: a company's tools are like smoke detectors all over a building. There are thousands of beeps and most are harmless, but one is a real fire. TriageDesk is the control room — it pulls every beep onto one screen, labels it, groups related ones, and puts a timer on each so nothing gets ignored.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project. Every alert travels through five automatic steps: ingest and normalize, enrich with context, score the risk, correlate into incidents, and put it on an SLA clock. By the time an analyst looks, the work of triage is mostly done — they see one ranked queue of incidents, not a wall of raw alerts.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is a straight pipeline. On the left, alerts come from many sources. In the middle, the engine normalizes, enriches, scores, correlates, applies SLAs, and runs the analyst workflow. On the right, everything is persisted to a database and shown on the dashboard. Because every stage only speaks one common alert format, adding a new source is just one small parser.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Enrichment is what turns a raw alert into a decision. On its own an alert just says 'IP X talked to IP Y.' TriageDesk automatically checks: is the source on a threat feed? Is the target one of our important systems? Is the source internal? Then it rolls severity, threat-intel confidence and asset value into one risk score. That's why a medium alert on the payroll database can outrank a high alert on a throwaway test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attack — say a brute-force attempt — can throw dozens of alerts. Correlation groups alerts from the same source within a time window into one incident. In the demo, 66 raw alerts became 42 incidents, so the analyst works fewer, richer cases instead of a flood of individual alerts.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makes it a real incident-management tool. Every incident gets two deadlines based on severity — one to acknowledge, one to resolve. The system shows whether each is on track, at risk, breached, and it automatically escalates serious incidents nobody has picked up. That produces the metrics a SOC is actually measured on: mean time to acknowledge, mean time to resolve, and SLA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console. The top row is the team's health at a glance. The main table is the incident queue, sorted by risk, with SLA countdown chips and red ESC tags for escalated incidents. On the right are the severity mix, analyst workload, and a MITRE ATT&amp;CK coverage map. I'll demo this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analyst opens an incident, everything needed to act is on one page: the enrichment explaining why it's dangerous, a MITRE ATT&amp;CK-based response playbook, the SLA status, and one-click actions to acknowledge, assign, and resolve with a verdict. Every action is logged to an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build: it's about 1,450 lines of my own Python behind a FastAPI backend, with a zero-setup SQLite database and a single-file dashboard that runs offline. Incidents map to MITRE ATT&amp;CK with response playbooks. And there are 24 automated tests covering every stage — parsing, enrichment, correlation, SLA breaches, and the workflow — all passing.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demo dataset: 66 alerts collapsed into 42 incidents, 97% were acknowledged within SLA, 5 were automatically escalated, 24 tests pass, and it needs zero paid services and zero setup to run. All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honest about limits: it uses a simple analyst selector rather than real login; the threat and asset data are bundled samples; correlation is rule-based; and it assists response rather than acting automatically. The version-2 roadmap is real authentication, live threat feeds, automated response actions moving toward a SOAR, and two-way integration with a SIEM like Wazuh, which I already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TriageDesk pulls every alert into one place, adds context, groups them into incidents, and tracks response deadlines so nothing serious slips through — the core job of a SOC analyst, in one tool. Thank you — I'm happy to take questions or demo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
    <p:bg>
      <p:bgPr>
        <a:solidFill>
          <a:srgbClr val="0E162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slideLayout" Target="../slideLayouts/slideLayout2.xml"/><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2.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869680" y="-1280160"/>
            <a:ext cx="5120640" cy="5120640"/>
          </a:xfrm>
          <a:prstGeom prst="ellipse">
            <a:avLst/>
          </a:prstGeom>
          <a:solidFill>
            <a:srgbClr val="13233A"/>
          </a:solidFill>
          <a:ln/>
        </p:spPr>
      </p:sp>
      <p:sp>
        <p:nvSpPr>
          <p:cNvPr id="3" name="Shape 1"/>
          <p:cNvSpPr/>
          <p:nvPr/>
        </p:nvSpPr>
        <p:spPr>
          <a:xfrm>
            <a:off x="9875520" y="2194560"/>
            <a:ext cx="3840480" cy="3840480"/>
          </a:xfrm>
          <a:prstGeom prst="ellipse">
            <a:avLst/>
          </a:prstGeom>
          <a:solidFill>
            <a:srgbClr val="13233A"/>
          </a:solidFill>
          <a:ln/>
        </p:spPr>
      </p:sp>
      <p:sp>
        <p:nvSpPr>
          <p:cNvPr id="4" name="Shape 2"/>
          <p:cNvSpPr/>
          <p:nvPr/>
        </p:nvSpPr>
        <p:spPr>
          <a:xfrm>
            <a:off x="548640" y="1234440"/>
            <a:ext cx="1051560" cy="1051560"/>
          </a:xfrm>
          <a:prstGeom prst="ellipse">
            <a:avLst/>
          </a:prstGeom>
          <a:solidFill>
            <a:srgbClr val="3B82F6"/>
          </a:solidFill>
          <a:ln/>
        </p:spPr>
      </p:sp>
      <p:pic>
        <p:nvPicPr>
          <p:cNvPr id="5" name="Image 0" descr="preencoded.png">    </p:cNvPr>
          <p:cNvPicPr>
            <a:picLocks noChangeAspect="1"/>
          </p:cNvPicPr>
          <p:nvPr/>
        </p:nvPicPr>
        <p:blipFill>
          <a:blip r:embed="rId1"/>
          <a:stretch>
            <a:fillRect/>
          </a:stretch>
        </p:blipFill>
        <p:spPr>
          <a:xfrm>
            <a:off x="811530" y="1497330"/>
            <a:ext cx="525780" cy="525780"/>
          </a:xfrm>
          <a:prstGeom prst="rect">
            <a:avLst/>
          </a:prstGeom>
        </p:spPr>
      </p:pic>
      <p:sp>
        <p:nvSpPr>
          <p:cNvPr id="6" name="Text 3"/>
          <p:cNvSpPr txBox="1"/>
          <p:nvPr/>
        </p:nvSpPr>
        <p:spPr>
          <a:xfrm>
            <a:off x="548640" y="2514600"/>
            <a:ext cx="9144000" cy="1005840"/>
          </a:xfrm>
          <a:prstGeom prst="rect">
            <a:avLst/>
          </a:prstGeom>
          <a:noFill/>
          <a:ln/>
        </p:spPr>
        <p:txBody>
          <a:bodyPr wrap="square" lIns="0" tIns="0" rIns="0" bIns="0" rtlCol="0" anchor="ctr"/>
          <a:lstStyle/>
          <a:p>
            <a:pPr indent="0" marL="0">
              <a:buNone/>
            </a:pPr>
            <a:r>
              <a:rPr lang="en-US" sz="6000" b="1" dirty="0">
                <a:solidFill>
                  <a:srgbClr val="FFFFFF"/>
                </a:solidFill>
                <a:latin typeface="Calibri" pitchFamily="34" charset="0"/>
                <a:ea typeface="Calibri" pitchFamily="34" charset="-122"/>
                <a:cs typeface="Calibri" pitchFamily="34" charset="-120"/>
              </a:rPr>
              <a:t>TriageDesk</a:t>
            </a:r>
            <a:endParaRPr lang="en-US" sz="6000" dirty="0"/>
          </a:p>
        </p:txBody>
      </p:sp>
      <p:sp>
        <p:nvSpPr>
          <p:cNvPr id="7" name="Text 4"/>
          <p:cNvSpPr txBox="1"/>
          <p:nvPr/>
        </p:nvSpPr>
        <p:spPr>
          <a:xfrm>
            <a:off x="548640" y="3566160"/>
            <a:ext cx="10058400" cy="548640"/>
          </a:xfrm>
          <a:prstGeom prst="rect">
            <a:avLst/>
          </a:prstGeom>
          <a:noFill/>
          <a:ln/>
        </p:spPr>
        <p:txBody>
          <a:bodyPr wrap="square" lIns="0" tIns="0" rIns="0" bIns="0" rtlCol="0" anchor="ctr"/>
          <a:lstStyle/>
          <a:p>
            <a:pPr indent="0" marL="0">
              <a:buNone/>
            </a:pPr>
            <a:r>
              <a:rPr lang="en-US" sz="2200" dirty="0">
                <a:solidFill>
                  <a:srgbClr val="9FB4CC"/>
                </a:solidFill>
                <a:latin typeface="Calibri" pitchFamily="34" charset="0"/>
                <a:ea typeface="Calibri" pitchFamily="34" charset="-122"/>
                <a:cs typeface="Calibri" pitchFamily="34" charset="-120"/>
              </a:rPr>
              <a:t>SOC Alert Triage &amp; Incident Management Platform</a:t>
            </a:r>
            <a:endParaRPr lang="en-US" sz="2200" dirty="0"/>
          </a:p>
        </p:txBody>
      </p:sp>
      <p:sp>
        <p:nvSpPr>
          <p:cNvPr id="8" name="Text 5"/>
          <p:cNvSpPr txBox="1"/>
          <p:nvPr/>
        </p:nvSpPr>
        <p:spPr>
          <a:xfrm>
            <a:off x="548640" y="4160520"/>
            <a:ext cx="10515600" cy="457200"/>
          </a:xfrm>
          <a:prstGeom prst="rect">
            <a:avLst/>
          </a:prstGeom>
          <a:noFill/>
          <a:ln/>
        </p:spPr>
        <p:txBody>
          <a:bodyPr wrap="square" lIns="0" tIns="0" rIns="0" bIns="0" rtlCol="0" anchor="ctr"/>
          <a:lstStyle/>
          <a:p>
            <a:pPr indent="0" marL="0">
              <a:buNone/>
            </a:pPr>
            <a:r>
              <a:rPr lang="en-US" sz="1500" i="1" dirty="0">
                <a:solidFill>
                  <a:srgbClr val="6E8199"/>
                </a:solidFill>
                <a:latin typeface="Calibri" pitchFamily="34" charset="0"/>
                <a:ea typeface="Calibri" pitchFamily="34" charset="-122"/>
                <a:cs typeface="Calibri" pitchFamily="34" charset="-120"/>
              </a:rPr>
              <a:t>Turning thousands of raw security alerts into a handful of managed incidents.</a:t>
            </a:r>
            <a:endParaRPr lang="en-US" sz="1500" dirty="0"/>
          </a:p>
        </p:txBody>
      </p:sp>
      <p:sp>
        <p:nvSpPr>
          <p:cNvPr id="9" name="Shape 6"/>
          <p:cNvSpPr/>
          <p:nvPr/>
        </p:nvSpPr>
        <p:spPr>
          <a:xfrm>
            <a:off x="548640" y="5623560"/>
            <a:ext cx="4937760" cy="0"/>
          </a:xfrm>
          <a:prstGeom prst="line">
            <a:avLst/>
          </a:prstGeom>
          <a:noFill/>
          <a:ln w="12700">
            <a:solidFill>
              <a:srgbClr val="2A3B52"/>
            </a:solidFill>
            <a:prstDash val="solid"/>
          </a:ln>
        </p:spPr>
      </p:sp>
      <p:sp>
        <p:nvSpPr>
          <p:cNvPr id="10" name="Text 7"/>
          <p:cNvSpPr txBox="1"/>
          <p:nvPr/>
        </p:nvSpPr>
        <p:spPr>
          <a:xfrm>
            <a:off x="548640" y="5760720"/>
            <a:ext cx="1097280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Win Myat Aung (Zane)</a:t>
            </a:r>
            <a:pPr indent="0" marL="0">
              <a:buNone/>
            </a:pPr>
            <a:r>
              <a:rPr lang="en-US" sz="1400" dirty="0">
                <a:solidFill>
                  <a:srgbClr val="8AA0B8"/>
                </a:solidFill>
                <a:latin typeface="Calibri" pitchFamily="34" charset="0"/>
                <a:ea typeface="Calibri" pitchFamily="34" charset="-122"/>
                <a:cs typeface="Calibri" pitchFamily="34" charset="-120"/>
              </a:rPr>
              <a:t>   ·   IT Project 1 — Siam University   ·   Blue Team / SOC</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algn="l" indent="0" marL="0">
              <a:buNone/>
            </a:pPr>
            <a:r>
              <a:rPr lang="en-US" sz="3000" b="1" dirty="0">
                <a:solidFill>
                  <a:srgbClr val="16263A"/>
                </a:solidFill>
                <a:latin typeface="Calibri" pitchFamily="34" charset="0"/>
                <a:ea typeface="Calibri" pitchFamily="34" charset="-122"/>
                <a:cs typeface="Calibri" pitchFamily="34" charset="-120"/>
              </a:rPr>
              <a:t>The Problem: Alert Overload</a:t>
            </a:r>
            <a:endParaRPr lang="en-US" sz="3000" dirty="0"/>
          </a:p>
        </p:txBody>
      </p:sp>
      <p:sp>
        <p:nvSpPr>
          <p:cNvPr id="3" name="Text 1"/>
          <p:cNvSpPr txBox="1"/>
          <p:nvPr/>
        </p:nvSpPr>
        <p:spPr>
          <a:xfrm>
            <a:off x="548640" y="969264"/>
            <a:ext cx="11091672" cy="365760"/>
          </a:xfrm>
          <a:prstGeom prst="rect">
            <a:avLst/>
          </a:prstGeom>
          <a:noFill/>
          <a:ln/>
        </p:spPr>
        <p:txBody>
          <a:bodyPr wrap="square" lIns="0" tIns="0" rIns="0" bIns="0" rtlCol="0" anchor="ctr"/>
          <a:lstStyle/>
          <a:p>
            <a:pPr algn="l" indent="0" marL="0">
              <a:buNone/>
            </a:pPr>
            <a:r>
              <a:rPr lang="en-US" sz="1500" dirty="0">
                <a:solidFill>
                  <a:srgbClr val="5B6B7B"/>
                </a:solidFill>
                <a:latin typeface="Calibri" pitchFamily="34" charset="0"/>
                <a:ea typeface="Calibri" pitchFamily="34" charset="-122"/>
                <a:cs typeface="Calibri" pitchFamily="34" charset="-120"/>
              </a:rPr>
              <a:t>Security tools produce far more alerts than any analyst can review.</a:t>
            </a:r>
            <a:endParaRPr lang="en-US" sz="1500" dirty="0"/>
          </a:p>
        </p:txBody>
      </p:sp>
      <p:sp>
        <p:nvSpPr>
          <p:cNvPr id="4" name="Shape 2"/>
          <p:cNvSpPr/>
          <p:nvPr/>
        </p:nvSpPr>
        <p:spPr>
          <a:xfrm>
            <a:off x="548640" y="1554480"/>
            <a:ext cx="4114800" cy="4206240"/>
          </a:xfrm>
          <a:prstGeom prst="roundRect">
            <a:avLst>
              <a:gd name="adj" fmla="val 2000"/>
            </a:avLst>
          </a:prstGeom>
          <a:solidFill>
            <a:srgbClr val="16263A"/>
          </a:solidFill>
          <a:ln/>
          <a:effectLst>
            <a:outerShdw sx="100000" sy="100000" kx="0" ky="0" algn="bl" rotWithShape="0" blurRad="101600" dist="38100" dir="5400000">
              <a:srgbClr val="9AA7B4">
                <a:alpha val="35000"/>
              </a:srgbClr>
            </a:outerShdw>
          </a:effectLst>
        </p:spPr>
      </p:sp>
      <p:sp>
        <p:nvSpPr>
          <p:cNvPr id="5" name="Shape 3"/>
          <p:cNvSpPr/>
          <p:nvPr/>
        </p:nvSpPr>
        <p:spPr>
          <a:xfrm>
            <a:off x="1005840" y="1965960"/>
            <a:ext cx="914400" cy="914400"/>
          </a:xfrm>
          <a:prstGeom prst="ellipse">
            <a:avLst/>
          </a:prstGeom>
          <a:solidFill>
            <a:srgbClr val="E5484D"/>
          </a:solidFill>
          <a:ln/>
        </p:spPr>
      </p:sp>
      <p:pic>
        <p:nvPicPr>
          <p:cNvPr id="6" name="Image 0" descr="preencoded.png">    </p:cNvPr>
          <p:cNvPicPr>
            <a:picLocks noChangeAspect="1"/>
          </p:cNvPicPr>
          <p:nvPr/>
        </p:nvPicPr>
        <p:blipFill>
          <a:blip r:embed="rId1"/>
          <a:stretch>
            <a:fillRect/>
          </a:stretch>
        </p:blipFill>
        <p:spPr>
          <a:xfrm>
            <a:off x="1234440" y="2194560"/>
            <a:ext cx="457200" cy="457200"/>
          </a:xfrm>
          <a:prstGeom prst="rect">
            <a:avLst/>
          </a:prstGeom>
        </p:spPr>
      </p:pic>
      <p:sp>
        <p:nvSpPr>
          <p:cNvPr id="7" name="Text 4"/>
          <p:cNvSpPr txBox="1"/>
          <p:nvPr/>
        </p:nvSpPr>
        <p:spPr>
          <a:xfrm>
            <a:off x="548640" y="3063240"/>
            <a:ext cx="4114800" cy="914400"/>
          </a:xfrm>
          <a:prstGeom prst="rect">
            <a:avLst/>
          </a:prstGeom>
          <a:noFill/>
          <a:ln/>
        </p:spPr>
        <p:txBody>
          <a:bodyPr wrap="square" lIns="0" tIns="0" rIns="0" bIns="0" rtlCol="0" anchor="ctr"/>
          <a:lstStyle/>
          <a:p>
            <a:pPr algn="ctr" indent="0" marL="0">
              <a:buNone/>
            </a:pPr>
            <a:r>
              <a:rPr lang="en-US" sz="6000" b="1" dirty="0">
                <a:solidFill>
                  <a:srgbClr val="FFFFFF"/>
                </a:solidFill>
                <a:latin typeface="Calibri" pitchFamily="34" charset="0"/>
                <a:ea typeface="Calibri" pitchFamily="34" charset="-122"/>
                <a:cs typeface="Calibri" pitchFamily="34" charset="-120"/>
              </a:rPr>
              <a:t>1,000s</a:t>
            </a:r>
            <a:endParaRPr lang="en-US" sz="6000" dirty="0"/>
          </a:p>
        </p:txBody>
      </p:sp>
      <p:sp>
        <p:nvSpPr>
          <p:cNvPr id="8" name="Text 5"/>
          <p:cNvSpPr txBox="1"/>
          <p:nvPr/>
        </p:nvSpPr>
        <p:spPr>
          <a:xfrm>
            <a:off x="914400" y="4023360"/>
            <a:ext cx="3383280" cy="822960"/>
          </a:xfrm>
          <a:prstGeom prst="rect">
            <a:avLst/>
          </a:prstGeom>
          <a:noFill/>
          <a:ln/>
        </p:spPr>
        <p:txBody>
          <a:bodyPr wrap="square" lIns="0" tIns="0" rIns="0" bIns="0" rtlCol="0" anchor="ctr"/>
          <a:lstStyle/>
          <a:p>
            <a:pPr algn="ctr" indent="0" marL="0">
              <a:buNone/>
            </a:pPr>
            <a:r>
              <a:rPr lang="en-US" sz="1500" dirty="0">
                <a:solidFill>
                  <a:srgbClr val="9FB4CC"/>
                </a:solidFill>
                <a:latin typeface="Calibri" pitchFamily="34" charset="0"/>
                <a:ea typeface="Calibri" pitchFamily="34" charset="-122"/>
                <a:cs typeface="Calibri" pitchFamily="34" charset="-120"/>
              </a:rPr>
              <a:t>alerts per day, from many different tools</a:t>
            </a:r>
            <a:endParaRPr lang="en-US" sz="1500" dirty="0"/>
          </a:p>
        </p:txBody>
      </p:sp>
      <p:sp>
        <p:nvSpPr>
          <p:cNvPr id="9" name="Shape 6"/>
          <p:cNvSpPr/>
          <p:nvPr/>
        </p:nvSpPr>
        <p:spPr>
          <a:xfrm>
            <a:off x="5029200" y="1691640"/>
            <a:ext cx="6583680" cy="1234440"/>
          </a:xfrm>
          <a:prstGeom prst="roundRect">
            <a:avLst>
              <a:gd name="adj" fmla="val 6667"/>
            </a:avLst>
          </a:prstGeom>
          <a:solidFill>
            <a:srgbClr val="F1F5F9"/>
          </a:solidFill>
          <a:ln/>
          <a:effectLst>
            <a:outerShdw sx="100000" sy="100000" kx="0" ky="0" algn="bl" rotWithShape="0" blurRad="101600" dist="38100" dir="5400000">
              <a:srgbClr val="9AA7B4">
                <a:alpha val="35000"/>
              </a:srgbClr>
            </a:outerShdw>
          </a:effectLst>
        </p:spPr>
      </p:sp>
      <p:sp>
        <p:nvSpPr>
          <p:cNvPr id="10" name="Shape 7"/>
          <p:cNvSpPr/>
          <p:nvPr/>
        </p:nvSpPr>
        <p:spPr>
          <a:xfrm>
            <a:off x="5257800" y="1993392"/>
            <a:ext cx="640080" cy="640080"/>
          </a:xfrm>
          <a:prstGeom prst="ellipse">
            <a:avLst/>
          </a:prstGeom>
          <a:solidFill>
            <a:srgbClr val="E5484D"/>
          </a:solidFill>
          <a:ln/>
        </p:spPr>
      </p:sp>
      <p:pic>
        <p:nvPicPr>
          <p:cNvPr id="11" name="Image 1" descr="preencoded.png">    </p:cNvPr>
          <p:cNvPicPr>
            <a:picLocks noChangeAspect="1"/>
          </p:cNvPicPr>
          <p:nvPr/>
        </p:nvPicPr>
        <p:blipFill>
          <a:blip r:embed="rId2"/>
          <a:stretch>
            <a:fillRect/>
          </a:stretch>
        </p:blipFill>
        <p:spPr>
          <a:xfrm>
            <a:off x="5417820" y="2153412"/>
            <a:ext cx="320040" cy="320040"/>
          </a:xfrm>
          <a:prstGeom prst="rect">
            <a:avLst/>
          </a:prstGeom>
        </p:spPr>
      </p:pic>
      <p:sp>
        <p:nvSpPr>
          <p:cNvPr id="12" name="Text 8"/>
          <p:cNvSpPr txBox="1"/>
          <p:nvPr/>
        </p:nvSpPr>
        <p:spPr>
          <a:xfrm>
            <a:off x="6126480" y="1892808"/>
            <a:ext cx="5212080" cy="384048"/>
          </a:xfrm>
          <a:prstGeom prst="rect">
            <a:avLst/>
          </a:prstGeom>
          <a:noFill/>
          <a:ln/>
        </p:spPr>
        <p:txBody>
          <a:bodyPr wrap="square" lIns="0" tIns="0" rIns="0" bIns="0" rtlCol="0" anchor="ctr"/>
          <a:lstStyle/>
          <a:p>
            <a:pPr indent="0" marL="0">
              <a:buNone/>
            </a:pPr>
            <a:r>
              <a:rPr lang="en-US" sz="1800" b="1" dirty="0">
                <a:solidFill>
                  <a:srgbClr val="1B2733"/>
                </a:solidFill>
                <a:latin typeface="Calibri" pitchFamily="34" charset="0"/>
                <a:ea typeface="Calibri" pitchFamily="34" charset="-122"/>
                <a:cs typeface="Calibri" pitchFamily="34" charset="-120"/>
              </a:rPr>
              <a:t>Analysts drown in noise</a:t>
            </a:r>
            <a:endParaRPr lang="en-US" sz="1800" dirty="0"/>
          </a:p>
        </p:txBody>
      </p:sp>
      <p:sp>
        <p:nvSpPr>
          <p:cNvPr id="13" name="Text 9"/>
          <p:cNvSpPr txBox="1"/>
          <p:nvPr/>
        </p:nvSpPr>
        <p:spPr>
          <a:xfrm>
            <a:off x="6126480" y="2276856"/>
            <a:ext cx="5303520" cy="548640"/>
          </a:xfrm>
          <a:prstGeom prst="rect">
            <a:avLst/>
          </a:prstGeom>
          <a:noFill/>
          <a:ln/>
        </p:spPr>
        <p:txBody>
          <a:bodyPr wrap="square" lIns="0" tIns="0" rIns="0" bIns="0" rtlCol="0" anchor="ctr"/>
          <a:lstStyle/>
          <a:p>
            <a:pPr indent="0" marL="0">
              <a:buNone/>
            </a:pPr>
            <a:r>
              <a:rPr lang="en-US" sz="1350" dirty="0">
                <a:solidFill>
                  <a:srgbClr val="5B6B7B"/>
                </a:solidFill>
                <a:latin typeface="Calibri" pitchFamily="34" charset="0"/>
                <a:ea typeface="Calibri" pitchFamily="34" charset="-122"/>
                <a:cs typeface="Calibri" pitchFamily="34" charset="-120"/>
              </a:rPr>
              <a:t>Most alerts are false alarms — real ones get buried.</a:t>
            </a:r>
            <a:endParaRPr lang="en-US" sz="1350" dirty="0"/>
          </a:p>
        </p:txBody>
      </p:sp>
      <p:sp>
        <p:nvSpPr>
          <p:cNvPr id="14" name="Shape 10"/>
          <p:cNvSpPr/>
          <p:nvPr/>
        </p:nvSpPr>
        <p:spPr>
          <a:xfrm>
            <a:off x="5029200" y="3108960"/>
            <a:ext cx="6583680" cy="1234440"/>
          </a:xfrm>
          <a:prstGeom prst="roundRect">
            <a:avLst>
              <a:gd name="adj" fmla="val 6667"/>
            </a:avLst>
          </a:prstGeom>
          <a:solidFill>
            <a:srgbClr val="F1F5F9"/>
          </a:solidFill>
          <a:ln/>
          <a:effectLst>
            <a:outerShdw sx="100000" sy="100000" kx="0" ky="0" algn="bl" rotWithShape="0" blurRad="101600" dist="38100" dir="5400000">
              <a:srgbClr val="9AA7B4">
                <a:alpha val="35000"/>
              </a:srgbClr>
            </a:outerShdw>
          </a:effectLst>
        </p:spPr>
      </p:sp>
      <p:sp>
        <p:nvSpPr>
          <p:cNvPr id="15" name="Shape 11"/>
          <p:cNvSpPr/>
          <p:nvPr/>
        </p:nvSpPr>
        <p:spPr>
          <a:xfrm>
            <a:off x="5257800" y="3410712"/>
            <a:ext cx="640080" cy="640080"/>
          </a:xfrm>
          <a:prstGeom prst="ellipse">
            <a:avLst/>
          </a:prstGeom>
          <a:solidFill>
            <a:srgbClr val="E8863C"/>
          </a:solidFill>
          <a:ln/>
        </p:spPr>
      </p:sp>
      <p:pic>
        <p:nvPicPr>
          <p:cNvPr id="16" name="Image 2" descr="preencoded.png">    </p:cNvPr>
          <p:cNvPicPr>
            <a:picLocks noChangeAspect="1"/>
          </p:cNvPicPr>
          <p:nvPr/>
        </p:nvPicPr>
        <p:blipFill>
          <a:blip r:embed="rId3"/>
          <a:stretch>
            <a:fillRect/>
          </a:stretch>
        </p:blipFill>
        <p:spPr>
          <a:xfrm>
            <a:off x="5417820" y="3570732"/>
            <a:ext cx="320040" cy="320040"/>
          </a:xfrm>
          <a:prstGeom prst="rect">
            <a:avLst/>
          </a:prstGeom>
        </p:spPr>
      </p:pic>
      <p:sp>
        <p:nvSpPr>
          <p:cNvPr id="17" name="Text 12"/>
          <p:cNvSpPr txBox="1"/>
          <p:nvPr/>
        </p:nvSpPr>
        <p:spPr>
          <a:xfrm>
            <a:off x="6126480" y="3310128"/>
            <a:ext cx="5212080" cy="384048"/>
          </a:xfrm>
          <a:prstGeom prst="rect">
            <a:avLst/>
          </a:prstGeom>
          <a:noFill/>
          <a:ln/>
        </p:spPr>
        <p:txBody>
          <a:bodyPr wrap="square" lIns="0" tIns="0" rIns="0" bIns="0" rtlCol="0" anchor="ctr"/>
          <a:lstStyle/>
          <a:p>
            <a:pPr indent="0" marL="0">
              <a:buNone/>
            </a:pPr>
            <a:r>
              <a:rPr lang="en-US" sz="1800" b="1" dirty="0">
                <a:solidFill>
                  <a:srgbClr val="1B2733"/>
                </a:solidFill>
                <a:latin typeface="Calibri" pitchFamily="34" charset="0"/>
                <a:ea typeface="Calibri" pitchFamily="34" charset="-122"/>
                <a:cs typeface="Calibri" pitchFamily="34" charset="-120"/>
              </a:rPr>
              <a:t>Threats dwell for weeks</a:t>
            </a:r>
            <a:endParaRPr lang="en-US" sz="1800" dirty="0"/>
          </a:p>
        </p:txBody>
      </p:sp>
      <p:sp>
        <p:nvSpPr>
          <p:cNvPr id="18" name="Text 13"/>
          <p:cNvSpPr txBox="1"/>
          <p:nvPr/>
        </p:nvSpPr>
        <p:spPr>
          <a:xfrm>
            <a:off x="6126480" y="3694176"/>
            <a:ext cx="5303520" cy="548640"/>
          </a:xfrm>
          <a:prstGeom prst="rect">
            <a:avLst/>
          </a:prstGeom>
          <a:noFill/>
          <a:ln/>
        </p:spPr>
        <p:txBody>
          <a:bodyPr wrap="square" lIns="0" tIns="0" rIns="0" bIns="0" rtlCol="0" anchor="ctr"/>
          <a:lstStyle/>
          <a:p>
            <a:pPr indent="0" marL="0">
              <a:buNone/>
            </a:pPr>
            <a:r>
              <a:rPr lang="en-US" sz="1350" dirty="0">
                <a:solidFill>
                  <a:srgbClr val="5B6B7B"/>
                </a:solidFill>
                <a:latin typeface="Calibri" pitchFamily="34" charset="0"/>
                <a:ea typeface="Calibri" pitchFamily="34" charset="-122"/>
                <a:cs typeface="Calibri" pitchFamily="34" charset="-120"/>
              </a:rPr>
              <a:t>A genuine alert is missed or nobody owns it in time.</a:t>
            </a:r>
            <a:endParaRPr lang="en-US" sz="1350" dirty="0"/>
          </a:p>
        </p:txBody>
      </p:sp>
      <p:sp>
        <p:nvSpPr>
          <p:cNvPr id="19" name="Shape 14"/>
          <p:cNvSpPr/>
          <p:nvPr/>
        </p:nvSpPr>
        <p:spPr>
          <a:xfrm>
            <a:off x="5029200" y="4526280"/>
            <a:ext cx="6583680" cy="1234440"/>
          </a:xfrm>
          <a:prstGeom prst="roundRect">
            <a:avLst>
              <a:gd name="adj" fmla="val 6667"/>
            </a:avLst>
          </a:prstGeom>
          <a:solidFill>
            <a:srgbClr val="F1F5F9"/>
          </a:solidFill>
          <a:ln/>
          <a:effectLst>
            <a:outerShdw sx="100000" sy="100000" kx="0" ky="0" algn="bl" rotWithShape="0" blurRad="101600" dist="38100" dir="5400000">
              <a:srgbClr val="9AA7B4">
                <a:alpha val="35000"/>
              </a:srgbClr>
            </a:outerShdw>
          </a:effectLst>
        </p:spPr>
      </p:sp>
      <p:sp>
        <p:nvSpPr>
          <p:cNvPr id="20" name="Shape 15"/>
          <p:cNvSpPr/>
          <p:nvPr/>
        </p:nvSpPr>
        <p:spPr>
          <a:xfrm>
            <a:off x="5257800" y="4828032"/>
            <a:ext cx="640080" cy="640080"/>
          </a:xfrm>
          <a:prstGeom prst="ellipse">
            <a:avLst/>
          </a:prstGeom>
          <a:solidFill>
            <a:srgbClr val="E0B64A"/>
          </a:solidFill>
          <a:ln/>
        </p:spPr>
      </p:sp>
      <p:pic>
        <p:nvPicPr>
          <p:cNvPr id="21" name="Image 3" descr="preencoded.png">    </p:cNvPr>
          <p:cNvPicPr>
            <a:picLocks noChangeAspect="1"/>
          </p:cNvPicPr>
          <p:nvPr/>
        </p:nvPicPr>
        <p:blipFill>
          <a:blip r:embed="rId4"/>
          <a:stretch>
            <a:fillRect/>
          </a:stretch>
        </p:blipFill>
        <p:spPr>
          <a:xfrm>
            <a:off x="5417820" y="4988052"/>
            <a:ext cx="320040" cy="320040"/>
          </a:xfrm>
          <a:prstGeom prst="rect">
            <a:avLst/>
          </a:prstGeom>
        </p:spPr>
      </p:pic>
      <p:sp>
        <p:nvSpPr>
          <p:cNvPr id="22" name="Text 16"/>
          <p:cNvSpPr txBox="1"/>
          <p:nvPr/>
        </p:nvSpPr>
        <p:spPr>
          <a:xfrm>
            <a:off x="6126480" y="4727448"/>
            <a:ext cx="5212080" cy="384048"/>
          </a:xfrm>
          <a:prstGeom prst="rect">
            <a:avLst/>
          </a:prstGeom>
          <a:noFill/>
          <a:ln/>
        </p:spPr>
        <p:txBody>
          <a:bodyPr wrap="square" lIns="0" tIns="0" rIns="0" bIns="0" rtlCol="0" anchor="ctr"/>
          <a:lstStyle/>
          <a:p>
            <a:pPr indent="0" marL="0">
              <a:buNone/>
            </a:pPr>
            <a:r>
              <a:rPr lang="en-US" sz="1800" b="1" dirty="0">
                <a:solidFill>
                  <a:srgbClr val="1B2733"/>
                </a:solidFill>
                <a:latin typeface="Calibri" pitchFamily="34" charset="0"/>
                <a:ea typeface="Calibri" pitchFamily="34" charset="-122"/>
                <a:cs typeface="Calibri" pitchFamily="34" charset="-120"/>
              </a:rPr>
              <a:t>No single view or workflow</a:t>
            </a:r>
            <a:endParaRPr lang="en-US" sz="1800" dirty="0"/>
          </a:p>
        </p:txBody>
      </p:sp>
      <p:sp>
        <p:nvSpPr>
          <p:cNvPr id="23" name="Text 17"/>
          <p:cNvSpPr txBox="1"/>
          <p:nvPr/>
        </p:nvSpPr>
        <p:spPr>
          <a:xfrm>
            <a:off x="6126480" y="5111496"/>
            <a:ext cx="5303520" cy="548640"/>
          </a:xfrm>
          <a:prstGeom prst="rect">
            <a:avLst/>
          </a:prstGeom>
          <a:noFill/>
          <a:ln/>
        </p:spPr>
        <p:txBody>
          <a:bodyPr wrap="square" lIns="0" tIns="0" rIns="0" bIns="0" rtlCol="0" anchor="ctr"/>
          <a:lstStyle/>
          <a:p>
            <a:pPr indent="0" marL="0">
              <a:buNone/>
            </a:pPr>
            <a:r>
              <a:rPr lang="en-US" sz="1350" dirty="0">
                <a:solidFill>
                  <a:srgbClr val="5B6B7B"/>
                </a:solidFill>
                <a:latin typeface="Calibri" pitchFamily="34" charset="0"/>
                <a:ea typeface="Calibri" pitchFamily="34" charset="-122"/>
                <a:cs typeface="Calibri" pitchFamily="34" charset="-120"/>
              </a:rPr>
              <a:t>Each tool has its own console; nothing ties them together.</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algn="l" indent="0" marL="0">
              <a:buNone/>
            </a:pPr>
            <a:r>
              <a:rPr lang="en-US" sz="3000" b="1" dirty="0">
                <a:solidFill>
                  <a:srgbClr val="16263A"/>
                </a:solidFill>
                <a:latin typeface="Calibri" pitchFamily="34" charset="0"/>
                <a:ea typeface="Calibri" pitchFamily="34" charset="-122"/>
                <a:cs typeface="Calibri" pitchFamily="34" charset="-120"/>
              </a:rPr>
              <a:t>The Idea, in Plain Terms</a:t>
            </a:r>
            <a:endParaRPr lang="en-US" sz="3000" dirty="0"/>
          </a:p>
        </p:txBody>
      </p:sp>
      <p:sp>
        <p:nvSpPr>
          <p:cNvPr id="3" name="Text 1"/>
          <p:cNvSpPr txBox="1"/>
          <p:nvPr/>
        </p:nvSpPr>
        <p:spPr>
          <a:xfrm>
            <a:off x="548640" y="969264"/>
            <a:ext cx="11091672" cy="365760"/>
          </a:xfrm>
          <a:prstGeom prst="rect">
            <a:avLst/>
          </a:prstGeom>
          <a:noFill/>
          <a:ln/>
        </p:spPr>
        <p:txBody>
          <a:bodyPr wrap="square" lIns="0" tIns="0" rIns="0" bIns="0" rtlCol="0" anchor="ctr"/>
          <a:lstStyle/>
          <a:p>
            <a:pPr algn="l" indent="0" marL="0">
              <a:buNone/>
            </a:pPr>
            <a:r>
              <a:rPr lang="en-US" sz="1500" dirty="0">
                <a:solidFill>
                  <a:srgbClr val="5B6B7B"/>
                </a:solidFill>
                <a:latin typeface="Calibri" pitchFamily="34" charset="0"/>
                <a:ea typeface="Calibri" pitchFamily="34" charset="-122"/>
                <a:cs typeface="Calibri" pitchFamily="34" charset="-120"/>
              </a:rPr>
              <a:t>Think of a building full of smoke detectors — and one control room.</a:t>
            </a:r>
            <a:endParaRPr lang="en-US" sz="1500" dirty="0"/>
          </a:p>
        </p:txBody>
      </p:sp>
      <p:sp>
        <p:nvSpPr>
          <p:cNvPr id="4" name="Shape 2"/>
          <p:cNvSpPr/>
          <p:nvPr/>
        </p:nvSpPr>
        <p:spPr>
          <a:xfrm>
            <a:off x="548640" y="1554480"/>
            <a:ext cx="5120640" cy="4297680"/>
          </a:xfrm>
          <a:prstGeom prst="roundRect">
            <a:avLst>
              <a:gd name="adj" fmla="val 1915"/>
            </a:avLst>
          </a:prstGeom>
          <a:solidFill>
            <a:srgbClr val="F1F5F9"/>
          </a:solidFill>
          <a:ln/>
          <a:effectLst>
            <a:outerShdw sx="100000" sy="100000" kx="0" ky="0" algn="bl" rotWithShape="0" blurRad="101600" dist="38100" dir="5400000">
              <a:srgbClr val="9AA7B4">
                <a:alpha val="35000"/>
              </a:srgbClr>
            </a:outerShdw>
          </a:effectLst>
        </p:spPr>
      </p:sp>
      <p:sp>
        <p:nvSpPr>
          <p:cNvPr id="5" name="Text 3"/>
          <p:cNvSpPr txBox="1"/>
          <p:nvPr/>
        </p:nvSpPr>
        <p:spPr>
          <a:xfrm>
            <a:off x="822960" y="1783080"/>
            <a:ext cx="4572000" cy="457200"/>
          </a:xfrm>
          <a:prstGeom prst="rect">
            <a:avLst/>
          </a:prstGeom>
          <a:noFill/>
          <a:ln/>
        </p:spPr>
        <p:txBody>
          <a:bodyPr wrap="square" lIns="0" tIns="0" rIns="0" bIns="0"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Today: many alarms, no one listening</a:t>
            </a:r>
            <a:endParaRPr lang="en-US" sz="1500" dirty="0"/>
          </a:p>
        </p:txBody>
      </p:sp>
      <p:sp>
        <p:nvSpPr>
          <p:cNvPr id="6" name="Shape 4"/>
          <p:cNvSpPr/>
          <p:nvPr/>
        </p:nvSpPr>
        <p:spPr>
          <a:xfrm>
            <a:off x="960120" y="2468880"/>
            <a:ext cx="731520" cy="731520"/>
          </a:xfrm>
          <a:prstGeom prst="ellipse">
            <a:avLst/>
          </a:prstGeom>
          <a:solidFill>
            <a:srgbClr val="E5484D"/>
          </a:solidFill>
          <a:ln/>
        </p:spPr>
      </p:sp>
      <p:pic>
        <p:nvPicPr>
          <p:cNvPr id="7" name="Image 0" descr="preencoded.png">    </p:cNvPr>
          <p:cNvPicPr>
            <a:picLocks noChangeAspect="1"/>
          </p:cNvPicPr>
          <p:nvPr/>
        </p:nvPicPr>
        <p:blipFill>
          <a:blip r:embed="rId1"/>
          <a:stretch>
            <a:fillRect/>
          </a:stretch>
        </p:blipFill>
        <p:spPr>
          <a:xfrm>
            <a:off x="1143000" y="2651760"/>
            <a:ext cx="365760" cy="365760"/>
          </a:xfrm>
          <a:prstGeom prst="rect">
            <a:avLst/>
          </a:prstGeom>
        </p:spPr>
      </p:pic>
      <p:sp>
        <p:nvSpPr>
          <p:cNvPr id="8" name="Shape 5"/>
          <p:cNvSpPr/>
          <p:nvPr/>
        </p:nvSpPr>
        <p:spPr>
          <a:xfrm>
            <a:off x="2103120" y="2468880"/>
            <a:ext cx="731520" cy="731520"/>
          </a:xfrm>
          <a:prstGeom prst="ellipse">
            <a:avLst/>
          </a:prstGeom>
          <a:solidFill>
            <a:srgbClr val="AEB9C4"/>
          </a:solidFill>
          <a:ln/>
        </p:spPr>
      </p:sp>
      <p:pic>
        <p:nvPicPr>
          <p:cNvPr id="9" name="Image 1" descr="preencoded.png">    </p:cNvPr>
          <p:cNvPicPr>
            <a:picLocks noChangeAspect="1"/>
          </p:cNvPicPr>
          <p:nvPr/>
        </p:nvPicPr>
        <p:blipFill>
          <a:blip r:embed="rId2"/>
          <a:stretch>
            <a:fillRect/>
          </a:stretch>
        </p:blipFill>
        <p:spPr>
          <a:xfrm>
            <a:off x="2286000" y="2651760"/>
            <a:ext cx="365760" cy="365760"/>
          </a:xfrm>
          <a:prstGeom prst="rect">
            <a:avLst/>
          </a:prstGeom>
        </p:spPr>
      </p:pic>
      <p:sp>
        <p:nvSpPr>
          <p:cNvPr id="10" name="Shape 6"/>
          <p:cNvSpPr/>
          <p:nvPr/>
        </p:nvSpPr>
        <p:spPr>
          <a:xfrm>
            <a:off x="3246120" y="2468880"/>
            <a:ext cx="731520" cy="731520"/>
          </a:xfrm>
          <a:prstGeom prst="ellipse">
            <a:avLst/>
          </a:prstGeom>
          <a:solidFill>
            <a:srgbClr val="AEB9C4"/>
          </a:solidFill>
          <a:ln/>
        </p:spPr>
      </p:sp>
      <p:pic>
        <p:nvPicPr>
          <p:cNvPr id="11" name="Image 2" descr="preencoded.png">    </p:cNvPr>
          <p:cNvPicPr>
            <a:picLocks noChangeAspect="1"/>
          </p:cNvPicPr>
          <p:nvPr/>
        </p:nvPicPr>
        <p:blipFill>
          <a:blip r:embed="rId3"/>
          <a:stretch>
            <a:fillRect/>
          </a:stretch>
        </p:blipFill>
        <p:spPr>
          <a:xfrm>
            <a:off x="3429000" y="2651760"/>
            <a:ext cx="365760" cy="365760"/>
          </a:xfrm>
          <a:prstGeom prst="rect">
            <a:avLst/>
          </a:prstGeom>
        </p:spPr>
      </p:pic>
      <p:sp>
        <p:nvSpPr>
          <p:cNvPr id="12" name="Shape 7"/>
          <p:cNvSpPr/>
          <p:nvPr/>
        </p:nvSpPr>
        <p:spPr>
          <a:xfrm>
            <a:off x="4389120" y="2468880"/>
            <a:ext cx="731520" cy="731520"/>
          </a:xfrm>
          <a:prstGeom prst="ellipse">
            <a:avLst/>
          </a:prstGeom>
          <a:solidFill>
            <a:srgbClr val="AEB9C4"/>
          </a:solidFill>
          <a:ln/>
        </p:spPr>
      </p:sp>
      <p:pic>
        <p:nvPicPr>
          <p:cNvPr id="13" name="Image 3" descr="preencoded.png">    </p:cNvPr>
          <p:cNvPicPr>
            <a:picLocks noChangeAspect="1"/>
          </p:cNvPicPr>
          <p:nvPr/>
        </p:nvPicPr>
        <p:blipFill>
          <a:blip r:embed="rId4"/>
          <a:stretch>
            <a:fillRect/>
          </a:stretch>
        </p:blipFill>
        <p:spPr>
          <a:xfrm>
            <a:off x="4572000" y="2651760"/>
            <a:ext cx="365760" cy="365760"/>
          </a:xfrm>
          <a:prstGeom prst="rect">
            <a:avLst/>
          </a:prstGeom>
        </p:spPr>
      </p:pic>
      <p:sp>
        <p:nvSpPr>
          <p:cNvPr id="14" name="Shape 8"/>
          <p:cNvSpPr/>
          <p:nvPr/>
        </p:nvSpPr>
        <p:spPr>
          <a:xfrm>
            <a:off x="960120" y="3520440"/>
            <a:ext cx="731520" cy="731520"/>
          </a:xfrm>
          <a:prstGeom prst="ellipse">
            <a:avLst/>
          </a:prstGeom>
          <a:solidFill>
            <a:srgbClr val="AEB9C4"/>
          </a:solidFill>
          <a:ln/>
        </p:spPr>
      </p:sp>
      <p:pic>
        <p:nvPicPr>
          <p:cNvPr id="15" name="Image 4" descr="preencoded.png">    </p:cNvPr>
          <p:cNvPicPr>
            <a:picLocks noChangeAspect="1"/>
          </p:cNvPicPr>
          <p:nvPr/>
        </p:nvPicPr>
        <p:blipFill>
          <a:blip r:embed="rId5"/>
          <a:stretch>
            <a:fillRect/>
          </a:stretch>
        </p:blipFill>
        <p:spPr>
          <a:xfrm>
            <a:off x="1143000" y="3703320"/>
            <a:ext cx="365760" cy="365760"/>
          </a:xfrm>
          <a:prstGeom prst="rect">
            <a:avLst/>
          </a:prstGeom>
        </p:spPr>
      </p:pic>
      <p:sp>
        <p:nvSpPr>
          <p:cNvPr id="16" name="Shape 9"/>
          <p:cNvSpPr/>
          <p:nvPr/>
        </p:nvSpPr>
        <p:spPr>
          <a:xfrm>
            <a:off x="2103120" y="3520440"/>
            <a:ext cx="731520" cy="731520"/>
          </a:xfrm>
          <a:prstGeom prst="ellipse">
            <a:avLst/>
          </a:prstGeom>
          <a:solidFill>
            <a:srgbClr val="E5484D"/>
          </a:solidFill>
          <a:ln/>
        </p:spPr>
      </p:sp>
      <p:pic>
        <p:nvPicPr>
          <p:cNvPr id="17" name="Image 5" descr="preencoded.png">    </p:cNvPr>
          <p:cNvPicPr>
            <a:picLocks noChangeAspect="1"/>
          </p:cNvPicPr>
          <p:nvPr/>
        </p:nvPicPr>
        <p:blipFill>
          <a:blip r:embed="rId6"/>
          <a:stretch>
            <a:fillRect/>
          </a:stretch>
        </p:blipFill>
        <p:spPr>
          <a:xfrm>
            <a:off x="2286000" y="3703320"/>
            <a:ext cx="365760" cy="365760"/>
          </a:xfrm>
          <a:prstGeom prst="rect">
            <a:avLst/>
          </a:prstGeom>
        </p:spPr>
      </p:pic>
      <p:sp>
        <p:nvSpPr>
          <p:cNvPr id="18" name="Shape 10"/>
          <p:cNvSpPr/>
          <p:nvPr/>
        </p:nvSpPr>
        <p:spPr>
          <a:xfrm>
            <a:off x="3246120" y="3520440"/>
            <a:ext cx="731520" cy="731520"/>
          </a:xfrm>
          <a:prstGeom prst="ellipse">
            <a:avLst/>
          </a:prstGeom>
          <a:solidFill>
            <a:srgbClr val="AEB9C4"/>
          </a:solidFill>
          <a:ln/>
        </p:spPr>
      </p:sp>
      <p:pic>
        <p:nvPicPr>
          <p:cNvPr id="19" name="Image 6" descr="preencoded.png">    </p:cNvPr>
          <p:cNvPicPr>
            <a:picLocks noChangeAspect="1"/>
          </p:cNvPicPr>
          <p:nvPr/>
        </p:nvPicPr>
        <p:blipFill>
          <a:blip r:embed="rId7"/>
          <a:stretch>
            <a:fillRect/>
          </a:stretch>
        </p:blipFill>
        <p:spPr>
          <a:xfrm>
            <a:off x="3429000" y="3703320"/>
            <a:ext cx="365760" cy="365760"/>
          </a:xfrm>
          <a:prstGeom prst="rect">
            <a:avLst/>
          </a:prstGeom>
        </p:spPr>
      </p:pic>
      <p:sp>
        <p:nvSpPr>
          <p:cNvPr id="20" name="Shape 11"/>
          <p:cNvSpPr/>
          <p:nvPr/>
        </p:nvSpPr>
        <p:spPr>
          <a:xfrm>
            <a:off x="4389120" y="3520440"/>
            <a:ext cx="731520" cy="731520"/>
          </a:xfrm>
          <a:prstGeom prst="ellipse">
            <a:avLst/>
          </a:prstGeom>
          <a:solidFill>
            <a:srgbClr val="AEB9C4"/>
          </a:solidFill>
          <a:ln/>
        </p:spPr>
      </p:sp>
      <p:pic>
        <p:nvPicPr>
          <p:cNvPr id="21" name="Image 7" descr="preencoded.png">    </p:cNvPr>
          <p:cNvPicPr>
            <a:picLocks noChangeAspect="1"/>
          </p:cNvPicPr>
          <p:nvPr/>
        </p:nvPicPr>
        <p:blipFill>
          <a:blip r:embed="rId8"/>
          <a:stretch>
            <a:fillRect/>
          </a:stretch>
        </p:blipFill>
        <p:spPr>
          <a:xfrm>
            <a:off x="4572000" y="3703320"/>
            <a:ext cx="365760" cy="365760"/>
          </a:xfrm>
          <a:prstGeom prst="rect">
            <a:avLst/>
          </a:prstGeom>
        </p:spPr>
      </p:pic>
      <p:sp>
        <p:nvSpPr>
          <p:cNvPr id="22" name="Shape 12"/>
          <p:cNvSpPr/>
          <p:nvPr/>
        </p:nvSpPr>
        <p:spPr>
          <a:xfrm>
            <a:off x="960120" y="4572000"/>
            <a:ext cx="731520" cy="731520"/>
          </a:xfrm>
          <a:prstGeom prst="ellipse">
            <a:avLst/>
          </a:prstGeom>
          <a:solidFill>
            <a:srgbClr val="AEB9C4"/>
          </a:solidFill>
          <a:ln/>
        </p:spPr>
      </p:sp>
      <p:pic>
        <p:nvPicPr>
          <p:cNvPr id="23" name="Image 8" descr="preencoded.png">    </p:cNvPr>
          <p:cNvPicPr>
            <a:picLocks noChangeAspect="1"/>
          </p:cNvPicPr>
          <p:nvPr/>
        </p:nvPicPr>
        <p:blipFill>
          <a:blip r:embed="rId9"/>
          <a:stretch>
            <a:fillRect/>
          </a:stretch>
        </p:blipFill>
        <p:spPr>
          <a:xfrm>
            <a:off x="1143000" y="4754880"/>
            <a:ext cx="365760" cy="365760"/>
          </a:xfrm>
          <a:prstGeom prst="rect">
            <a:avLst/>
          </a:prstGeom>
        </p:spPr>
      </p:pic>
      <p:sp>
        <p:nvSpPr>
          <p:cNvPr id="24" name="Shape 13"/>
          <p:cNvSpPr/>
          <p:nvPr/>
        </p:nvSpPr>
        <p:spPr>
          <a:xfrm>
            <a:off x="2103120" y="4572000"/>
            <a:ext cx="731520" cy="731520"/>
          </a:xfrm>
          <a:prstGeom prst="ellipse">
            <a:avLst/>
          </a:prstGeom>
          <a:solidFill>
            <a:srgbClr val="AEB9C4"/>
          </a:solidFill>
          <a:ln/>
        </p:spPr>
      </p:sp>
      <p:pic>
        <p:nvPicPr>
          <p:cNvPr id="25" name="Image 9" descr="preencoded.png">    </p:cNvPr>
          <p:cNvPicPr>
            <a:picLocks noChangeAspect="1"/>
          </p:cNvPicPr>
          <p:nvPr/>
        </p:nvPicPr>
        <p:blipFill>
          <a:blip r:embed="rId10"/>
          <a:stretch>
            <a:fillRect/>
          </a:stretch>
        </p:blipFill>
        <p:spPr>
          <a:xfrm>
            <a:off x="2286000" y="4754880"/>
            <a:ext cx="365760" cy="365760"/>
          </a:xfrm>
          <a:prstGeom prst="rect">
            <a:avLst/>
          </a:prstGeom>
        </p:spPr>
      </p:pic>
      <p:sp>
        <p:nvSpPr>
          <p:cNvPr id="26" name="Shape 14"/>
          <p:cNvSpPr/>
          <p:nvPr/>
        </p:nvSpPr>
        <p:spPr>
          <a:xfrm>
            <a:off x="3246120" y="4572000"/>
            <a:ext cx="731520" cy="731520"/>
          </a:xfrm>
          <a:prstGeom prst="ellipse">
            <a:avLst/>
          </a:prstGeom>
          <a:solidFill>
            <a:srgbClr val="E5484D"/>
          </a:solidFill>
          <a:ln/>
        </p:spPr>
      </p:sp>
      <p:pic>
        <p:nvPicPr>
          <p:cNvPr id="27" name="Image 10" descr="preencoded.png">    </p:cNvPr>
          <p:cNvPicPr>
            <a:picLocks noChangeAspect="1"/>
          </p:cNvPicPr>
          <p:nvPr/>
        </p:nvPicPr>
        <p:blipFill>
          <a:blip r:embed="rId11"/>
          <a:stretch>
            <a:fillRect/>
          </a:stretch>
        </p:blipFill>
        <p:spPr>
          <a:xfrm>
            <a:off x="3429000" y="4754880"/>
            <a:ext cx="365760" cy="365760"/>
          </a:xfrm>
          <a:prstGeom prst="rect">
            <a:avLst/>
          </a:prstGeom>
        </p:spPr>
      </p:pic>
      <p:sp>
        <p:nvSpPr>
          <p:cNvPr id="28" name="Shape 15"/>
          <p:cNvSpPr/>
          <p:nvPr/>
        </p:nvSpPr>
        <p:spPr>
          <a:xfrm>
            <a:off x="4389120" y="4572000"/>
            <a:ext cx="731520" cy="731520"/>
          </a:xfrm>
          <a:prstGeom prst="ellipse">
            <a:avLst/>
          </a:prstGeom>
          <a:solidFill>
            <a:srgbClr val="AEB9C4"/>
          </a:solidFill>
          <a:ln/>
        </p:spPr>
      </p:sp>
      <p:pic>
        <p:nvPicPr>
          <p:cNvPr id="29" name="Image 11" descr="preencoded.png">    </p:cNvPr>
          <p:cNvPicPr>
            <a:picLocks noChangeAspect="1"/>
          </p:cNvPicPr>
          <p:nvPr/>
        </p:nvPicPr>
        <p:blipFill>
          <a:blip r:embed="rId12"/>
          <a:stretch>
            <a:fillRect/>
          </a:stretch>
        </p:blipFill>
        <p:spPr>
          <a:xfrm>
            <a:off x="4572000" y="4754880"/>
            <a:ext cx="365760" cy="365760"/>
          </a:xfrm>
          <a:prstGeom prst="rect">
            <a:avLst/>
          </a:prstGeom>
        </p:spPr>
      </p:pic>
      <p:sp>
        <p:nvSpPr>
          <p:cNvPr id="30" name="Text 16"/>
          <p:cNvSpPr txBox="1"/>
          <p:nvPr/>
        </p:nvSpPr>
        <p:spPr>
          <a:xfrm>
            <a:off x="822960" y="5943600"/>
            <a:ext cx="4572000" cy="365760"/>
          </a:xfrm>
          <a:prstGeom prst="rect">
            <a:avLst/>
          </a:prstGeom>
          <a:noFill/>
          <a:ln/>
        </p:spPr>
        <p:txBody>
          <a:bodyPr wrap="square" lIns="0" tIns="0" rIns="0" bIns="0" rtlCol="0" anchor="ctr"/>
          <a:lstStyle/>
          <a:p>
            <a:pPr indent="0" marL="0">
              <a:buNone/>
            </a:pPr>
            <a:r>
              <a:rPr lang="en-US" sz="1200" i="1" dirty="0">
                <a:solidFill>
                  <a:srgbClr val="5B6B7B"/>
                </a:solidFill>
                <a:latin typeface="Calibri" pitchFamily="34" charset="0"/>
                <a:ea typeface="Calibri" pitchFamily="34" charset="-122"/>
                <a:cs typeface="Calibri" pitchFamily="34" charset="-120"/>
              </a:rPr>
              <a:t>Each tool beeps in its own way. One real fire hides among the burnt toast.</a:t>
            </a:r>
            <a:endParaRPr lang="en-US" sz="1200" dirty="0"/>
          </a:p>
        </p:txBody>
      </p:sp>
      <p:sp>
        <p:nvSpPr>
          <p:cNvPr id="31" name="Text 17"/>
          <p:cNvSpPr txBox="1"/>
          <p:nvPr/>
        </p:nvSpPr>
        <p:spPr>
          <a:xfrm>
            <a:off x="5806440" y="3383280"/>
            <a:ext cx="640080" cy="731520"/>
          </a:xfrm>
          <a:prstGeom prst="rect">
            <a:avLst/>
          </a:prstGeom>
          <a:noFill/>
          <a:ln/>
        </p:spPr>
        <p:txBody>
          <a:bodyPr wrap="square" lIns="0" tIns="0" rIns="0" bIns="0" rtlCol="0" anchor="ctr"/>
          <a:lstStyle/>
          <a:p>
            <a:pPr algn="ctr" indent="0" marL="0">
              <a:buNone/>
            </a:pPr>
            <a:r>
              <a:rPr lang="en-US" sz="4000" b="1" dirty="0">
                <a:solidFill>
                  <a:srgbClr val="3B82F6"/>
                </a:solidFill>
                <a:latin typeface="Calibri" pitchFamily="34" charset="0"/>
                <a:ea typeface="Calibri" pitchFamily="34" charset="-122"/>
                <a:cs typeface="Calibri" pitchFamily="34" charset="-120"/>
              </a:rPr>
              <a:t>&gt;</a:t>
            </a:r>
            <a:endParaRPr lang="en-US" sz="4000" dirty="0"/>
          </a:p>
        </p:txBody>
      </p:sp>
      <p:sp>
        <p:nvSpPr>
          <p:cNvPr id="32" name="Shape 18"/>
          <p:cNvSpPr/>
          <p:nvPr/>
        </p:nvSpPr>
        <p:spPr>
          <a:xfrm>
            <a:off x="6492240" y="1554480"/>
            <a:ext cx="5148072" cy="4297680"/>
          </a:xfrm>
          <a:prstGeom prst="roundRect">
            <a:avLst>
              <a:gd name="adj" fmla="val 1915"/>
            </a:avLst>
          </a:prstGeom>
          <a:solidFill>
            <a:srgbClr val="16263A"/>
          </a:solidFill>
          <a:ln/>
          <a:effectLst>
            <a:outerShdw sx="100000" sy="100000" kx="0" ky="0" algn="bl" rotWithShape="0" blurRad="101600" dist="38100" dir="5400000">
              <a:srgbClr val="9AA7B4">
                <a:alpha val="35000"/>
              </a:srgbClr>
            </a:outerShdw>
          </a:effectLst>
        </p:spPr>
      </p:sp>
      <p:sp>
        <p:nvSpPr>
          <p:cNvPr id="33" name="Text 19"/>
          <p:cNvSpPr txBox="1"/>
          <p:nvPr/>
        </p:nvSpPr>
        <p:spPr>
          <a:xfrm>
            <a:off x="6766560" y="1783080"/>
            <a:ext cx="457200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TriageDesk: one control room</a:t>
            </a:r>
            <a:endParaRPr lang="en-US" sz="1500" dirty="0"/>
          </a:p>
        </p:txBody>
      </p:sp>
      <p:sp>
        <p:nvSpPr>
          <p:cNvPr id="34" name="Shape 20"/>
          <p:cNvSpPr/>
          <p:nvPr/>
        </p:nvSpPr>
        <p:spPr>
          <a:xfrm>
            <a:off x="8138160" y="2514600"/>
            <a:ext cx="1737360" cy="1737360"/>
          </a:xfrm>
          <a:prstGeom prst="ellipse">
            <a:avLst/>
          </a:prstGeom>
          <a:solidFill>
            <a:srgbClr val="3B82F6"/>
          </a:solidFill>
          <a:ln/>
        </p:spPr>
      </p:sp>
      <p:pic>
        <p:nvPicPr>
          <p:cNvPr id="35" name="Image 12" descr="preencoded.png">    </p:cNvPr>
          <p:cNvPicPr>
            <a:picLocks noChangeAspect="1"/>
          </p:cNvPicPr>
          <p:nvPr/>
        </p:nvPicPr>
        <p:blipFill>
          <a:blip r:embed="rId13"/>
          <a:stretch>
            <a:fillRect/>
          </a:stretch>
        </p:blipFill>
        <p:spPr>
          <a:xfrm>
            <a:off x="8572500" y="2948940"/>
            <a:ext cx="868680" cy="868680"/>
          </a:xfrm>
          <a:prstGeom prst="rect">
            <a:avLst/>
          </a:prstGeom>
        </p:spPr>
      </p:pic>
      <p:sp>
        <p:nvSpPr>
          <p:cNvPr id="36" name="Text 21"/>
          <p:cNvSpPr txBox="1"/>
          <p:nvPr/>
        </p:nvSpPr>
        <p:spPr>
          <a:xfrm>
            <a:off x="6858000" y="4434840"/>
            <a:ext cx="4572000" cy="1371600"/>
          </a:xfrm>
          <a:prstGeom prst="rect">
            <a:avLst/>
          </a:prstGeom>
          <a:noFill/>
          <a:ln/>
        </p:spPr>
        <p:txBody>
          <a:bodyPr wrap="square" lIns="0" tIns="0" rIns="0" bIns="0" rtlCol="0" anchor="ctr"/>
          <a:lstStyle/>
          <a:p>
            <a:pPr marL="177800" indent="-177800">
              <a:spcAft>
                <a:spcPts val="600"/>
              </a:spcAft>
              <a:buSzPct val="100000"/>
              <a:buChar char="•"/>
            </a:pPr>
            <a:r>
              <a:rPr lang="en-US" sz="1350" dirty="0">
                <a:solidFill>
                  <a:srgbClr val="CFE0F2"/>
                </a:solidFill>
                <a:latin typeface="Calibri" pitchFamily="34" charset="0"/>
                <a:ea typeface="Calibri" pitchFamily="34" charset="-122"/>
                <a:cs typeface="Calibri" pitchFamily="34" charset="-120"/>
              </a:rPr>
              <a:t>Brings every alert onto one screen</a:t>
            </a:r>
            <a:endParaRPr lang="en-US" sz="1350" dirty="0"/>
          </a:p>
          <a:p>
            <a:pPr marL="177800" indent="-177800">
              <a:spcAft>
                <a:spcPts val="600"/>
              </a:spcAft>
              <a:buSzPct val="100000"/>
              <a:buChar char="•"/>
            </a:pPr>
            <a:r>
              <a:rPr lang="en-US" sz="1350" dirty="0">
                <a:solidFill>
                  <a:srgbClr val="CFE0F2"/>
                </a:solidFill>
                <a:latin typeface="Calibri" pitchFamily="34" charset="0"/>
                <a:ea typeface="Calibri" pitchFamily="34" charset="-122"/>
                <a:cs typeface="Calibri" pitchFamily="34" charset="-120"/>
              </a:rPr>
              <a:t>Labels where it came from &amp; how dangerous</a:t>
            </a:r>
            <a:endParaRPr lang="en-US" sz="1350" dirty="0"/>
          </a:p>
          <a:p>
            <a:pPr marL="177800" indent="-177800">
              <a:spcAft>
                <a:spcPts val="600"/>
              </a:spcAft>
              <a:buSzPct val="100000"/>
              <a:buChar char="•"/>
            </a:pPr>
            <a:r>
              <a:rPr lang="en-US" sz="1350" dirty="0">
                <a:solidFill>
                  <a:srgbClr val="CFE0F2"/>
                </a:solidFill>
                <a:latin typeface="Calibri" pitchFamily="34" charset="0"/>
                <a:ea typeface="Calibri" pitchFamily="34" charset="-122"/>
                <a:cs typeface="Calibri" pitchFamily="34" charset="-120"/>
              </a:rPr>
              <a:t>Groups alarms that are really the same fire</a:t>
            </a:r>
            <a:endParaRPr lang="en-US" sz="1350" dirty="0"/>
          </a:p>
          <a:p>
            <a:pPr marL="177800" indent="-177800">
              <a:spcAft>
                <a:spcPts val="600"/>
              </a:spcAft>
              <a:buSzPct val="100000"/>
              <a:buChar char="•"/>
            </a:pPr>
            <a:r>
              <a:rPr lang="en-US" sz="1350" dirty="0">
                <a:solidFill>
                  <a:srgbClr val="CFE0F2"/>
                </a:solidFill>
                <a:latin typeface="Calibri" pitchFamily="34" charset="0"/>
                <a:ea typeface="Calibri" pitchFamily="34" charset="-122"/>
                <a:cs typeface="Calibri" pitchFamily="34" charset="-120"/>
              </a:rPr>
              <a:t>Starts a timer so nothing is ignored</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algn="l" indent="0" marL="0">
              <a:buNone/>
            </a:pPr>
            <a:r>
              <a:rPr lang="en-US" sz="3000" b="1" dirty="0">
                <a:solidFill>
                  <a:srgbClr val="16263A"/>
                </a:solidFill>
                <a:latin typeface="Calibri" pitchFamily="34" charset="0"/>
                <a:ea typeface="Calibri" pitchFamily="34" charset="-122"/>
                <a:cs typeface="Calibri" pitchFamily="34" charset="-120"/>
              </a:rPr>
              <a:t>How It Works: One Alert's Journey</a:t>
            </a:r>
            <a:endParaRPr lang="en-US" sz="3000" dirty="0"/>
          </a:p>
        </p:txBody>
      </p:sp>
      <p:sp>
        <p:nvSpPr>
          <p:cNvPr id="3" name="Text 1"/>
          <p:cNvSpPr txBox="1"/>
          <p:nvPr/>
        </p:nvSpPr>
        <p:spPr>
          <a:xfrm>
            <a:off x="548640" y="969264"/>
            <a:ext cx="11091672" cy="365760"/>
          </a:xfrm>
          <a:prstGeom prst="rect">
            <a:avLst/>
          </a:prstGeom>
          <a:noFill/>
          <a:ln/>
        </p:spPr>
        <p:txBody>
          <a:bodyPr wrap="square" lIns="0" tIns="0" rIns="0" bIns="0" rtlCol="0" anchor="ctr"/>
          <a:lstStyle/>
          <a:p>
            <a:pPr algn="l" indent="0" marL="0">
              <a:buNone/>
            </a:pPr>
            <a:r>
              <a:rPr lang="en-US" sz="1500" dirty="0">
                <a:solidFill>
                  <a:srgbClr val="5B6B7B"/>
                </a:solidFill>
                <a:latin typeface="Calibri" pitchFamily="34" charset="0"/>
                <a:ea typeface="Calibri" pitchFamily="34" charset="-122"/>
                <a:cs typeface="Calibri" pitchFamily="34" charset="-120"/>
              </a:rPr>
              <a:t>Every alert flows through five automatic steps before an analyst even looks.</a:t>
            </a:r>
            <a:endParaRPr lang="en-US" sz="1500" dirty="0"/>
          </a:p>
        </p:txBody>
      </p:sp>
      <p:sp>
        <p:nvSpPr>
          <p:cNvPr id="4" name="Shape 2"/>
          <p:cNvSpPr/>
          <p:nvPr/>
        </p:nvSpPr>
        <p:spPr>
          <a:xfrm>
            <a:off x="548640" y="1920240"/>
            <a:ext cx="1993392" cy="2743200"/>
          </a:xfrm>
          <a:prstGeom prst="roundRect">
            <a:avLst>
              <a:gd name="adj" fmla="val 4128"/>
            </a:avLst>
          </a:prstGeom>
          <a:solidFill>
            <a:srgbClr val="F1F5F9"/>
          </a:solidFill>
          <a:ln/>
          <a:effectLst>
            <a:outerShdw sx="100000" sy="100000" kx="0" ky="0" algn="bl" rotWithShape="0" blurRad="101600" dist="38100" dir="5400000">
              <a:srgbClr val="9AA7B4">
                <a:alpha val="35000"/>
              </a:srgbClr>
            </a:outerShdw>
          </a:effectLst>
        </p:spPr>
      </p:sp>
      <p:sp>
        <p:nvSpPr>
          <p:cNvPr id="5" name="Shape 3"/>
          <p:cNvSpPr/>
          <p:nvPr/>
        </p:nvSpPr>
        <p:spPr>
          <a:xfrm>
            <a:off x="1088136" y="2240280"/>
            <a:ext cx="914400" cy="914400"/>
          </a:xfrm>
          <a:prstGeom prst="ellipse">
            <a:avLst/>
          </a:prstGeom>
          <a:solidFill>
            <a:srgbClr val="3B82F6"/>
          </a:solidFill>
          <a:ln/>
        </p:spPr>
      </p:sp>
      <p:pic>
        <p:nvPicPr>
          <p:cNvPr id="6" name="Image 0" descr="preencoded.png">    </p:cNvPr>
          <p:cNvPicPr>
            <a:picLocks noChangeAspect="1"/>
          </p:cNvPicPr>
          <p:nvPr/>
        </p:nvPicPr>
        <p:blipFill>
          <a:blip r:embed="rId1"/>
          <a:stretch>
            <a:fillRect/>
          </a:stretch>
        </p:blipFill>
        <p:spPr>
          <a:xfrm>
            <a:off x="1316736" y="2468880"/>
            <a:ext cx="457200" cy="457200"/>
          </a:xfrm>
          <a:prstGeom prst="rect">
            <a:avLst/>
          </a:prstGeom>
        </p:spPr>
      </p:pic>
      <p:sp>
        <p:nvSpPr>
          <p:cNvPr id="7" name="Text 4"/>
          <p:cNvSpPr txBox="1"/>
          <p:nvPr/>
        </p:nvSpPr>
        <p:spPr>
          <a:xfrm>
            <a:off x="640080" y="3291840"/>
            <a:ext cx="1810512" cy="411480"/>
          </a:xfrm>
          <a:prstGeom prst="rect">
            <a:avLst/>
          </a:prstGeom>
          <a:noFill/>
          <a:ln/>
        </p:spPr>
        <p:txBody>
          <a:bodyPr wrap="square" lIns="0" tIns="0" rIns="0" bIns="0" rtlCol="0" anchor="ctr"/>
          <a:lstStyle/>
          <a:p>
            <a:pPr algn="ctr" indent="0" marL="0">
              <a:buNone/>
            </a:pPr>
            <a:r>
              <a:rPr lang="en-US" sz="1600" b="1" dirty="0">
                <a:solidFill>
                  <a:srgbClr val="1B2733"/>
                </a:solidFill>
                <a:latin typeface="Calibri" pitchFamily="34" charset="0"/>
                <a:ea typeface="Calibri" pitchFamily="34" charset="-122"/>
                <a:cs typeface="Calibri" pitchFamily="34" charset="-120"/>
              </a:rPr>
              <a:t>1. Ingest</a:t>
            </a:r>
            <a:endParaRPr lang="en-US" sz="1600" dirty="0"/>
          </a:p>
        </p:txBody>
      </p:sp>
      <p:sp>
        <p:nvSpPr>
          <p:cNvPr id="8" name="Text 5"/>
          <p:cNvSpPr txBox="1"/>
          <p:nvPr/>
        </p:nvSpPr>
        <p:spPr>
          <a:xfrm>
            <a:off x="676656" y="3703320"/>
            <a:ext cx="1737360" cy="868680"/>
          </a:xfrm>
          <a:prstGeom prst="rect">
            <a:avLst/>
          </a:prstGeom>
          <a:noFill/>
          <a:ln/>
        </p:spPr>
        <p:txBody>
          <a:bodyPr wrap="square" lIns="0" tIns="0" rIns="0" bIns="0" rtlCol="0" anchor="ctr"/>
          <a:lstStyle/>
          <a:p>
            <a:pPr algn="ctr" indent="0" marL="0">
              <a:buNone/>
            </a:pPr>
            <a:r>
              <a:rPr lang="en-US" sz="1250" dirty="0">
                <a:solidFill>
                  <a:srgbClr val="5B6B7B"/>
                </a:solidFill>
                <a:latin typeface="Calibri" pitchFamily="34" charset="0"/>
                <a:ea typeface="Calibri" pitchFamily="34" charset="-122"/>
                <a:cs typeface="Calibri" pitchFamily="34" charset="-120"/>
              </a:rPr>
              <a:t>Collect from any tool, translate to one format</a:t>
            </a:r>
            <a:endParaRPr lang="en-US" sz="1250" dirty="0"/>
          </a:p>
        </p:txBody>
      </p:sp>
      <p:sp>
        <p:nvSpPr>
          <p:cNvPr id="9" name="Text 6"/>
          <p:cNvSpPr txBox="1"/>
          <p:nvPr/>
        </p:nvSpPr>
        <p:spPr>
          <a:xfrm>
            <a:off x="2478024" y="3017520"/>
            <a:ext cx="402336" cy="548640"/>
          </a:xfrm>
          <a:prstGeom prst="rect">
            <a:avLst/>
          </a:prstGeom>
          <a:noFill/>
          <a:ln/>
        </p:spPr>
        <p:txBody>
          <a:bodyPr wrap="square" lIns="0" tIns="0" rIns="0" bIns="0" rtlCol="0" anchor="ctr"/>
          <a:lstStyle/>
          <a:p>
            <a:pPr algn="ctr" indent="0" marL="0">
              <a:buNone/>
            </a:pPr>
            <a:r>
              <a:rPr lang="en-US" sz="2800" b="1" dirty="0">
                <a:solidFill>
                  <a:srgbClr val="3B82F6"/>
                </a:solidFill>
                <a:latin typeface="Calibri" pitchFamily="34" charset="0"/>
                <a:ea typeface="Calibri" pitchFamily="34" charset="-122"/>
                <a:cs typeface="Calibri" pitchFamily="34" charset="-120"/>
              </a:rPr>
              <a:t>&gt;</a:t>
            </a:r>
            <a:endParaRPr lang="en-US" sz="2800" dirty="0"/>
          </a:p>
        </p:txBody>
      </p:sp>
      <p:sp>
        <p:nvSpPr>
          <p:cNvPr id="10" name="Shape 7"/>
          <p:cNvSpPr/>
          <p:nvPr/>
        </p:nvSpPr>
        <p:spPr>
          <a:xfrm>
            <a:off x="2816352" y="1920240"/>
            <a:ext cx="1993392" cy="2743200"/>
          </a:xfrm>
          <a:prstGeom prst="roundRect">
            <a:avLst>
              <a:gd name="adj" fmla="val 4128"/>
            </a:avLst>
          </a:prstGeom>
          <a:solidFill>
            <a:srgbClr val="F1F5F9"/>
          </a:solidFill>
          <a:ln/>
          <a:effectLst>
            <a:outerShdw sx="100000" sy="100000" kx="0" ky="0" algn="bl" rotWithShape="0" blurRad="101600" dist="38100" dir="5400000">
              <a:srgbClr val="9AA7B4">
                <a:alpha val="35000"/>
              </a:srgbClr>
            </a:outerShdw>
          </a:effectLst>
        </p:spPr>
      </p:sp>
      <p:sp>
        <p:nvSpPr>
          <p:cNvPr id="11" name="Shape 8"/>
          <p:cNvSpPr/>
          <p:nvPr/>
        </p:nvSpPr>
        <p:spPr>
          <a:xfrm>
            <a:off x="3355848" y="2240280"/>
            <a:ext cx="914400" cy="914400"/>
          </a:xfrm>
          <a:prstGeom prst="ellipse">
            <a:avLst/>
          </a:prstGeom>
          <a:solidFill>
            <a:srgbClr val="22B8CF"/>
          </a:solidFill>
          <a:ln/>
        </p:spPr>
      </p:sp>
      <p:pic>
        <p:nvPicPr>
          <p:cNvPr id="12" name="Image 1" descr="preencoded.png">    </p:cNvPr>
          <p:cNvPicPr>
            <a:picLocks noChangeAspect="1"/>
          </p:cNvPicPr>
          <p:nvPr/>
        </p:nvPicPr>
        <p:blipFill>
          <a:blip r:embed="rId2"/>
          <a:stretch>
            <a:fillRect/>
          </a:stretch>
        </p:blipFill>
        <p:spPr>
          <a:xfrm>
            <a:off x="3584448" y="2468880"/>
            <a:ext cx="457200" cy="457200"/>
          </a:xfrm>
          <a:prstGeom prst="rect">
            <a:avLst/>
          </a:prstGeom>
        </p:spPr>
      </p:pic>
      <p:sp>
        <p:nvSpPr>
          <p:cNvPr id="13" name="Text 9"/>
          <p:cNvSpPr txBox="1"/>
          <p:nvPr/>
        </p:nvSpPr>
        <p:spPr>
          <a:xfrm>
            <a:off x="2907792" y="3291840"/>
            <a:ext cx="1810512" cy="411480"/>
          </a:xfrm>
          <a:prstGeom prst="rect">
            <a:avLst/>
          </a:prstGeom>
          <a:noFill/>
          <a:ln/>
        </p:spPr>
        <p:txBody>
          <a:bodyPr wrap="square" lIns="0" tIns="0" rIns="0" bIns="0" rtlCol="0" anchor="ctr"/>
          <a:lstStyle/>
          <a:p>
            <a:pPr algn="ctr" indent="0" marL="0">
              <a:buNone/>
            </a:pPr>
            <a:r>
              <a:rPr lang="en-US" sz="1600" b="1" dirty="0">
                <a:solidFill>
                  <a:srgbClr val="1B2733"/>
                </a:solidFill>
                <a:latin typeface="Calibri" pitchFamily="34" charset="0"/>
                <a:ea typeface="Calibri" pitchFamily="34" charset="-122"/>
                <a:cs typeface="Calibri" pitchFamily="34" charset="-120"/>
              </a:rPr>
              <a:t>2. Enrich</a:t>
            </a:r>
            <a:endParaRPr lang="en-US" sz="1600" dirty="0"/>
          </a:p>
        </p:txBody>
      </p:sp>
      <p:sp>
        <p:nvSpPr>
          <p:cNvPr id="14" name="Text 10"/>
          <p:cNvSpPr txBox="1"/>
          <p:nvPr/>
        </p:nvSpPr>
        <p:spPr>
          <a:xfrm>
            <a:off x="2944368" y="3703320"/>
            <a:ext cx="1737360" cy="868680"/>
          </a:xfrm>
          <a:prstGeom prst="rect">
            <a:avLst/>
          </a:prstGeom>
          <a:noFill/>
          <a:ln/>
        </p:spPr>
        <p:txBody>
          <a:bodyPr wrap="square" lIns="0" tIns="0" rIns="0" bIns="0" rtlCol="0" anchor="ctr"/>
          <a:lstStyle/>
          <a:p>
            <a:pPr algn="ctr" indent="0" marL="0">
              <a:buNone/>
            </a:pPr>
            <a:r>
              <a:rPr lang="en-US" sz="1250" dirty="0">
                <a:solidFill>
                  <a:srgbClr val="5B6B7B"/>
                </a:solidFill>
                <a:latin typeface="Calibri" pitchFamily="34" charset="0"/>
                <a:ea typeface="Calibri" pitchFamily="34" charset="-122"/>
                <a:cs typeface="Calibri" pitchFamily="34" charset="-120"/>
              </a:rPr>
              <a:t>Add threat-intel &amp; asset context</a:t>
            </a:r>
            <a:endParaRPr lang="en-US" sz="1250" dirty="0"/>
          </a:p>
        </p:txBody>
      </p:sp>
      <p:sp>
        <p:nvSpPr>
          <p:cNvPr id="15" name="Text 11"/>
          <p:cNvSpPr txBox="1"/>
          <p:nvPr/>
        </p:nvSpPr>
        <p:spPr>
          <a:xfrm>
            <a:off x="4745736" y="3017520"/>
            <a:ext cx="402336" cy="548640"/>
          </a:xfrm>
          <a:prstGeom prst="rect">
            <a:avLst/>
          </a:prstGeom>
          <a:noFill/>
          <a:ln/>
        </p:spPr>
        <p:txBody>
          <a:bodyPr wrap="square" lIns="0" tIns="0" rIns="0" bIns="0" rtlCol="0" anchor="ctr"/>
          <a:lstStyle/>
          <a:p>
            <a:pPr algn="ctr" indent="0" marL="0">
              <a:buNone/>
            </a:pPr>
            <a:r>
              <a:rPr lang="en-US" sz="2800" b="1" dirty="0">
                <a:solidFill>
                  <a:srgbClr val="3B82F6"/>
                </a:solidFill>
                <a:latin typeface="Calibri" pitchFamily="34" charset="0"/>
                <a:ea typeface="Calibri" pitchFamily="34" charset="-122"/>
                <a:cs typeface="Calibri" pitchFamily="34" charset="-120"/>
              </a:rPr>
              <a:t>&gt;</a:t>
            </a:r>
            <a:endParaRPr lang="en-US" sz="2800" dirty="0"/>
          </a:p>
        </p:txBody>
      </p:sp>
      <p:sp>
        <p:nvSpPr>
          <p:cNvPr id="16" name="Shape 12"/>
          <p:cNvSpPr/>
          <p:nvPr/>
        </p:nvSpPr>
        <p:spPr>
          <a:xfrm>
            <a:off x="5084064" y="1920240"/>
            <a:ext cx="1993392" cy="2743200"/>
          </a:xfrm>
          <a:prstGeom prst="roundRect">
            <a:avLst>
              <a:gd name="adj" fmla="val 4128"/>
            </a:avLst>
          </a:prstGeom>
          <a:solidFill>
            <a:srgbClr val="F1F5F9"/>
          </a:solidFill>
          <a:ln/>
          <a:effectLst>
            <a:outerShdw sx="100000" sy="100000" kx="0" ky="0" algn="bl" rotWithShape="0" blurRad="101600" dist="38100" dir="5400000">
              <a:srgbClr val="9AA7B4">
                <a:alpha val="35000"/>
              </a:srgbClr>
            </a:outerShdw>
          </a:effectLst>
        </p:spPr>
      </p:sp>
      <p:sp>
        <p:nvSpPr>
          <p:cNvPr id="17" name="Shape 13"/>
          <p:cNvSpPr/>
          <p:nvPr/>
        </p:nvSpPr>
        <p:spPr>
          <a:xfrm>
            <a:off x="5623560" y="2240280"/>
            <a:ext cx="914400" cy="914400"/>
          </a:xfrm>
          <a:prstGeom prst="ellipse">
            <a:avLst/>
          </a:prstGeom>
          <a:solidFill>
            <a:srgbClr val="E0B64A"/>
          </a:solidFill>
          <a:ln/>
        </p:spPr>
      </p:sp>
      <p:pic>
        <p:nvPicPr>
          <p:cNvPr id="18" name="Image 2" descr="preencoded.png">    </p:cNvPr>
          <p:cNvPicPr>
            <a:picLocks noChangeAspect="1"/>
          </p:cNvPicPr>
          <p:nvPr/>
        </p:nvPicPr>
        <p:blipFill>
          <a:blip r:embed="rId3"/>
          <a:stretch>
            <a:fillRect/>
          </a:stretch>
        </p:blipFill>
        <p:spPr>
          <a:xfrm>
            <a:off x="5852160" y="2468880"/>
            <a:ext cx="457200" cy="457200"/>
          </a:xfrm>
          <a:prstGeom prst="rect">
            <a:avLst/>
          </a:prstGeom>
        </p:spPr>
      </p:pic>
      <p:sp>
        <p:nvSpPr>
          <p:cNvPr id="19" name="Text 14"/>
          <p:cNvSpPr txBox="1"/>
          <p:nvPr/>
        </p:nvSpPr>
        <p:spPr>
          <a:xfrm>
            <a:off x="5175504" y="3291840"/>
            <a:ext cx="1810512" cy="411480"/>
          </a:xfrm>
          <a:prstGeom prst="rect">
            <a:avLst/>
          </a:prstGeom>
          <a:noFill/>
          <a:ln/>
        </p:spPr>
        <p:txBody>
          <a:bodyPr wrap="square" lIns="0" tIns="0" rIns="0" bIns="0" rtlCol="0" anchor="ctr"/>
          <a:lstStyle/>
          <a:p>
            <a:pPr algn="ctr" indent="0" marL="0">
              <a:buNone/>
            </a:pPr>
            <a:r>
              <a:rPr lang="en-US" sz="1600" b="1" dirty="0">
                <a:solidFill>
                  <a:srgbClr val="1B2733"/>
                </a:solidFill>
                <a:latin typeface="Calibri" pitchFamily="34" charset="0"/>
                <a:ea typeface="Calibri" pitchFamily="34" charset="-122"/>
                <a:cs typeface="Calibri" pitchFamily="34" charset="-120"/>
              </a:rPr>
              <a:t>3. Score</a:t>
            </a:r>
            <a:endParaRPr lang="en-US" sz="1600" dirty="0"/>
          </a:p>
        </p:txBody>
      </p:sp>
      <p:sp>
        <p:nvSpPr>
          <p:cNvPr id="20" name="Text 15"/>
          <p:cNvSpPr txBox="1"/>
          <p:nvPr/>
        </p:nvSpPr>
        <p:spPr>
          <a:xfrm>
            <a:off x="5212080" y="3703320"/>
            <a:ext cx="1737360" cy="868680"/>
          </a:xfrm>
          <a:prstGeom prst="rect">
            <a:avLst/>
          </a:prstGeom>
          <a:noFill/>
          <a:ln/>
        </p:spPr>
        <p:txBody>
          <a:bodyPr wrap="square" lIns="0" tIns="0" rIns="0" bIns="0" rtlCol="0" anchor="ctr"/>
          <a:lstStyle/>
          <a:p>
            <a:pPr algn="ctr" indent="0" marL="0">
              <a:buNone/>
            </a:pPr>
            <a:r>
              <a:rPr lang="en-US" sz="1250" dirty="0">
                <a:solidFill>
                  <a:srgbClr val="5B6B7B"/>
                </a:solidFill>
                <a:latin typeface="Calibri" pitchFamily="34" charset="0"/>
                <a:ea typeface="Calibri" pitchFamily="34" charset="-122"/>
                <a:cs typeface="Calibri" pitchFamily="34" charset="-120"/>
              </a:rPr>
              <a:t>Rank risk 0–100</a:t>
            </a:r>
            <a:endParaRPr lang="en-US" sz="1250" dirty="0"/>
          </a:p>
        </p:txBody>
      </p:sp>
      <p:sp>
        <p:nvSpPr>
          <p:cNvPr id="21" name="Text 16"/>
          <p:cNvSpPr txBox="1"/>
          <p:nvPr/>
        </p:nvSpPr>
        <p:spPr>
          <a:xfrm>
            <a:off x="7013448" y="3017520"/>
            <a:ext cx="402336" cy="548640"/>
          </a:xfrm>
          <a:prstGeom prst="rect">
            <a:avLst/>
          </a:prstGeom>
          <a:noFill/>
          <a:ln/>
        </p:spPr>
        <p:txBody>
          <a:bodyPr wrap="square" lIns="0" tIns="0" rIns="0" bIns="0" rtlCol="0" anchor="ctr"/>
          <a:lstStyle/>
          <a:p>
            <a:pPr algn="ctr" indent="0" marL="0">
              <a:buNone/>
            </a:pPr>
            <a:r>
              <a:rPr lang="en-US" sz="2800" b="1" dirty="0">
                <a:solidFill>
                  <a:srgbClr val="3B82F6"/>
                </a:solidFill>
                <a:latin typeface="Calibri" pitchFamily="34" charset="0"/>
                <a:ea typeface="Calibri" pitchFamily="34" charset="-122"/>
                <a:cs typeface="Calibri" pitchFamily="34" charset="-120"/>
              </a:rPr>
              <a:t>&gt;</a:t>
            </a:r>
            <a:endParaRPr lang="en-US" sz="2800" dirty="0"/>
          </a:p>
        </p:txBody>
      </p:sp>
      <p:sp>
        <p:nvSpPr>
          <p:cNvPr id="22" name="Shape 17"/>
          <p:cNvSpPr/>
          <p:nvPr/>
        </p:nvSpPr>
        <p:spPr>
          <a:xfrm>
            <a:off x="7351776" y="1920240"/>
            <a:ext cx="1993392" cy="2743200"/>
          </a:xfrm>
          <a:prstGeom prst="roundRect">
            <a:avLst>
              <a:gd name="adj" fmla="val 4128"/>
            </a:avLst>
          </a:prstGeom>
          <a:solidFill>
            <a:srgbClr val="F1F5F9"/>
          </a:solidFill>
          <a:ln/>
          <a:effectLst>
            <a:outerShdw sx="100000" sy="100000" kx="0" ky="0" algn="bl" rotWithShape="0" blurRad="101600" dist="38100" dir="5400000">
              <a:srgbClr val="9AA7B4">
                <a:alpha val="35000"/>
              </a:srgbClr>
            </a:outerShdw>
          </a:effectLst>
        </p:spPr>
      </p:sp>
      <p:sp>
        <p:nvSpPr>
          <p:cNvPr id="23" name="Shape 18"/>
          <p:cNvSpPr/>
          <p:nvPr/>
        </p:nvSpPr>
        <p:spPr>
          <a:xfrm>
            <a:off x="7891272" y="2240280"/>
            <a:ext cx="914400" cy="914400"/>
          </a:xfrm>
          <a:prstGeom prst="ellipse">
            <a:avLst/>
          </a:prstGeom>
          <a:solidFill>
            <a:srgbClr val="E8863C"/>
          </a:solidFill>
          <a:ln/>
        </p:spPr>
      </p:sp>
      <p:pic>
        <p:nvPicPr>
          <p:cNvPr id="24" name="Image 3" descr="preencoded.png">    </p:cNvPr>
          <p:cNvPicPr>
            <a:picLocks noChangeAspect="1"/>
          </p:cNvPicPr>
          <p:nvPr/>
        </p:nvPicPr>
        <p:blipFill>
          <a:blip r:embed="rId4"/>
          <a:stretch>
            <a:fillRect/>
          </a:stretch>
        </p:blipFill>
        <p:spPr>
          <a:xfrm>
            <a:off x="8119872" y="2468880"/>
            <a:ext cx="457200" cy="457200"/>
          </a:xfrm>
          <a:prstGeom prst="rect">
            <a:avLst/>
          </a:prstGeom>
        </p:spPr>
      </p:pic>
      <p:sp>
        <p:nvSpPr>
          <p:cNvPr id="25" name="Text 19"/>
          <p:cNvSpPr txBox="1"/>
          <p:nvPr/>
        </p:nvSpPr>
        <p:spPr>
          <a:xfrm>
            <a:off x="7443216" y="3291840"/>
            <a:ext cx="1810512" cy="411480"/>
          </a:xfrm>
          <a:prstGeom prst="rect">
            <a:avLst/>
          </a:prstGeom>
          <a:noFill/>
          <a:ln/>
        </p:spPr>
        <p:txBody>
          <a:bodyPr wrap="square" lIns="0" tIns="0" rIns="0" bIns="0" rtlCol="0" anchor="ctr"/>
          <a:lstStyle/>
          <a:p>
            <a:pPr algn="ctr" indent="0" marL="0">
              <a:buNone/>
            </a:pPr>
            <a:r>
              <a:rPr lang="en-US" sz="1600" b="1" dirty="0">
                <a:solidFill>
                  <a:srgbClr val="1B2733"/>
                </a:solidFill>
                <a:latin typeface="Calibri" pitchFamily="34" charset="0"/>
                <a:ea typeface="Calibri" pitchFamily="34" charset="-122"/>
                <a:cs typeface="Calibri" pitchFamily="34" charset="-120"/>
              </a:rPr>
              <a:t>4. Correlate</a:t>
            </a:r>
            <a:endParaRPr lang="en-US" sz="1600" dirty="0"/>
          </a:p>
        </p:txBody>
      </p:sp>
      <p:sp>
        <p:nvSpPr>
          <p:cNvPr id="26" name="Text 20"/>
          <p:cNvSpPr txBox="1"/>
          <p:nvPr/>
        </p:nvSpPr>
        <p:spPr>
          <a:xfrm>
            <a:off x="7479792" y="3703320"/>
            <a:ext cx="1737360" cy="868680"/>
          </a:xfrm>
          <a:prstGeom prst="rect">
            <a:avLst/>
          </a:prstGeom>
          <a:noFill/>
          <a:ln/>
        </p:spPr>
        <p:txBody>
          <a:bodyPr wrap="square" lIns="0" tIns="0" rIns="0" bIns="0" rtlCol="0" anchor="ctr"/>
          <a:lstStyle/>
          <a:p>
            <a:pPr algn="ctr" indent="0" marL="0">
              <a:buNone/>
            </a:pPr>
            <a:r>
              <a:rPr lang="en-US" sz="1250" dirty="0">
                <a:solidFill>
                  <a:srgbClr val="5B6B7B"/>
                </a:solidFill>
                <a:latin typeface="Calibri" pitchFamily="34" charset="0"/>
                <a:ea typeface="Calibri" pitchFamily="34" charset="-122"/>
                <a:cs typeface="Calibri" pitchFamily="34" charset="-120"/>
              </a:rPr>
              <a:t>Group related alerts into incidents</a:t>
            </a:r>
            <a:endParaRPr lang="en-US" sz="1250" dirty="0"/>
          </a:p>
        </p:txBody>
      </p:sp>
      <p:sp>
        <p:nvSpPr>
          <p:cNvPr id="27" name="Text 21"/>
          <p:cNvSpPr txBox="1"/>
          <p:nvPr/>
        </p:nvSpPr>
        <p:spPr>
          <a:xfrm>
            <a:off x="9281160" y="3017520"/>
            <a:ext cx="402336" cy="548640"/>
          </a:xfrm>
          <a:prstGeom prst="rect">
            <a:avLst/>
          </a:prstGeom>
          <a:noFill/>
          <a:ln/>
        </p:spPr>
        <p:txBody>
          <a:bodyPr wrap="square" lIns="0" tIns="0" rIns="0" bIns="0" rtlCol="0" anchor="ctr"/>
          <a:lstStyle/>
          <a:p>
            <a:pPr algn="ctr" indent="0" marL="0">
              <a:buNone/>
            </a:pPr>
            <a:r>
              <a:rPr lang="en-US" sz="2800" b="1" dirty="0">
                <a:solidFill>
                  <a:srgbClr val="3B82F6"/>
                </a:solidFill>
                <a:latin typeface="Calibri" pitchFamily="34" charset="0"/>
                <a:ea typeface="Calibri" pitchFamily="34" charset="-122"/>
                <a:cs typeface="Calibri" pitchFamily="34" charset="-120"/>
              </a:rPr>
              <a:t>&gt;</a:t>
            </a:r>
            <a:endParaRPr lang="en-US" sz="2800" dirty="0"/>
          </a:p>
        </p:txBody>
      </p:sp>
      <p:sp>
        <p:nvSpPr>
          <p:cNvPr id="28" name="Shape 22"/>
          <p:cNvSpPr/>
          <p:nvPr/>
        </p:nvSpPr>
        <p:spPr>
          <a:xfrm>
            <a:off x="9619488" y="1920240"/>
            <a:ext cx="1993392" cy="2743200"/>
          </a:xfrm>
          <a:prstGeom prst="roundRect">
            <a:avLst>
              <a:gd name="adj" fmla="val 4128"/>
            </a:avLst>
          </a:prstGeom>
          <a:solidFill>
            <a:srgbClr val="F1F5F9"/>
          </a:solidFill>
          <a:ln/>
          <a:effectLst>
            <a:outerShdw sx="100000" sy="100000" kx="0" ky="0" algn="bl" rotWithShape="0" blurRad="101600" dist="38100" dir="5400000">
              <a:srgbClr val="9AA7B4">
                <a:alpha val="35000"/>
              </a:srgbClr>
            </a:outerShdw>
          </a:effectLst>
        </p:spPr>
      </p:sp>
      <p:sp>
        <p:nvSpPr>
          <p:cNvPr id="29" name="Shape 23"/>
          <p:cNvSpPr/>
          <p:nvPr/>
        </p:nvSpPr>
        <p:spPr>
          <a:xfrm>
            <a:off x="10158984" y="2240280"/>
            <a:ext cx="914400" cy="914400"/>
          </a:xfrm>
          <a:prstGeom prst="ellipse">
            <a:avLst/>
          </a:prstGeom>
          <a:solidFill>
            <a:srgbClr val="2FB27F"/>
          </a:solidFill>
          <a:ln/>
        </p:spPr>
      </p:sp>
      <p:pic>
        <p:nvPicPr>
          <p:cNvPr id="30" name="Image 4" descr="preencoded.png">    </p:cNvPr>
          <p:cNvPicPr>
            <a:picLocks noChangeAspect="1"/>
          </p:cNvPicPr>
          <p:nvPr/>
        </p:nvPicPr>
        <p:blipFill>
          <a:blip r:embed="rId5"/>
          <a:stretch>
            <a:fillRect/>
          </a:stretch>
        </p:blipFill>
        <p:spPr>
          <a:xfrm>
            <a:off x="10387584" y="2468880"/>
            <a:ext cx="457200" cy="457200"/>
          </a:xfrm>
          <a:prstGeom prst="rect">
            <a:avLst/>
          </a:prstGeom>
        </p:spPr>
      </p:pic>
      <p:sp>
        <p:nvSpPr>
          <p:cNvPr id="31" name="Text 24"/>
          <p:cNvSpPr txBox="1"/>
          <p:nvPr/>
        </p:nvSpPr>
        <p:spPr>
          <a:xfrm>
            <a:off x="9710928" y="3291840"/>
            <a:ext cx="1810512" cy="411480"/>
          </a:xfrm>
          <a:prstGeom prst="rect">
            <a:avLst/>
          </a:prstGeom>
          <a:noFill/>
          <a:ln/>
        </p:spPr>
        <p:txBody>
          <a:bodyPr wrap="square" lIns="0" tIns="0" rIns="0" bIns="0" rtlCol="0" anchor="ctr"/>
          <a:lstStyle/>
          <a:p>
            <a:pPr algn="ctr" indent="0" marL="0">
              <a:buNone/>
            </a:pPr>
            <a:r>
              <a:rPr lang="en-US" sz="1600" b="1" dirty="0">
                <a:solidFill>
                  <a:srgbClr val="1B2733"/>
                </a:solidFill>
                <a:latin typeface="Calibri" pitchFamily="34" charset="0"/>
                <a:ea typeface="Calibri" pitchFamily="34" charset="-122"/>
                <a:cs typeface="Calibri" pitchFamily="34" charset="-120"/>
              </a:rPr>
              <a:t>5. Track (SLA)</a:t>
            </a:r>
            <a:endParaRPr lang="en-US" sz="1600" dirty="0"/>
          </a:p>
        </p:txBody>
      </p:sp>
      <p:sp>
        <p:nvSpPr>
          <p:cNvPr id="32" name="Text 25"/>
          <p:cNvSpPr txBox="1"/>
          <p:nvPr/>
        </p:nvSpPr>
        <p:spPr>
          <a:xfrm>
            <a:off x="9747504" y="3703320"/>
            <a:ext cx="1737360" cy="868680"/>
          </a:xfrm>
          <a:prstGeom prst="rect">
            <a:avLst/>
          </a:prstGeom>
          <a:noFill/>
          <a:ln/>
        </p:spPr>
        <p:txBody>
          <a:bodyPr wrap="square" lIns="0" tIns="0" rIns="0" bIns="0" rtlCol="0" anchor="ctr"/>
          <a:lstStyle/>
          <a:p>
            <a:pPr algn="ctr" indent="0" marL="0">
              <a:buNone/>
            </a:pPr>
            <a:r>
              <a:rPr lang="en-US" sz="1250" dirty="0">
                <a:solidFill>
                  <a:srgbClr val="5B6B7B"/>
                </a:solidFill>
                <a:latin typeface="Calibri" pitchFamily="34" charset="0"/>
                <a:ea typeface="Calibri" pitchFamily="34" charset="-122"/>
                <a:cs typeface="Calibri" pitchFamily="34" charset="-120"/>
              </a:rPr>
              <a:t>Deadlines + auto-escalation</a:t>
            </a:r>
            <a:endParaRPr lang="en-US" sz="1250" dirty="0"/>
          </a:p>
        </p:txBody>
      </p:sp>
      <p:sp>
        <p:nvSpPr>
          <p:cNvPr id="33" name="Shape 26"/>
          <p:cNvSpPr/>
          <p:nvPr/>
        </p:nvSpPr>
        <p:spPr>
          <a:xfrm>
            <a:off x="548640" y="5029200"/>
            <a:ext cx="11091672" cy="1143000"/>
          </a:xfrm>
          <a:prstGeom prst="roundRect">
            <a:avLst>
              <a:gd name="adj" fmla="val 7200"/>
            </a:avLst>
          </a:prstGeom>
          <a:solidFill>
            <a:srgbClr val="16263A"/>
          </a:solidFill>
          <a:ln/>
          <a:effectLst>
            <a:outerShdw sx="100000" sy="100000" kx="0" ky="0" algn="bl" rotWithShape="0" blurRad="101600" dist="38100" dir="5400000">
              <a:srgbClr val="9AA7B4">
                <a:alpha val="35000"/>
              </a:srgbClr>
            </a:outerShdw>
          </a:effectLst>
        </p:spPr>
      </p:sp>
      <p:sp>
        <p:nvSpPr>
          <p:cNvPr id="34" name="Shape 27"/>
          <p:cNvSpPr/>
          <p:nvPr/>
        </p:nvSpPr>
        <p:spPr>
          <a:xfrm>
            <a:off x="868680" y="5285232"/>
            <a:ext cx="640080" cy="640080"/>
          </a:xfrm>
          <a:prstGeom prst="ellipse">
            <a:avLst/>
          </a:prstGeom>
          <a:solidFill>
            <a:srgbClr val="2FB27F"/>
          </a:solidFill>
          <a:ln/>
        </p:spPr>
      </p:sp>
      <p:pic>
        <p:nvPicPr>
          <p:cNvPr id="35" name="Image 5" descr="preencoded.png">    </p:cNvPr>
          <p:cNvPicPr>
            <a:picLocks noChangeAspect="1"/>
          </p:cNvPicPr>
          <p:nvPr/>
        </p:nvPicPr>
        <p:blipFill>
          <a:blip r:embed="rId6"/>
          <a:stretch>
            <a:fillRect/>
          </a:stretch>
        </p:blipFill>
        <p:spPr>
          <a:xfrm>
            <a:off x="1028700" y="5445252"/>
            <a:ext cx="320040" cy="320040"/>
          </a:xfrm>
          <a:prstGeom prst="rect">
            <a:avLst/>
          </a:prstGeom>
        </p:spPr>
      </p:pic>
      <p:sp>
        <p:nvSpPr>
          <p:cNvPr id="36" name="Text 28"/>
          <p:cNvSpPr txBox="1"/>
          <p:nvPr/>
        </p:nvSpPr>
        <p:spPr>
          <a:xfrm>
            <a:off x="1737360" y="5138928"/>
            <a:ext cx="9601200" cy="9144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Result:  </a:t>
            </a:r>
            <a:pPr indent="0" marL="0">
              <a:buNone/>
            </a:pPr>
            <a:r>
              <a:rPr lang="en-US" sz="1450" dirty="0">
                <a:solidFill>
                  <a:srgbClr val="CFE0F2"/>
                </a:solidFill>
                <a:latin typeface="Calibri" pitchFamily="34" charset="0"/>
                <a:ea typeface="Calibri" pitchFamily="34" charset="-122"/>
                <a:cs typeface="Calibri" pitchFamily="34" charset="-120"/>
              </a:rPr>
              <a:t>the analyst opens one risk-ranked queue of incidents — each already enriched, scored, grouped, and on an SLA countdown.</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algn="l" indent="0" marL="0">
              <a:buNone/>
            </a:pPr>
            <a:r>
              <a:rPr lang="en-US" sz="3000" b="1" dirty="0">
                <a:solidFill>
                  <a:srgbClr val="16263A"/>
                </a:solidFill>
                <a:latin typeface="Calibri" pitchFamily="34" charset="0"/>
                <a:ea typeface="Calibri" pitchFamily="34" charset="-122"/>
                <a:cs typeface="Calibri" pitchFamily="34" charset="-120"/>
              </a:rPr>
              <a:t>System Architecture</a:t>
            </a:r>
            <a:endParaRPr lang="en-US" sz="3000" dirty="0"/>
          </a:p>
        </p:txBody>
      </p:sp>
      <p:sp>
        <p:nvSpPr>
          <p:cNvPr id="3" name="Text 1"/>
          <p:cNvSpPr txBox="1"/>
          <p:nvPr/>
        </p:nvSpPr>
        <p:spPr>
          <a:xfrm>
            <a:off x="548640" y="969264"/>
            <a:ext cx="11091672" cy="365760"/>
          </a:xfrm>
          <a:prstGeom prst="rect">
            <a:avLst/>
          </a:prstGeom>
          <a:noFill/>
          <a:ln/>
        </p:spPr>
        <p:txBody>
          <a:bodyPr wrap="square" lIns="0" tIns="0" rIns="0" bIns="0" rtlCol="0" anchor="ctr"/>
          <a:lstStyle/>
          <a:p>
            <a:pPr algn="l" indent="0" marL="0">
              <a:buNone/>
            </a:pPr>
            <a:r>
              <a:rPr lang="en-US" sz="1500" dirty="0">
                <a:solidFill>
                  <a:srgbClr val="5B6B7B"/>
                </a:solidFill>
                <a:latin typeface="Calibri" pitchFamily="34" charset="0"/>
                <a:ea typeface="Calibri" pitchFamily="34" charset="-122"/>
                <a:cs typeface="Calibri" pitchFamily="34" charset="-120"/>
              </a:rPr>
              <a:t>A simple pipeline — each stage is independent and testable.</a:t>
            </a:r>
            <a:endParaRPr lang="en-US" sz="1500" dirty="0"/>
          </a:p>
        </p:txBody>
      </p:sp>
      <p:sp>
        <p:nvSpPr>
          <p:cNvPr id="4" name="Shape 2"/>
          <p:cNvSpPr/>
          <p:nvPr/>
        </p:nvSpPr>
        <p:spPr>
          <a:xfrm>
            <a:off x="548640" y="1737360"/>
            <a:ext cx="2286000" cy="4023360"/>
          </a:xfrm>
          <a:prstGeom prst="roundRect">
            <a:avLst>
              <a:gd name="adj" fmla="val 3600"/>
            </a:avLst>
          </a:prstGeom>
          <a:solidFill>
            <a:srgbClr val="F1F5F9"/>
          </a:solidFill>
          <a:ln/>
          <a:effectLst>
            <a:outerShdw sx="100000" sy="100000" kx="0" ky="0" algn="bl" rotWithShape="0" blurRad="101600" dist="38100" dir="5400000">
              <a:srgbClr val="9AA7B4">
                <a:alpha val="35000"/>
              </a:srgbClr>
            </a:outerShdw>
          </a:effectLst>
        </p:spPr>
      </p:sp>
      <p:sp>
        <p:nvSpPr>
          <p:cNvPr id="5" name="Text 3"/>
          <p:cNvSpPr txBox="1"/>
          <p:nvPr/>
        </p:nvSpPr>
        <p:spPr>
          <a:xfrm>
            <a:off x="548640" y="1874520"/>
            <a:ext cx="2286000" cy="365760"/>
          </a:xfrm>
          <a:prstGeom prst="rect">
            <a:avLst/>
          </a:prstGeom>
          <a:noFill/>
          <a:ln/>
        </p:spPr>
        <p:txBody>
          <a:bodyPr wrap="square" lIns="0" tIns="0" rIns="0" bIns="0" rtlCol="0" anchor="ctr"/>
          <a:lstStyle/>
          <a:p>
            <a:pPr algn="ctr" indent="0" marL="0">
              <a:buNone/>
            </a:pPr>
            <a:r>
              <a:rPr lang="en-US" sz="1400" b="1" dirty="0">
                <a:solidFill>
                  <a:srgbClr val="1B2733"/>
                </a:solidFill>
                <a:latin typeface="Calibri" pitchFamily="34" charset="0"/>
                <a:ea typeface="Calibri" pitchFamily="34" charset="-122"/>
                <a:cs typeface="Calibri" pitchFamily="34" charset="-120"/>
              </a:rPr>
              <a:t>Alert Sources</a:t>
            </a:r>
            <a:endParaRPr lang="en-US" sz="1400" dirty="0"/>
          </a:p>
        </p:txBody>
      </p:sp>
      <p:sp>
        <p:nvSpPr>
          <p:cNvPr id="6" name="Shape 4"/>
          <p:cNvSpPr/>
          <p:nvPr/>
        </p:nvSpPr>
        <p:spPr>
          <a:xfrm>
            <a:off x="777240" y="2331720"/>
            <a:ext cx="1828800" cy="658368"/>
          </a:xfrm>
          <a:prstGeom prst="roundRect">
            <a:avLst>
              <a:gd name="adj" fmla="val 12500"/>
            </a:avLst>
          </a:prstGeom>
          <a:solidFill>
            <a:srgbClr val="FFFFFF"/>
          </a:solidFill>
          <a:ln/>
          <a:effectLst>
            <a:outerShdw sx="100000" sy="100000" kx="0" ky="0" algn="bl" rotWithShape="0" blurRad="101600" dist="38100" dir="5400000">
              <a:srgbClr val="9AA7B4">
                <a:alpha val="35000"/>
              </a:srgbClr>
            </a:outerShdw>
          </a:effectLst>
        </p:spPr>
      </p:sp>
      <p:sp>
        <p:nvSpPr>
          <p:cNvPr id="7" name="Text 5"/>
          <p:cNvSpPr txBox="1"/>
          <p:nvPr/>
        </p:nvSpPr>
        <p:spPr>
          <a:xfrm>
            <a:off x="777240" y="2331720"/>
            <a:ext cx="1828800" cy="658368"/>
          </a:xfrm>
          <a:prstGeom prst="rect">
            <a:avLst/>
          </a:prstGeom>
          <a:noFill/>
          <a:ln/>
        </p:spPr>
        <p:txBody>
          <a:bodyPr wrap="square" lIns="0" tIns="0" rIns="0" bIns="0" rtlCol="0" anchor="ctr"/>
          <a:lstStyle/>
          <a:p>
            <a:pPr algn="ctr" indent="0" marL="0">
              <a:buNone/>
            </a:pPr>
            <a:r>
              <a:rPr lang="en-US" sz="1200" dirty="0">
                <a:solidFill>
                  <a:srgbClr val="1B2733"/>
                </a:solidFill>
                <a:latin typeface="Calibri" pitchFamily="34" charset="0"/>
                <a:ea typeface="Calibri" pitchFamily="34" charset="-122"/>
                <a:cs typeface="Calibri" pitchFamily="34" charset="-120"/>
              </a:rPr>
              <a:t>Wazuh (EDR/host)</a:t>
            </a:r>
            <a:endParaRPr lang="en-US" sz="1200" dirty="0"/>
          </a:p>
        </p:txBody>
      </p:sp>
      <p:sp>
        <p:nvSpPr>
          <p:cNvPr id="8" name="Shape 6"/>
          <p:cNvSpPr/>
          <p:nvPr/>
        </p:nvSpPr>
        <p:spPr>
          <a:xfrm>
            <a:off x="777240" y="3172968"/>
            <a:ext cx="1828800" cy="658368"/>
          </a:xfrm>
          <a:prstGeom prst="roundRect">
            <a:avLst>
              <a:gd name="adj" fmla="val 12500"/>
            </a:avLst>
          </a:prstGeom>
          <a:solidFill>
            <a:srgbClr val="FFFFFF"/>
          </a:solidFill>
          <a:ln/>
          <a:effectLst>
            <a:outerShdw sx="100000" sy="100000" kx="0" ky="0" algn="bl" rotWithShape="0" blurRad="101600" dist="38100" dir="5400000">
              <a:srgbClr val="9AA7B4">
                <a:alpha val="35000"/>
              </a:srgbClr>
            </a:outerShdw>
          </a:effectLst>
        </p:spPr>
      </p:sp>
      <p:sp>
        <p:nvSpPr>
          <p:cNvPr id="9" name="Text 7"/>
          <p:cNvSpPr txBox="1"/>
          <p:nvPr/>
        </p:nvSpPr>
        <p:spPr>
          <a:xfrm>
            <a:off x="777240" y="3172968"/>
            <a:ext cx="1828800" cy="658368"/>
          </a:xfrm>
          <a:prstGeom prst="rect">
            <a:avLst/>
          </a:prstGeom>
          <a:noFill/>
          <a:ln/>
        </p:spPr>
        <p:txBody>
          <a:bodyPr wrap="square" lIns="0" tIns="0" rIns="0" bIns="0" rtlCol="0" anchor="ctr"/>
          <a:lstStyle/>
          <a:p>
            <a:pPr algn="ctr" indent="0" marL="0">
              <a:buNone/>
            </a:pPr>
            <a:r>
              <a:rPr lang="en-US" sz="1200" dirty="0">
                <a:solidFill>
                  <a:srgbClr val="1B2733"/>
                </a:solidFill>
                <a:latin typeface="Calibri" pitchFamily="34" charset="0"/>
                <a:ea typeface="Calibri" pitchFamily="34" charset="-122"/>
                <a:cs typeface="Calibri" pitchFamily="34" charset="-120"/>
              </a:rPr>
              <a:t>Suricata (network)</a:t>
            </a:r>
            <a:endParaRPr lang="en-US" sz="1200" dirty="0"/>
          </a:p>
        </p:txBody>
      </p:sp>
      <p:sp>
        <p:nvSpPr>
          <p:cNvPr id="10" name="Shape 8"/>
          <p:cNvSpPr/>
          <p:nvPr/>
        </p:nvSpPr>
        <p:spPr>
          <a:xfrm>
            <a:off x="777240" y="4014216"/>
            <a:ext cx="1828800" cy="658368"/>
          </a:xfrm>
          <a:prstGeom prst="roundRect">
            <a:avLst>
              <a:gd name="adj" fmla="val 12500"/>
            </a:avLst>
          </a:prstGeom>
          <a:solidFill>
            <a:srgbClr val="FFFFFF"/>
          </a:solidFill>
          <a:ln/>
          <a:effectLst>
            <a:outerShdw sx="100000" sy="100000" kx="0" ky="0" algn="bl" rotWithShape="0" blurRad="101600" dist="38100" dir="5400000">
              <a:srgbClr val="9AA7B4">
                <a:alpha val="35000"/>
              </a:srgbClr>
            </a:outerShdw>
          </a:effectLst>
        </p:spPr>
      </p:sp>
      <p:sp>
        <p:nvSpPr>
          <p:cNvPr id="11" name="Text 9"/>
          <p:cNvSpPr txBox="1"/>
          <p:nvPr/>
        </p:nvSpPr>
        <p:spPr>
          <a:xfrm>
            <a:off x="777240" y="4014216"/>
            <a:ext cx="1828800" cy="658368"/>
          </a:xfrm>
          <a:prstGeom prst="rect">
            <a:avLst/>
          </a:prstGeom>
          <a:noFill/>
          <a:ln/>
        </p:spPr>
        <p:txBody>
          <a:bodyPr wrap="square" lIns="0" tIns="0" rIns="0" bIns="0" rtlCol="0" anchor="ctr"/>
          <a:lstStyle/>
          <a:p>
            <a:pPr algn="ctr" indent="0" marL="0">
              <a:buNone/>
            </a:pPr>
            <a:r>
              <a:rPr lang="en-US" sz="1200" dirty="0">
                <a:solidFill>
                  <a:srgbClr val="1B2733"/>
                </a:solidFill>
                <a:latin typeface="Calibri" pitchFamily="34" charset="0"/>
                <a:ea typeface="Calibri" pitchFamily="34" charset="-122"/>
                <a:cs typeface="Calibri" pitchFamily="34" charset="-120"/>
              </a:rPr>
              <a:t>Firewall / Email</a:t>
            </a:r>
            <a:endParaRPr lang="en-US" sz="1200" dirty="0"/>
          </a:p>
        </p:txBody>
      </p:sp>
      <p:sp>
        <p:nvSpPr>
          <p:cNvPr id="12" name="Shape 10"/>
          <p:cNvSpPr/>
          <p:nvPr/>
        </p:nvSpPr>
        <p:spPr>
          <a:xfrm>
            <a:off x="777240" y="4855464"/>
            <a:ext cx="1828800" cy="658368"/>
          </a:xfrm>
          <a:prstGeom prst="roundRect">
            <a:avLst>
              <a:gd name="adj" fmla="val 12500"/>
            </a:avLst>
          </a:prstGeom>
          <a:solidFill>
            <a:srgbClr val="FFFFFF"/>
          </a:solidFill>
          <a:ln/>
          <a:effectLst>
            <a:outerShdw sx="100000" sy="100000" kx="0" ky="0" algn="bl" rotWithShape="0" blurRad="101600" dist="38100" dir="5400000">
              <a:srgbClr val="9AA7B4">
                <a:alpha val="35000"/>
              </a:srgbClr>
            </a:outerShdw>
          </a:effectLst>
        </p:spPr>
      </p:sp>
      <p:sp>
        <p:nvSpPr>
          <p:cNvPr id="13" name="Text 11"/>
          <p:cNvSpPr txBox="1"/>
          <p:nvPr/>
        </p:nvSpPr>
        <p:spPr>
          <a:xfrm>
            <a:off x="777240" y="4855464"/>
            <a:ext cx="1828800" cy="658368"/>
          </a:xfrm>
          <a:prstGeom prst="rect">
            <a:avLst/>
          </a:prstGeom>
          <a:noFill/>
          <a:ln/>
        </p:spPr>
        <p:txBody>
          <a:bodyPr wrap="square" lIns="0" tIns="0" rIns="0" bIns="0" rtlCol="0" anchor="ctr"/>
          <a:lstStyle/>
          <a:p>
            <a:pPr algn="ctr" indent="0" marL="0">
              <a:buNone/>
            </a:pPr>
            <a:r>
              <a:rPr lang="en-US" sz="1200" dirty="0">
                <a:solidFill>
                  <a:srgbClr val="1B2733"/>
                </a:solidFill>
                <a:latin typeface="Calibri" pitchFamily="34" charset="0"/>
                <a:ea typeface="Calibri" pitchFamily="34" charset="-122"/>
                <a:cs typeface="Calibri" pitchFamily="34" charset="-120"/>
              </a:rPr>
              <a:t>REST API</a:t>
            </a:r>
            <a:endParaRPr lang="en-US" sz="1200" dirty="0"/>
          </a:p>
        </p:txBody>
      </p:sp>
      <p:sp>
        <p:nvSpPr>
          <p:cNvPr id="14" name="Text 12"/>
          <p:cNvSpPr txBox="1"/>
          <p:nvPr/>
        </p:nvSpPr>
        <p:spPr>
          <a:xfrm>
            <a:off x="2971800" y="3520440"/>
            <a:ext cx="365760" cy="457200"/>
          </a:xfrm>
          <a:prstGeom prst="rect">
            <a:avLst/>
          </a:prstGeom>
          <a:noFill/>
          <a:ln/>
        </p:spPr>
        <p:txBody>
          <a:bodyPr wrap="square" lIns="0" tIns="0" rIns="0" bIns="0" rtlCol="0" anchor="ctr"/>
          <a:lstStyle/>
          <a:p>
            <a:pPr algn="ctr" indent="0" marL="0">
              <a:buNone/>
            </a:pPr>
            <a:r>
              <a:rPr lang="en-US" sz="2600" b="1" dirty="0">
                <a:solidFill>
                  <a:srgbClr val="3B82F6"/>
                </a:solidFill>
                <a:latin typeface="Calibri" pitchFamily="34" charset="0"/>
                <a:ea typeface="Calibri" pitchFamily="34" charset="-122"/>
                <a:cs typeface="Calibri" pitchFamily="34" charset="-120"/>
              </a:rPr>
              <a:t>&gt;</a:t>
            </a:r>
            <a:endParaRPr lang="en-US" sz="2600" dirty="0"/>
          </a:p>
        </p:txBody>
      </p:sp>
      <p:sp>
        <p:nvSpPr>
          <p:cNvPr id="15" name="Shape 13"/>
          <p:cNvSpPr/>
          <p:nvPr/>
        </p:nvSpPr>
        <p:spPr>
          <a:xfrm>
            <a:off x="3429000" y="1737360"/>
            <a:ext cx="5120640" cy="4023360"/>
          </a:xfrm>
          <a:prstGeom prst="roundRect">
            <a:avLst>
              <a:gd name="adj" fmla="val 2045"/>
            </a:avLst>
          </a:prstGeom>
          <a:solidFill>
            <a:srgbClr val="16263A"/>
          </a:solidFill>
          <a:ln/>
          <a:effectLst>
            <a:outerShdw sx="100000" sy="100000" kx="0" ky="0" algn="bl" rotWithShape="0" blurRad="101600" dist="38100" dir="5400000">
              <a:srgbClr val="9AA7B4">
                <a:alpha val="35000"/>
              </a:srgbClr>
            </a:outerShdw>
          </a:effectLst>
        </p:spPr>
      </p:sp>
      <p:sp>
        <p:nvSpPr>
          <p:cNvPr id="16" name="Text 14"/>
          <p:cNvSpPr txBox="1"/>
          <p:nvPr/>
        </p:nvSpPr>
        <p:spPr>
          <a:xfrm>
            <a:off x="3429000" y="1874520"/>
            <a:ext cx="512064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TriageDesk Engine</a:t>
            </a:r>
            <a:endParaRPr lang="en-US" sz="1400" dirty="0"/>
          </a:p>
        </p:txBody>
      </p:sp>
      <p:sp>
        <p:nvSpPr>
          <p:cNvPr id="17" name="Shape 15"/>
          <p:cNvSpPr/>
          <p:nvPr/>
        </p:nvSpPr>
        <p:spPr>
          <a:xfrm>
            <a:off x="3657600" y="2377440"/>
            <a:ext cx="2286000" cy="914400"/>
          </a:xfrm>
          <a:prstGeom prst="roundRect">
            <a:avLst>
              <a:gd name="adj" fmla="val 9000"/>
            </a:avLst>
          </a:prstGeom>
          <a:solidFill>
            <a:srgbClr val="1E3350"/>
          </a:solidFill>
          <a:ln/>
          <a:effectLst>
            <a:outerShdw sx="100000" sy="100000" kx="0" ky="0" algn="bl" rotWithShape="0" blurRad="101600" dist="38100" dir="5400000">
              <a:srgbClr val="9AA7B4">
                <a:alpha val="35000"/>
              </a:srgbClr>
            </a:outerShdw>
          </a:effectLst>
        </p:spPr>
      </p:sp>
      <p:sp>
        <p:nvSpPr>
          <p:cNvPr id="18" name="Shape 16"/>
          <p:cNvSpPr/>
          <p:nvPr/>
        </p:nvSpPr>
        <p:spPr>
          <a:xfrm>
            <a:off x="3803904" y="2596896"/>
            <a:ext cx="475488" cy="475488"/>
          </a:xfrm>
          <a:prstGeom prst="ellipse">
            <a:avLst/>
          </a:prstGeom>
          <a:solidFill>
            <a:srgbClr val="3B82F6"/>
          </a:solidFill>
          <a:ln/>
        </p:spPr>
      </p:sp>
      <p:pic>
        <p:nvPicPr>
          <p:cNvPr id="19" name="Image 0" descr="preencoded.png">    </p:cNvPr>
          <p:cNvPicPr>
            <a:picLocks noChangeAspect="1"/>
          </p:cNvPicPr>
          <p:nvPr/>
        </p:nvPicPr>
        <p:blipFill>
          <a:blip r:embed="rId1"/>
          <a:stretch>
            <a:fillRect/>
          </a:stretch>
        </p:blipFill>
        <p:spPr>
          <a:xfrm>
            <a:off x="3922776" y="2715768"/>
            <a:ext cx="237744" cy="237744"/>
          </a:xfrm>
          <a:prstGeom prst="rect">
            <a:avLst/>
          </a:prstGeom>
        </p:spPr>
      </p:pic>
      <p:sp>
        <p:nvSpPr>
          <p:cNvPr id="20" name="Text 17"/>
          <p:cNvSpPr txBox="1"/>
          <p:nvPr/>
        </p:nvSpPr>
        <p:spPr>
          <a:xfrm>
            <a:off x="4370832" y="2377440"/>
            <a:ext cx="1508760" cy="9144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Normalize</a:t>
            </a:r>
            <a:endParaRPr lang="en-US" sz="1300" dirty="0"/>
          </a:p>
        </p:txBody>
      </p:sp>
      <p:sp>
        <p:nvSpPr>
          <p:cNvPr id="21" name="Shape 18"/>
          <p:cNvSpPr/>
          <p:nvPr/>
        </p:nvSpPr>
        <p:spPr>
          <a:xfrm>
            <a:off x="6172200" y="2377440"/>
            <a:ext cx="2286000" cy="914400"/>
          </a:xfrm>
          <a:prstGeom prst="roundRect">
            <a:avLst>
              <a:gd name="adj" fmla="val 9000"/>
            </a:avLst>
          </a:prstGeom>
          <a:solidFill>
            <a:srgbClr val="1E3350"/>
          </a:solidFill>
          <a:ln/>
          <a:effectLst>
            <a:outerShdw sx="100000" sy="100000" kx="0" ky="0" algn="bl" rotWithShape="0" blurRad="101600" dist="38100" dir="5400000">
              <a:srgbClr val="9AA7B4">
                <a:alpha val="35000"/>
              </a:srgbClr>
            </a:outerShdw>
          </a:effectLst>
        </p:spPr>
      </p:sp>
      <p:sp>
        <p:nvSpPr>
          <p:cNvPr id="22" name="Shape 19"/>
          <p:cNvSpPr/>
          <p:nvPr/>
        </p:nvSpPr>
        <p:spPr>
          <a:xfrm>
            <a:off x="6318504" y="2596896"/>
            <a:ext cx="475488" cy="475488"/>
          </a:xfrm>
          <a:prstGeom prst="ellipse">
            <a:avLst/>
          </a:prstGeom>
          <a:solidFill>
            <a:srgbClr val="3B82F6"/>
          </a:solidFill>
          <a:ln/>
        </p:spPr>
      </p:sp>
      <p:pic>
        <p:nvPicPr>
          <p:cNvPr id="23" name="Image 1" descr="preencoded.png">    </p:cNvPr>
          <p:cNvPicPr>
            <a:picLocks noChangeAspect="1"/>
          </p:cNvPicPr>
          <p:nvPr/>
        </p:nvPicPr>
        <p:blipFill>
          <a:blip r:embed="rId2"/>
          <a:stretch>
            <a:fillRect/>
          </a:stretch>
        </p:blipFill>
        <p:spPr>
          <a:xfrm>
            <a:off x="6437376" y="2715768"/>
            <a:ext cx="237744" cy="237744"/>
          </a:xfrm>
          <a:prstGeom prst="rect">
            <a:avLst/>
          </a:prstGeom>
        </p:spPr>
      </p:pic>
      <p:sp>
        <p:nvSpPr>
          <p:cNvPr id="24" name="Text 20"/>
          <p:cNvSpPr txBox="1"/>
          <p:nvPr/>
        </p:nvSpPr>
        <p:spPr>
          <a:xfrm>
            <a:off x="6885432" y="2377440"/>
            <a:ext cx="1508760" cy="9144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Enrich</a:t>
            </a:r>
            <a:endParaRPr lang="en-US" sz="1300" dirty="0"/>
          </a:p>
        </p:txBody>
      </p:sp>
      <p:sp>
        <p:nvSpPr>
          <p:cNvPr id="25" name="Shape 21"/>
          <p:cNvSpPr/>
          <p:nvPr/>
        </p:nvSpPr>
        <p:spPr>
          <a:xfrm>
            <a:off x="3657600" y="3456432"/>
            <a:ext cx="2286000" cy="914400"/>
          </a:xfrm>
          <a:prstGeom prst="roundRect">
            <a:avLst>
              <a:gd name="adj" fmla="val 9000"/>
            </a:avLst>
          </a:prstGeom>
          <a:solidFill>
            <a:srgbClr val="1E3350"/>
          </a:solidFill>
          <a:ln/>
          <a:effectLst>
            <a:outerShdw sx="100000" sy="100000" kx="0" ky="0" algn="bl" rotWithShape="0" blurRad="101600" dist="38100" dir="5400000">
              <a:srgbClr val="9AA7B4">
                <a:alpha val="35000"/>
              </a:srgbClr>
            </a:outerShdw>
          </a:effectLst>
        </p:spPr>
      </p:sp>
      <p:sp>
        <p:nvSpPr>
          <p:cNvPr id="26" name="Shape 22"/>
          <p:cNvSpPr/>
          <p:nvPr/>
        </p:nvSpPr>
        <p:spPr>
          <a:xfrm>
            <a:off x="3803904" y="3675888"/>
            <a:ext cx="475488" cy="475488"/>
          </a:xfrm>
          <a:prstGeom prst="ellipse">
            <a:avLst/>
          </a:prstGeom>
          <a:solidFill>
            <a:srgbClr val="3B82F6"/>
          </a:solidFill>
          <a:ln/>
        </p:spPr>
      </p:sp>
      <p:pic>
        <p:nvPicPr>
          <p:cNvPr id="27" name="Image 2" descr="preencoded.png">    </p:cNvPr>
          <p:cNvPicPr>
            <a:picLocks noChangeAspect="1"/>
          </p:cNvPicPr>
          <p:nvPr/>
        </p:nvPicPr>
        <p:blipFill>
          <a:blip r:embed="rId3"/>
          <a:stretch>
            <a:fillRect/>
          </a:stretch>
        </p:blipFill>
        <p:spPr>
          <a:xfrm>
            <a:off x="3922776" y="3794760"/>
            <a:ext cx="237744" cy="237744"/>
          </a:xfrm>
          <a:prstGeom prst="rect">
            <a:avLst/>
          </a:prstGeom>
        </p:spPr>
      </p:pic>
      <p:sp>
        <p:nvSpPr>
          <p:cNvPr id="28" name="Text 23"/>
          <p:cNvSpPr txBox="1"/>
          <p:nvPr/>
        </p:nvSpPr>
        <p:spPr>
          <a:xfrm>
            <a:off x="4370832" y="3456432"/>
            <a:ext cx="1508760" cy="9144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Score</a:t>
            </a:r>
            <a:endParaRPr lang="en-US" sz="1300" dirty="0"/>
          </a:p>
        </p:txBody>
      </p:sp>
      <p:sp>
        <p:nvSpPr>
          <p:cNvPr id="29" name="Shape 24"/>
          <p:cNvSpPr/>
          <p:nvPr/>
        </p:nvSpPr>
        <p:spPr>
          <a:xfrm>
            <a:off x="6172200" y="3456432"/>
            <a:ext cx="2286000" cy="914400"/>
          </a:xfrm>
          <a:prstGeom prst="roundRect">
            <a:avLst>
              <a:gd name="adj" fmla="val 9000"/>
            </a:avLst>
          </a:prstGeom>
          <a:solidFill>
            <a:srgbClr val="1E3350"/>
          </a:solidFill>
          <a:ln/>
          <a:effectLst>
            <a:outerShdw sx="100000" sy="100000" kx="0" ky="0" algn="bl" rotWithShape="0" blurRad="101600" dist="38100" dir="5400000">
              <a:srgbClr val="9AA7B4">
                <a:alpha val="35000"/>
              </a:srgbClr>
            </a:outerShdw>
          </a:effectLst>
        </p:spPr>
      </p:sp>
      <p:sp>
        <p:nvSpPr>
          <p:cNvPr id="30" name="Shape 25"/>
          <p:cNvSpPr/>
          <p:nvPr/>
        </p:nvSpPr>
        <p:spPr>
          <a:xfrm>
            <a:off x="6318504" y="3675888"/>
            <a:ext cx="475488" cy="475488"/>
          </a:xfrm>
          <a:prstGeom prst="ellipse">
            <a:avLst/>
          </a:prstGeom>
          <a:solidFill>
            <a:srgbClr val="3B82F6"/>
          </a:solidFill>
          <a:ln/>
        </p:spPr>
      </p:sp>
      <p:pic>
        <p:nvPicPr>
          <p:cNvPr id="31" name="Image 3" descr="preencoded.png">    </p:cNvPr>
          <p:cNvPicPr>
            <a:picLocks noChangeAspect="1"/>
          </p:cNvPicPr>
          <p:nvPr/>
        </p:nvPicPr>
        <p:blipFill>
          <a:blip r:embed="rId4"/>
          <a:stretch>
            <a:fillRect/>
          </a:stretch>
        </p:blipFill>
        <p:spPr>
          <a:xfrm>
            <a:off x="6437376" y="3794760"/>
            <a:ext cx="237744" cy="237744"/>
          </a:xfrm>
          <a:prstGeom prst="rect">
            <a:avLst/>
          </a:prstGeom>
        </p:spPr>
      </p:pic>
      <p:sp>
        <p:nvSpPr>
          <p:cNvPr id="32" name="Text 26"/>
          <p:cNvSpPr txBox="1"/>
          <p:nvPr/>
        </p:nvSpPr>
        <p:spPr>
          <a:xfrm>
            <a:off x="6885432" y="3456432"/>
            <a:ext cx="1508760" cy="9144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Correlate</a:t>
            </a:r>
            <a:endParaRPr lang="en-US" sz="1300" dirty="0"/>
          </a:p>
        </p:txBody>
      </p:sp>
      <p:sp>
        <p:nvSpPr>
          <p:cNvPr id="33" name="Shape 27"/>
          <p:cNvSpPr/>
          <p:nvPr/>
        </p:nvSpPr>
        <p:spPr>
          <a:xfrm>
            <a:off x="3657600" y="4535424"/>
            <a:ext cx="2286000" cy="914400"/>
          </a:xfrm>
          <a:prstGeom prst="roundRect">
            <a:avLst>
              <a:gd name="adj" fmla="val 9000"/>
            </a:avLst>
          </a:prstGeom>
          <a:solidFill>
            <a:srgbClr val="1E3350"/>
          </a:solidFill>
          <a:ln/>
          <a:effectLst>
            <a:outerShdw sx="100000" sy="100000" kx="0" ky="0" algn="bl" rotWithShape="0" blurRad="101600" dist="38100" dir="5400000">
              <a:srgbClr val="9AA7B4">
                <a:alpha val="35000"/>
              </a:srgbClr>
            </a:outerShdw>
          </a:effectLst>
        </p:spPr>
      </p:sp>
      <p:sp>
        <p:nvSpPr>
          <p:cNvPr id="34" name="Shape 28"/>
          <p:cNvSpPr/>
          <p:nvPr/>
        </p:nvSpPr>
        <p:spPr>
          <a:xfrm>
            <a:off x="3803904" y="4754880"/>
            <a:ext cx="475488" cy="475488"/>
          </a:xfrm>
          <a:prstGeom prst="ellipse">
            <a:avLst/>
          </a:prstGeom>
          <a:solidFill>
            <a:srgbClr val="3B82F6"/>
          </a:solidFill>
          <a:ln/>
        </p:spPr>
      </p:sp>
      <p:pic>
        <p:nvPicPr>
          <p:cNvPr id="35" name="Image 4" descr="preencoded.png">    </p:cNvPr>
          <p:cNvPicPr>
            <a:picLocks noChangeAspect="1"/>
          </p:cNvPicPr>
          <p:nvPr/>
        </p:nvPicPr>
        <p:blipFill>
          <a:blip r:embed="rId5"/>
          <a:stretch>
            <a:fillRect/>
          </a:stretch>
        </p:blipFill>
        <p:spPr>
          <a:xfrm>
            <a:off x="3922776" y="4873752"/>
            <a:ext cx="237744" cy="237744"/>
          </a:xfrm>
          <a:prstGeom prst="rect">
            <a:avLst/>
          </a:prstGeom>
        </p:spPr>
      </p:pic>
      <p:sp>
        <p:nvSpPr>
          <p:cNvPr id="36" name="Text 29"/>
          <p:cNvSpPr txBox="1"/>
          <p:nvPr/>
        </p:nvSpPr>
        <p:spPr>
          <a:xfrm>
            <a:off x="4370832" y="4535424"/>
            <a:ext cx="1508760" cy="9144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SLA engine</a:t>
            </a:r>
            <a:endParaRPr lang="en-US" sz="1300" dirty="0"/>
          </a:p>
        </p:txBody>
      </p:sp>
      <p:sp>
        <p:nvSpPr>
          <p:cNvPr id="37" name="Shape 30"/>
          <p:cNvSpPr/>
          <p:nvPr/>
        </p:nvSpPr>
        <p:spPr>
          <a:xfrm>
            <a:off x="6172200" y="4535424"/>
            <a:ext cx="2286000" cy="914400"/>
          </a:xfrm>
          <a:prstGeom prst="roundRect">
            <a:avLst>
              <a:gd name="adj" fmla="val 9000"/>
            </a:avLst>
          </a:prstGeom>
          <a:solidFill>
            <a:srgbClr val="1E3350"/>
          </a:solidFill>
          <a:ln/>
          <a:effectLst>
            <a:outerShdw sx="100000" sy="100000" kx="0" ky="0" algn="bl" rotWithShape="0" blurRad="101600" dist="38100" dir="5400000">
              <a:srgbClr val="9AA7B4">
                <a:alpha val="35000"/>
              </a:srgbClr>
            </a:outerShdw>
          </a:effectLst>
        </p:spPr>
      </p:sp>
      <p:sp>
        <p:nvSpPr>
          <p:cNvPr id="38" name="Shape 31"/>
          <p:cNvSpPr/>
          <p:nvPr/>
        </p:nvSpPr>
        <p:spPr>
          <a:xfrm>
            <a:off x="6318504" y="4754880"/>
            <a:ext cx="475488" cy="475488"/>
          </a:xfrm>
          <a:prstGeom prst="ellipse">
            <a:avLst/>
          </a:prstGeom>
          <a:solidFill>
            <a:srgbClr val="3B82F6"/>
          </a:solidFill>
          <a:ln/>
        </p:spPr>
      </p:sp>
      <p:pic>
        <p:nvPicPr>
          <p:cNvPr id="39" name="Image 5" descr="preencoded.png">    </p:cNvPr>
          <p:cNvPicPr>
            <a:picLocks noChangeAspect="1"/>
          </p:cNvPicPr>
          <p:nvPr/>
        </p:nvPicPr>
        <p:blipFill>
          <a:blip r:embed="rId6"/>
          <a:stretch>
            <a:fillRect/>
          </a:stretch>
        </p:blipFill>
        <p:spPr>
          <a:xfrm>
            <a:off x="6437376" y="4873752"/>
            <a:ext cx="237744" cy="237744"/>
          </a:xfrm>
          <a:prstGeom prst="rect">
            <a:avLst/>
          </a:prstGeom>
        </p:spPr>
      </p:pic>
      <p:sp>
        <p:nvSpPr>
          <p:cNvPr id="40" name="Text 32"/>
          <p:cNvSpPr txBox="1"/>
          <p:nvPr/>
        </p:nvSpPr>
        <p:spPr>
          <a:xfrm>
            <a:off x="6885432" y="4535424"/>
            <a:ext cx="1508760" cy="9144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Workflow + Audit</a:t>
            </a:r>
            <a:endParaRPr lang="en-US" sz="1300" dirty="0"/>
          </a:p>
        </p:txBody>
      </p:sp>
      <p:sp>
        <p:nvSpPr>
          <p:cNvPr id="41" name="Text 33"/>
          <p:cNvSpPr txBox="1"/>
          <p:nvPr/>
        </p:nvSpPr>
        <p:spPr>
          <a:xfrm>
            <a:off x="8595360" y="3520440"/>
            <a:ext cx="365760" cy="457200"/>
          </a:xfrm>
          <a:prstGeom prst="rect">
            <a:avLst/>
          </a:prstGeom>
          <a:noFill/>
          <a:ln/>
        </p:spPr>
        <p:txBody>
          <a:bodyPr wrap="square" lIns="0" tIns="0" rIns="0" bIns="0" rtlCol="0" anchor="ctr"/>
          <a:lstStyle/>
          <a:p>
            <a:pPr algn="ctr" indent="0" marL="0">
              <a:buNone/>
            </a:pPr>
            <a:r>
              <a:rPr lang="en-US" sz="2600" b="1" dirty="0">
                <a:solidFill>
                  <a:srgbClr val="3B82F6"/>
                </a:solidFill>
                <a:latin typeface="Calibri" pitchFamily="34" charset="0"/>
                <a:ea typeface="Calibri" pitchFamily="34" charset="-122"/>
                <a:cs typeface="Calibri" pitchFamily="34" charset="-120"/>
              </a:rPr>
              <a:t>&gt;</a:t>
            </a:r>
            <a:endParaRPr lang="en-US" sz="2600" dirty="0"/>
          </a:p>
        </p:txBody>
      </p:sp>
      <p:sp>
        <p:nvSpPr>
          <p:cNvPr id="42" name="Shape 34"/>
          <p:cNvSpPr/>
          <p:nvPr/>
        </p:nvSpPr>
        <p:spPr>
          <a:xfrm>
            <a:off x="9052560" y="1737360"/>
            <a:ext cx="2587752" cy="4023360"/>
          </a:xfrm>
          <a:prstGeom prst="roundRect">
            <a:avLst>
              <a:gd name="adj" fmla="val 3180"/>
            </a:avLst>
          </a:prstGeom>
          <a:solidFill>
            <a:srgbClr val="F1F5F9"/>
          </a:solidFill>
          <a:ln/>
          <a:effectLst>
            <a:outerShdw sx="100000" sy="100000" kx="0" ky="0" algn="bl" rotWithShape="0" blurRad="101600" dist="38100" dir="5400000">
              <a:srgbClr val="9AA7B4">
                <a:alpha val="35000"/>
              </a:srgbClr>
            </a:outerShdw>
          </a:effectLst>
        </p:spPr>
      </p:sp>
      <p:sp>
        <p:nvSpPr>
          <p:cNvPr id="43" name="Text 35"/>
          <p:cNvSpPr txBox="1"/>
          <p:nvPr/>
        </p:nvSpPr>
        <p:spPr>
          <a:xfrm>
            <a:off x="9052560" y="1874520"/>
            <a:ext cx="2587752" cy="365760"/>
          </a:xfrm>
          <a:prstGeom prst="rect">
            <a:avLst/>
          </a:prstGeom>
          <a:noFill/>
          <a:ln/>
        </p:spPr>
        <p:txBody>
          <a:bodyPr wrap="square" lIns="0" tIns="0" rIns="0" bIns="0" rtlCol="0" anchor="ctr"/>
          <a:lstStyle/>
          <a:p>
            <a:pPr algn="ctr" indent="0" marL="0">
              <a:buNone/>
            </a:pPr>
            <a:r>
              <a:rPr lang="en-US" sz="1400" b="1" dirty="0">
                <a:solidFill>
                  <a:srgbClr val="1B2733"/>
                </a:solidFill>
                <a:latin typeface="Calibri" pitchFamily="34" charset="0"/>
                <a:ea typeface="Calibri" pitchFamily="34" charset="-122"/>
                <a:cs typeface="Calibri" pitchFamily="34" charset="-120"/>
              </a:rPr>
              <a:t>Analyst-facing</a:t>
            </a:r>
            <a:endParaRPr lang="en-US" sz="1400" dirty="0"/>
          </a:p>
        </p:txBody>
      </p:sp>
      <p:sp>
        <p:nvSpPr>
          <p:cNvPr id="44" name="Shape 36"/>
          <p:cNvSpPr/>
          <p:nvPr/>
        </p:nvSpPr>
        <p:spPr>
          <a:xfrm>
            <a:off x="9829800" y="2468880"/>
            <a:ext cx="1005840" cy="1005840"/>
          </a:xfrm>
          <a:prstGeom prst="ellipse">
            <a:avLst/>
          </a:prstGeom>
          <a:solidFill>
            <a:srgbClr val="3B82F6"/>
          </a:solidFill>
          <a:ln/>
        </p:spPr>
      </p:sp>
      <p:pic>
        <p:nvPicPr>
          <p:cNvPr id="45" name="Image 6" descr="preencoded.png">    </p:cNvPr>
          <p:cNvPicPr>
            <a:picLocks noChangeAspect="1"/>
          </p:cNvPicPr>
          <p:nvPr/>
        </p:nvPicPr>
        <p:blipFill>
          <a:blip r:embed="rId7"/>
          <a:stretch>
            <a:fillRect/>
          </a:stretch>
        </p:blipFill>
        <p:spPr>
          <a:xfrm>
            <a:off x="10081260" y="2720340"/>
            <a:ext cx="502920" cy="502920"/>
          </a:xfrm>
          <a:prstGeom prst="rect">
            <a:avLst/>
          </a:prstGeom>
        </p:spPr>
      </p:pic>
      <p:sp>
        <p:nvSpPr>
          <p:cNvPr id="46" name="Text 37"/>
          <p:cNvSpPr txBox="1"/>
          <p:nvPr/>
        </p:nvSpPr>
        <p:spPr>
          <a:xfrm>
            <a:off x="9052560" y="3566160"/>
            <a:ext cx="2587752" cy="365760"/>
          </a:xfrm>
          <a:prstGeom prst="rect">
            <a:avLst/>
          </a:prstGeom>
          <a:noFill/>
          <a:ln/>
        </p:spPr>
        <p:txBody>
          <a:bodyPr wrap="square" lIns="0" tIns="0" rIns="0" bIns="0" rtlCol="0" anchor="ctr"/>
          <a:lstStyle/>
          <a:p>
            <a:pPr algn="ctr" indent="0" marL="0">
              <a:buNone/>
            </a:pPr>
            <a:r>
              <a:rPr lang="en-US" sz="1300" b="1" dirty="0">
                <a:solidFill>
                  <a:srgbClr val="1B2733"/>
                </a:solidFill>
                <a:latin typeface="Calibri" pitchFamily="34" charset="0"/>
                <a:ea typeface="Calibri" pitchFamily="34" charset="-122"/>
                <a:cs typeface="Calibri" pitchFamily="34" charset="-120"/>
              </a:rPr>
              <a:t>Web Dashboard</a:t>
            </a:r>
            <a:endParaRPr lang="en-US" sz="1300" dirty="0"/>
          </a:p>
        </p:txBody>
      </p:sp>
      <p:sp>
        <p:nvSpPr>
          <p:cNvPr id="47" name="Shape 38"/>
          <p:cNvSpPr/>
          <p:nvPr/>
        </p:nvSpPr>
        <p:spPr>
          <a:xfrm>
            <a:off x="9829800" y="4114800"/>
            <a:ext cx="1005840" cy="1005840"/>
          </a:xfrm>
          <a:prstGeom prst="ellipse">
            <a:avLst/>
          </a:prstGeom>
          <a:solidFill>
            <a:srgbClr val="16263A"/>
          </a:solidFill>
          <a:ln/>
        </p:spPr>
      </p:sp>
      <p:pic>
        <p:nvPicPr>
          <p:cNvPr id="48" name="Image 7" descr="preencoded.png">    </p:cNvPr>
          <p:cNvPicPr>
            <a:picLocks noChangeAspect="1"/>
          </p:cNvPicPr>
          <p:nvPr/>
        </p:nvPicPr>
        <p:blipFill>
          <a:blip r:embed="rId8"/>
          <a:stretch>
            <a:fillRect/>
          </a:stretch>
        </p:blipFill>
        <p:spPr>
          <a:xfrm>
            <a:off x="10081260" y="4366260"/>
            <a:ext cx="502920" cy="502920"/>
          </a:xfrm>
          <a:prstGeom prst="rect">
            <a:avLst/>
          </a:prstGeom>
        </p:spPr>
      </p:pic>
      <p:sp>
        <p:nvSpPr>
          <p:cNvPr id="49" name="Text 39"/>
          <p:cNvSpPr txBox="1"/>
          <p:nvPr/>
        </p:nvSpPr>
        <p:spPr>
          <a:xfrm>
            <a:off x="9052560" y="5212080"/>
            <a:ext cx="2587752" cy="457200"/>
          </a:xfrm>
          <a:prstGeom prst="rect">
            <a:avLst/>
          </a:prstGeom>
          <a:noFill/>
          <a:ln/>
        </p:spPr>
        <p:txBody>
          <a:bodyPr wrap="square" lIns="0" tIns="0" rIns="0" bIns="0" rtlCol="0" anchor="ctr"/>
          <a:lstStyle/>
          <a:p>
            <a:pPr algn="ctr" indent="0" marL="0">
              <a:buNone/>
            </a:pPr>
            <a:r>
              <a:rPr lang="en-US" sz="1250" dirty="0">
                <a:solidFill>
                  <a:srgbClr val="5B6B7B"/>
                </a:solidFill>
                <a:latin typeface="Calibri" pitchFamily="34" charset="0"/>
                <a:ea typeface="Calibri" pitchFamily="34" charset="-122"/>
                <a:cs typeface="Calibri" pitchFamily="34" charset="-120"/>
              </a:rPr>
              <a:t>SQLite (history &amp; audit)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algn="l" indent="0" marL="0">
              <a:buNone/>
            </a:pPr>
            <a:r>
              <a:rPr lang="en-US" sz="3000" b="1" dirty="0">
                <a:solidFill>
                  <a:srgbClr val="16263A"/>
                </a:solidFill>
                <a:latin typeface="Calibri" pitchFamily="34" charset="0"/>
                <a:ea typeface="Calibri" pitchFamily="34" charset="-122"/>
                <a:cs typeface="Calibri" pitchFamily="34" charset="-120"/>
              </a:rPr>
              <a:t>Enrichment: From Raw Alert to Decision</a:t>
            </a:r>
            <a:endParaRPr lang="en-US" sz="3000" dirty="0"/>
          </a:p>
        </p:txBody>
      </p:sp>
      <p:sp>
        <p:nvSpPr>
          <p:cNvPr id="3" name="Text 1"/>
          <p:cNvSpPr txBox="1"/>
          <p:nvPr/>
        </p:nvSpPr>
        <p:spPr>
          <a:xfrm>
            <a:off x="548640" y="969264"/>
            <a:ext cx="11091672" cy="365760"/>
          </a:xfrm>
          <a:prstGeom prst="rect">
            <a:avLst/>
          </a:prstGeom>
          <a:noFill/>
          <a:ln/>
        </p:spPr>
        <p:txBody>
          <a:bodyPr wrap="square" lIns="0" tIns="0" rIns="0" bIns="0" rtlCol="0" anchor="ctr"/>
          <a:lstStyle/>
          <a:p>
            <a:pPr algn="l" indent="0" marL="0">
              <a:buNone/>
            </a:pPr>
            <a:r>
              <a:rPr lang="en-US" sz="1500" dirty="0">
                <a:solidFill>
                  <a:srgbClr val="5B6B7B"/>
                </a:solidFill>
                <a:latin typeface="Calibri" pitchFamily="34" charset="0"/>
                <a:ea typeface="Calibri" pitchFamily="34" charset="-122"/>
                <a:cs typeface="Calibri" pitchFamily="34" charset="-120"/>
              </a:rPr>
              <a:t>The system answers the questions an analyst would otherwise look up by hand.</a:t>
            </a:r>
            <a:endParaRPr lang="en-US" sz="1500" dirty="0"/>
          </a:p>
        </p:txBody>
      </p:sp>
      <p:sp>
        <p:nvSpPr>
          <p:cNvPr id="4" name="Shape 2"/>
          <p:cNvSpPr/>
          <p:nvPr/>
        </p:nvSpPr>
        <p:spPr>
          <a:xfrm>
            <a:off x="548640" y="1737360"/>
            <a:ext cx="4937760" cy="1828800"/>
          </a:xfrm>
          <a:prstGeom prst="roundRect">
            <a:avLst>
              <a:gd name="adj" fmla="val 4500"/>
            </a:avLst>
          </a:prstGeom>
          <a:solidFill>
            <a:srgbClr val="F1F5F9"/>
          </a:solidFill>
          <a:ln/>
          <a:effectLst>
            <a:outerShdw sx="100000" sy="100000" kx="0" ky="0" algn="bl" rotWithShape="0" blurRad="101600" dist="38100" dir="5400000">
              <a:srgbClr val="9AA7B4">
                <a:alpha val="35000"/>
              </a:srgbClr>
            </a:outerShdw>
          </a:effectLst>
        </p:spPr>
      </p:sp>
      <p:sp>
        <p:nvSpPr>
          <p:cNvPr id="5" name="Text 3"/>
          <p:cNvSpPr txBox="1"/>
          <p:nvPr/>
        </p:nvSpPr>
        <p:spPr>
          <a:xfrm>
            <a:off x="822960" y="1874520"/>
            <a:ext cx="3657600" cy="320040"/>
          </a:xfrm>
          <a:prstGeom prst="rect">
            <a:avLst/>
          </a:prstGeom>
          <a:noFill/>
          <a:ln/>
        </p:spPr>
        <p:txBody>
          <a:bodyPr wrap="square" lIns="0" tIns="0" rIns="0" bIns="0" rtlCol="0" anchor="ctr"/>
          <a:lstStyle/>
          <a:p>
            <a:pPr indent="0" marL="0">
              <a:buNone/>
            </a:pPr>
            <a:r>
              <a:rPr lang="en-US" sz="1200" b="1" spc="200" kern="0" dirty="0">
                <a:solidFill>
                  <a:srgbClr val="5B6B7B"/>
                </a:solidFill>
                <a:latin typeface="Calibri" pitchFamily="34" charset="0"/>
                <a:ea typeface="Calibri" pitchFamily="34" charset="-122"/>
                <a:cs typeface="Calibri" pitchFamily="34" charset="-120"/>
              </a:rPr>
              <a:t>RAW ALERT</a:t>
            </a:r>
            <a:endParaRPr lang="en-US" sz="1200" dirty="0"/>
          </a:p>
        </p:txBody>
      </p:sp>
      <p:sp>
        <p:nvSpPr>
          <p:cNvPr id="6" name="Text 4"/>
          <p:cNvSpPr txBox="1"/>
          <p:nvPr/>
        </p:nvSpPr>
        <p:spPr>
          <a:xfrm>
            <a:off x="822960" y="2240280"/>
            <a:ext cx="4389120" cy="457200"/>
          </a:xfrm>
          <a:prstGeom prst="rect">
            <a:avLst/>
          </a:prstGeom>
          <a:noFill/>
          <a:ln/>
        </p:spPr>
        <p:txBody>
          <a:bodyPr wrap="square" lIns="0" tIns="0" rIns="0" bIns="0" rtlCol="0" anchor="ctr"/>
          <a:lstStyle/>
          <a:p>
            <a:pPr indent="0" marL="0">
              <a:buNone/>
            </a:pPr>
            <a:r>
              <a:rPr lang="en-US" sz="1300" dirty="0">
                <a:solidFill>
                  <a:srgbClr val="1B2733"/>
                </a:solidFill>
                <a:latin typeface="Consolas" pitchFamily="34" charset="0"/>
                <a:ea typeface="Consolas" pitchFamily="34" charset="-122"/>
                <a:cs typeface="Consolas" pitchFamily="34" charset="-120"/>
              </a:rPr>
              <a:t>Connection from 45.146.164.110 to 10.0.10.5</a:t>
            </a:r>
            <a:endParaRPr lang="en-US" sz="1300" dirty="0"/>
          </a:p>
        </p:txBody>
      </p:sp>
      <p:sp>
        <p:nvSpPr>
          <p:cNvPr id="7" name="Text 5"/>
          <p:cNvSpPr txBox="1"/>
          <p:nvPr/>
        </p:nvSpPr>
        <p:spPr>
          <a:xfrm>
            <a:off x="822960" y="2788920"/>
            <a:ext cx="4389120" cy="548640"/>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 who is that? does it matter?</a:t>
            </a:r>
            <a:endParaRPr lang="en-US" sz="1300" dirty="0"/>
          </a:p>
        </p:txBody>
      </p:sp>
      <p:sp>
        <p:nvSpPr>
          <p:cNvPr id="8" name="Text 6"/>
          <p:cNvSpPr txBox="1"/>
          <p:nvPr/>
        </p:nvSpPr>
        <p:spPr>
          <a:xfrm>
            <a:off x="2011680" y="3611880"/>
            <a:ext cx="2011680" cy="365760"/>
          </a:xfrm>
          <a:prstGeom prst="rect">
            <a:avLst/>
          </a:prstGeom>
          <a:noFill/>
          <a:ln/>
        </p:spPr>
        <p:txBody>
          <a:bodyPr wrap="square" lIns="0" tIns="0" rIns="0" bIns="0" rtlCol="0" anchor="ctr"/>
          <a:lstStyle/>
          <a:p>
            <a:pPr algn="ctr" indent="0" marL="0">
              <a:buNone/>
            </a:pPr>
            <a:r>
              <a:rPr lang="en-US" sz="1300" b="1" dirty="0">
                <a:solidFill>
                  <a:srgbClr val="3B82F6"/>
                </a:solidFill>
                <a:latin typeface="Calibri" pitchFamily="34" charset="0"/>
                <a:ea typeface="Calibri" pitchFamily="34" charset="-122"/>
                <a:cs typeface="Calibri" pitchFamily="34" charset="-120"/>
              </a:rPr>
              <a:t>▼  enrich</a:t>
            </a:r>
            <a:endParaRPr lang="en-US" sz="1300" dirty="0"/>
          </a:p>
        </p:txBody>
      </p:sp>
      <p:sp>
        <p:nvSpPr>
          <p:cNvPr id="9" name="Shape 7"/>
          <p:cNvSpPr/>
          <p:nvPr/>
        </p:nvSpPr>
        <p:spPr>
          <a:xfrm>
            <a:off x="548640" y="4069080"/>
            <a:ext cx="4937760" cy="2194560"/>
          </a:xfrm>
          <a:prstGeom prst="roundRect">
            <a:avLst>
              <a:gd name="adj" fmla="val 3750"/>
            </a:avLst>
          </a:prstGeom>
          <a:solidFill>
            <a:srgbClr val="16263A"/>
          </a:solidFill>
          <a:ln/>
          <a:effectLst>
            <a:outerShdw sx="100000" sy="100000" kx="0" ky="0" algn="bl" rotWithShape="0" blurRad="101600" dist="38100" dir="5400000">
              <a:srgbClr val="9AA7B4">
                <a:alpha val="35000"/>
              </a:srgbClr>
            </a:outerShdw>
          </a:effectLst>
        </p:spPr>
      </p:sp>
      <p:sp>
        <p:nvSpPr>
          <p:cNvPr id="10" name="Text 8"/>
          <p:cNvSpPr txBox="1"/>
          <p:nvPr/>
        </p:nvSpPr>
        <p:spPr>
          <a:xfrm>
            <a:off x="822960" y="4206240"/>
            <a:ext cx="3657600" cy="320040"/>
          </a:xfrm>
          <a:prstGeom prst="rect">
            <a:avLst/>
          </a:prstGeom>
          <a:noFill/>
          <a:ln/>
        </p:spPr>
        <p:txBody>
          <a:bodyPr wrap="square" lIns="0" tIns="0" rIns="0" bIns="0" rtlCol="0" anchor="ctr"/>
          <a:lstStyle/>
          <a:p>
            <a:pPr indent="0" marL="0">
              <a:buNone/>
            </a:pPr>
            <a:r>
              <a:rPr lang="en-US" sz="1200" b="1" spc="200" kern="0" dirty="0">
                <a:solidFill>
                  <a:srgbClr val="7FA8D8"/>
                </a:solidFill>
                <a:latin typeface="Calibri" pitchFamily="34" charset="0"/>
                <a:ea typeface="Calibri" pitchFamily="34" charset="-122"/>
                <a:cs typeface="Calibri" pitchFamily="34" charset="-120"/>
              </a:rPr>
              <a:t>ENRICHED</a:t>
            </a:r>
            <a:endParaRPr lang="en-US" sz="1200" dirty="0"/>
          </a:p>
        </p:txBody>
      </p:sp>
      <p:sp>
        <p:nvSpPr>
          <p:cNvPr id="11" name="Shape 9"/>
          <p:cNvSpPr/>
          <p:nvPr/>
        </p:nvSpPr>
        <p:spPr>
          <a:xfrm>
            <a:off x="804672" y="4617720"/>
            <a:ext cx="384048" cy="384048"/>
          </a:xfrm>
          <a:prstGeom prst="ellipse">
            <a:avLst/>
          </a:prstGeom>
          <a:solidFill>
            <a:srgbClr val="E5484D"/>
          </a:solidFill>
          <a:ln/>
        </p:spPr>
      </p:sp>
      <p:pic>
        <p:nvPicPr>
          <p:cNvPr id="12" name="Image 0" descr="preencoded.png">    </p:cNvPr>
          <p:cNvPicPr>
            <a:picLocks noChangeAspect="1"/>
          </p:cNvPicPr>
          <p:nvPr/>
        </p:nvPicPr>
        <p:blipFill>
          <a:blip r:embed="rId1"/>
          <a:stretch>
            <a:fillRect/>
          </a:stretch>
        </p:blipFill>
        <p:spPr>
          <a:xfrm>
            <a:off x="900684" y="4713732"/>
            <a:ext cx="192024" cy="192024"/>
          </a:xfrm>
          <a:prstGeom prst="rect">
            <a:avLst/>
          </a:prstGeom>
        </p:spPr>
      </p:pic>
      <p:sp>
        <p:nvSpPr>
          <p:cNvPr id="13" name="Text 10"/>
          <p:cNvSpPr txBox="1"/>
          <p:nvPr/>
        </p:nvSpPr>
        <p:spPr>
          <a:xfrm>
            <a:off x="1325880" y="4581144"/>
            <a:ext cx="4023360" cy="457200"/>
          </a:xfrm>
          <a:prstGeom prst="rect">
            <a:avLst/>
          </a:prstGeom>
          <a:noFill/>
          <a:ln/>
        </p:spPr>
        <p:txBody>
          <a:bodyPr wrap="square" lIns="0" tIns="0" rIns="0" bIns="0" rtlCol="0" anchor="ctr"/>
          <a:lstStyle/>
          <a:p>
            <a:pPr indent="0" marL="0">
              <a:buNone/>
            </a:pPr>
            <a:r>
              <a:rPr lang="en-US" sz="1250" dirty="0">
                <a:solidFill>
                  <a:srgbClr val="E3ECF7"/>
                </a:solidFill>
                <a:latin typeface="Calibri" pitchFamily="34" charset="0"/>
                <a:ea typeface="Calibri" pitchFamily="34" charset="-122"/>
                <a:cs typeface="Calibri" pitchFamily="34" charset="-120"/>
              </a:rPr>
              <a:t>Source on threat feed: C2 (95%)</a:t>
            </a:r>
            <a:endParaRPr lang="en-US" sz="1250" dirty="0"/>
          </a:p>
        </p:txBody>
      </p:sp>
      <p:sp>
        <p:nvSpPr>
          <p:cNvPr id="14" name="Shape 11"/>
          <p:cNvSpPr/>
          <p:nvPr/>
        </p:nvSpPr>
        <p:spPr>
          <a:xfrm>
            <a:off x="804672" y="5074920"/>
            <a:ext cx="384048" cy="384048"/>
          </a:xfrm>
          <a:prstGeom prst="ellipse">
            <a:avLst/>
          </a:prstGeom>
          <a:solidFill>
            <a:srgbClr val="E8863C"/>
          </a:solidFill>
          <a:ln/>
        </p:spPr>
      </p:sp>
      <p:pic>
        <p:nvPicPr>
          <p:cNvPr id="15" name="Image 1" descr="preencoded.png">    </p:cNvPr>
          <p:cNvPicPr>
            <a:picLocks noChangeAspect="1"/>
          </p:cNvPicPr>
          <p:nvPr/>
        </p:nvPicPr>
        <p:blipFill>
          <a:blip r:embed="rId2"/>
          <a:stretch>
            <a:fillRect/>
          </a:stretch>
        </p:blipFill>
        <p:spPr>
          <a:xfrm>
            <a:off x="900684" y="5170932"/>
            <a:ext cx="192024" cy="192024"/>
          </a:xfrm>
          <a:prstGeom prst="rect">
            <a:avLst/>
          </a:prstGeom>
        </p:spPr>
      </p:pic>
      <p:sp>
        <p:nvSpPr>
          <p:cNvPr id="16" name="Text 12"/>
          <p:cNvSpPr txBox="1"/>
          <p:nvPr/>
        </p:nvSpPr>
        <p:spPr>
          <a:xfrm>
            <a:off x="1325880" y="5038344"/>
            <a:ext cx="4023360" cy="457200"/>
          </a:xfrm>
          <a:prstGeom prst="rect">
            <a:avLst/>
          </a:prstGeom>
          <a:noFill/>
          <a:ln/>
        </p:spPr>
        <p:txBody>
          <a:bodyPr wrap="square" lIns="0" tIns="0" rIns="0" bIns="0" rtlCol="0" anchor="ctr"/>
          <a:lstStyle/>
          <a:p>
            <a:pPr indent="0" marL="0">
              <a:buNone/>
            </a:pPr>
            <a:r>
              <a:rPr lang="en-US" sz="1250" dirty="0">
                <a:solidFill>
                  <a:srgbClr val="E3ECF7"/>
                </a:solidFill>
                <a:latin typeface="Calibri" pitchFamily="34" charset="0"/>
                <a:ea typeface="Calibri" pitchFamily="34" charset="-122"/>
                <a:cs typeface="Calibri" pitchFamily="34" charset="-120"/>
              </a:rPr>
              <a:t>Target = PAYROLL-DB (crown jewel)</a:t>
            </a:r>
            <a:endParaRPr lang="en-US" sz="1250" dirty="0"/>
          </a:p>
        </p:txBody>
      </p:sp>
      <p:sp>
        <p:nvSpPr>
          <p:cNvPr id="17" name="Shape 13"/>
          <p:cNvSpPr/>
          <p:nvPr/>
        </p:nvSpPr>
        <p:spPr>
          <a:xfrm>
            <a:off x="804672" y="5532120"/>
            <a:ext cx="384048" cy="384048"/>
          </a:xfrm>
          <a:prstGeom prst="ellipse">
            <a:avLst/>
          </a:prstGeom>
          <a:solidFill>
            <a:srgbClr val="E0B64A"/>
          </a:solidFill>
          <a:ln/>
        </p:spPr>
      </p:sp>
      <p:pic>
        <p:nvPicPr>
          <p:cNvPr id="18" name="Image 2" descr="preencoded.png">    </p:cNvPr>
          <p:cNvPicPr>
            <a:picLocks noChangeAspect="1"/>
          </p:cNvPicPr>
          <p:nvPr/>
        </p:nvPicPr>
        <p:blipFill>
          <a:blip r:embed="rId3"/>
          <a:stretch>
            <a:fillRect/>
          </a:stretch>
        </p:blipFill>
        <p:spPr>
          <a:xfrm>
            <a:off x="900684" y="5628132"/>
            <a:ext cx="192024" cy="192024"/>
          </a:xfrm>
          <a:prstGeom prst="rect">
            <a:avLst/>
          </a:prstGeom>
        </p:spPr>
      </p:pic>
      <p:sp>
        <p:nvSpPr>
          <p:cNvPr id="19" name="Text 14"/>
          <p:cNvSpPr txBox="1"/>
          <p:nvPr/>
        </p:nvSpPr>
        <p:spPr>
          <a:xfrm>
            <a:off x="1325880" y="5495544"/>
            <a:ext cx="4023360" cy="457200"/>
          </a:xfrm>
          <a:prstGeom prst="rect">
            <a:avLst/>
          </a:prstGeom>
          <a:noFill/>
          <a:ln/>
        </p:spPr>
        <p:txBody>
          <a:bodyPr wrap="square" lIns="0" tIns="0" rIns="0" bIns="0" rtlCol="0" anchor="ctr"/>
          <a:lstStyle/>
          <a:p>
            <a:pPr indent="0" marL="0">
              <a:buNone/>
            </a:pPr>
            <a:r>
              <a:rPr lang="en-US" sz="1250" dirty="0">
                <a:solidFill>
                  <a:srgbClr val="E3ECF7"/>
                </a:solidFill>
                <a:latin typeface="Calibri" pitchFamily="34" charset="0"/>
                <a:ea typeface="Calibri" pitchFamily="34" charset="-122"/>
                <a:cs typeface="Calibri" pitchFamily="34" charset="-120"/>
              </a:rPr>
              <a:t>External source, hitting internal asset</a:t>
            </a:r>
            <a:endParaRPr lang="en-US" sz="1250" dirty="0"/>
          </a:p>
        </p:txBody>
      </p:sp>
      <p:sp>
        <p:nvSpPr>
          <p:cNvPr id="20" name="Shape 15"/>
          <p:cNvSpPr/>
          <p:nvPr/>
        </p:nvSpPr>
        <p:spPr>
          <a:xfrm>
            <a:off x="6126480" y="1737360"/>
            <a:ext cx="5513832" cy="4526280"/>
          </a:xfrm>
          <a:prstGeom prst="roundRect">
            <a:avLst>
              <a:gd name="adj" fmla="val 1818"/>
            </a:avLst>
          </a:prstGeom>
          <a:solidFill>
            <a:srgbClr val="F1F5F9"/>
          </a:solidFill>
          <a:ln/>
          <a:effectLst>
            <a:outerShdw sx="100000" sy="100000" kx="0" ky="0" algn="bl" rotWithShape="0" blurRad="101600" dist="38100" dir="5400000">
              <a:srgbClr val="9AA7B4">
                <a:alpha val="35000"/>
              </a:srgbClr>
            </a:outerShdw>
          </a:effectLst>
        </p:spPr>
      </p:sp>
      <p:sp>
        <p:nvSpPr>
          <p:cNvPr id="21" name="Text 16"/>
          <p:cNvSpPr txBox="1"/>
          <p:nvPr/>
        </p:nvSpPr>
        <p:spPr>
          <a:xfrm>
            <a:off x="6355080" y="1965960"/>
            <a:ext cx="5120640" cy="457200"/>
          </a:xfrm>
          <a:prstGeom prst="rect">
            <a:avLst/>
          </a:prstGeom>
          <a:noFill/>
          <a:ln/>
        </p:spPr>
        <p:txBody>
          <a:bodyPr wrap="square" lIns="0" tIns="0" rIns="0" bIns="0"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Risk Score = severity + intel + asset value</a:t>
            </a:r>
            <a:endParaRPr lang="en-US" sz="1500" dirty="0"/>
          </a:p>
        </p:txBody>
      </p:sp>
      <p:sp>
        <p:nvSpPr>
          <p:cNvPr id="22" name="Shape 17"/>
          <p:cNvSpPr/>
          <p:nvPr/>
        </p:nvSpPr>
        <p:spPr>
          <a:xfrm>
            <a:off x="7635240" y="2697480"/>
            <a:ext cx="2468880" cy="2468880"/>
          </a:xfrm>
          <a:prstGeom prst="ellipse">
            <a:avLst/>
          </a:prstGeom>
          <a:solidFill>
            <a:srgbClr val="FFFFFF"/>
          </a:solidFill>
          <a:ln w="177800">
            <a:solidFill>
              <a:srgbClr val="E5484D"/>
            </a:solidFill>
            <a:prstDash val="solid"/>
          </a:ln>
          <a:effectLst>
            <a:outerShdw sx="100000" sy="100000" kx="0" ky="0" algn="bl" rotWithShape="0" blurRad="101600" dist="38100" dir="5400000">
              <a:srgbClr val="9AA7B4">
                <a:alpha val="35000"/>
              </a:srgbClr>
            </a:outerShdw>
          </a:effectLst>
        </p:spPr>
      </p:sp>
      <p:sp>
        <p:nvSpPr>
          <p:cNvPr id="23" name="Text 18"/>
          <p:cNvSpPr txBox="1"/>
          <p:nvPr/>
        </p:nvSpPr>
        <p:spPr>
          <a:xfrm>
            <a:off x="7635240" y="3246120"/>
            <a:ext cx="2468880" cy="914400"/>
          </a:xfrm>
          <a:prstGeom prst="rect">
            <a:avLst/>
          </a:prstGeom>
          <a:noFill/>
          <a:ln/>
        </p:spPr>
        <p:txBody>
          <a:bodyPr wrap="square" lIns="0" tIns="0" rIns="0" bIns="0" rtlCol="0" anchor="ctr"/>
          <a:lstStyle/>
          <a:p>
            <a:pPr algn="ctr" indent="0" marL="0">
              <a:buNone/>
            </a:pPr>
            <a:r>
              <a:rPr lang="en-US" sz="5600" b="1" dirty="0">
                <a:solidFill>
                  <a:srgbClr val="E5484D"/>
                </a:solidFill>
                <a:latin typeface="Calibri" pitchFamily="34" charset="0"/>
                <a:ea typeface="Calibri" pitchFamily="34" charset="-122"/>
                <a:cs typeface="Calibri" pitchFamily="34" charset="-120"/>
              </a:rPr>
              <a:t>100</a:t>
            </a:r>
            <a:endParaRPr lang="en-US" sz="5600" dirty="0"/>
          </a:p>
        </p:txBody>
      </p:sp>
      <p:sp>
        <p:nvSpPr>
          <p:cNvPr id="24" name="Text 19"/>
          <p:cNvSpPr txBox="1"/>
          <p:nvPr/>
        </p:nvSpPr>
        <p:spPr>
          <a:xfrm>
            <a:off x="7635240" y="4160520"/>
            <a:ext cx="2468880" cy="365760"/>
          </a:xfrm>
          <a:prstGeom prst="rect">
            <a:avLst/>
          </a:prstGeom>
          <a:noFill/>
          <a:ln/>
        </p:spPr>
        <p:txBody>
          <a:bodyPr wrap="square" lIns="0" tIns="0" rIns="0" bIns="0" rtlCol="0" anchor="ctr"/>
          <a:lstStyle/>
          <a:p>
            <a:pPr algn="ctr" indent="0" marL="0">
              <a:buNone/>
            </a:pPr>
            <a:r>
              <a:rPr lang="en-US" sz="1300" b="1" spc="200" kern="0" dirty="0">
                <a:solidFill>
                  <a:srgbClr val="5B6B7B"/>
                </a:solidFill>
                <a:latin typeface="Calibri" pitchFamily="34" charset="0"/>
                <a:ea typeface="Calibri" pitchFamily="34" charset="-122"/>
                <a:cs typeface="Calibri" pitchFamily="34" charset="-120"/>
              </a:rPr>
              <a:t>CRITICAL</a:t>
            </a:r>
            <a:endParaRPr lang="en-US" sz="1300" dirty="0"/>
          </a:p>
        </p:txBody>
      </p:sp>
      <p:sp>
        <p:nvSpPr>
          <p:cNvPr id="25" name="Text 20"/>
          <p:cNvSpPr txBox="1"/>
          <p:nvPr/>
        </p:nvSpPr>
        <p:spPr>
          <a:xfrm>
            <a:off x="6355080" y="5394960"/>
            <a:ext cx="5120640" cy="731520"/>
          </a:xfrm>
          <a:prstGeom prst="rect">
            <a:avLst/>
          </a:prstGeom>
          <a:noFill/>
          <a:ln/>
        </p:spPr>
        <p:txBody>
          <a:bodyPr wrap="square" lIns="0" tIns="0" rIns="0" bIns="0" rtlCol="0" anchor="ctr"/>
          <a:lstStyle/>
          <a:p>
            <a:pPr algn="ctr" indent="0" marL="0">
              <a:buNone/>
            </a:pPr>
            <a:r>
              <a:rPr lang="en-US" sz="1250" i="1" dirty="0">
                <a:solidFill>
                  <a:srgbClr val="5B6B7B"/>
                </a:solidFill>
                <a:latin typeface="Calibri" pitchFamily="34" charset="0"/>
                <a:ea typeface="Calibri" pitchFamily="34" charset="-122"/>
                <a:cs typeface="Calibri" pitchFamily="34" charset="-120"/>
              </a:rPr>
              <a:t>A 'medium' alert on the payroll database outranks a 'high' alert on a test box — context decides priority.</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algn="l" indent="0" marL="0">
              <a:buNone/>
            </a:pPr>
            <a:r>
              <a:rPr lang="en-US" sz="3000" b="1" dirty="0">
                <a:solidFill>
                  <a:srgbClr val="16263A"/>
                </a:solidFill>
                <a:latin typeface="Calibri" pitchFamily="34" charset="0"/>
                <a:ea typeface="Calibri" pitchFamily="34" charset="-122"/>
                <a:cs typeface="Calibri" pitchFamily="34" charset="-120"/>
              </a:rPr>
              <a:t>Correlation: Cutting the Noise</a:t>
            </a:r>
            <a:endParaRPr lang="en-US" sz="3000" dirty="0"/>
          </a:p>
        </p:txBody>
      </p:sp>
      <p:sp>
        <p:nvSpPr>
          <p:cNvPr id="3" name="Text 1"/>
          <p:cNvSpPr txBox="1"/>
          <p:nvPr/>
        </p:nvSpPr>
        <p:spPr>
          <a:xfrm>
            <a:off x="548640" y="969264"/>
            <a:ext cx="11091672" cy="365760"/>
          </a:xfrm>
          <a:prstGeom prst="rect">
            <a:avLst/>
          </a:prstGeom>
          <a:noFill/>
          <a:ln/>
        </p:spPr>
        <p:txBody>
          <a:bodyPr wrap="square" lIns="0" tIns="0" rIns="0" bIns="0" rtlCol="0" anchor="ctr"/>
          <a:lstStyle/>
          <a:p>
            <a:pPr algn="l" indent="0" marL="0">
              <a:buNone/>
            </a:pPr>
            <a:r>
              <a:rPr lang="en-US" sz="1500" dirty="0">
                <a:solidFill>
                  <a:srgbClr val="5B6B7B"/>
                </a:solidFill>
                <a:latin typeface="Calibri" pitchFamily="34" charset="0"/>
                <a:ea typeface="Calibri" pitchFamily="34" charset="-122"/>
                <a:cs typeface="Calibri" pitchFamily="34" charset="-120"/>
              </a:rPr>
              <a:t>One attack fires many alerts — the system groups them into a single case.</a:t>
            </a:r>
            <a:endParaRPr lang="en-US" sz="1500" dirty="0"/>
          </a:p>
        </p:txBody>
      </p:sp>
      <p:sp>
        <p:nvSpPr>
          <p:cNvPr id="4" name="Shape 2"/>
          <p:cNvSpPr/>
          <p:nvPr/>
        </p:nvSpPr>
        <p:spPr>
          <a:xfrm>
            <a:off x="548640" y="1737360"/>
            <a:ext cx="5120640" cy="4480560"/>
          </a:xfrm>
          <a:prstGeom prst="roundRect">
            <a:avLst>
              <a:gd name="adj" fmla="val 1837"/>
            </a:avLst>
          </a:prstGeom>
          <a:solidFill>
            <a:srgbClr val="F1F5F9"/>
          </a:solidFill>
          <a:ln/>
          <a:effectLst>
            <a:outerShdw sx="100000" sy="100000" kx="0" ky="0" algn="bl" rotWithShape="0" blurRad="101600" dist="38100" dir="5400000">
              <a:srgbClr val="9AA7B4">
                <a:alpha val="35000"/>
              </a:srgbClr>
            </a:outerShdw>
          </a:effectLst>
        </p:spPr>
      </p:sp>
      <p:sp>
        <p:nvSpPr>
          <p:cNvPr id="5" name="Text 3"/>
          <p:cNvSpPr txBox="1"/>
          <p:nvPr/>
        </p:nvSpPr>
        <p:spPr>
          <a:xfrm>
            <a:off x="548640" y="1920240"/>
            <a:ext cx="5120640" cy="411480"/>
          </a:xfrm>
          <a:prstGeom prst="rect">
            <a:avLst/>
          </a:prstGeom>
          <a:noFill/>
          <a:ln/>
        </p:spPr>
        <p:txBody>
          <a:bodyPr wrap="square" lIns="0" tIns="0" rIns="0" bIns="0" rtlCol="0" anchor="ctr"/>
          <a:lstStyle/>
          <a:p>
            <a:pPr algn="ctr" indent="0" marL="0">
              <a:buNone/>
            </a:pPr>
            <a:r>
              <a:rPr lang="en-US" sz="1600" b="1" dirty="0">
                <a:solidFill>
                  <a:srgbClr val="1B2733"/>
                </a:solidFill>
                <a:latin typeface="Calibri" pitchFamily="34" charset="0"/>
                <a:ea typeface="Calibri" pitchFamily="34" charset="-122"/>
                <a:cs typeface="Calibri" pitchFamily="34" charset="-120"/>
              </a:rPr>
              <a:t>66 raw alerts</a:t>
            </a:r>
            <a:endParaRPr lang="en-US" sz="1600" dirty="0"/>
          </a:p>
        </p:txBody>
      </p:sp>
      <p:sp>
        <p:nvSpPr>
          <p:cNvPr id="6" name="Shape 4"/>
          <p:cNvSpPr/>
          <p:nvPr/>
        </p:nvSpPr>
        <p:spPr>
          <a:xfrm>
            <a:off x="1051560" y="2514600"/>
            <a:ext cx="256032" cy="256032"/>
          </a:xfrm>
          <a:prstGeom prst="ellipse">
            <a:avLst/>
          </a:prstGeom>
          <a:solidFill>
            <a:srgbClr val="E5484D"/>
          </a:solidFill>
          <a:ln/>
        </p:spPr>
      </p:sp>
      <p:sp>
        <p:nvSpPr>
          <p:cNvPr id="7" name="Shape 5"/>
          <p:cNvSpPr/>
          <p:nvPr/>
        </p:nvSpPr>
        <p:spPr>
          <a:xfrm>
            <a:off x="1453896" y="2514600"/>
            <a:ext cx="256032" cy="256032"/>
          </a:xfrm>
          <a:prstGeom prst="ellipse">
            <a:avLst/>
          </a:prstGeom>
          <a:solidFill>
            <a:srgbClr val="E8863C"/>
          </a:solidFill>
          <a:ln/>
        </p:spPr>
      </p:sp>
      <p:sp>
        <p:nvSpPr>
          <p:cNvPr id="8" name="Shape 6"/>
          <p:cNvSpPr/>
          <p:nvPr/>
        </p:nvSpPr>
        <p:spPr>
          <a:xfrm>
            <a:off x="1856232" y="2514600"/>
            <a:ext cx="256032" cy="256032"/>
          </a:xfrm>
          <a:prstGeom prst="ellipse">
            <a:avLst/>
          </a:prstGeom>
          <a:solidFill>
            <a:srgbClr val="E0B64A"/>
          </a:solidFill>
          <a:ln/>
        </p:spPr>
      </p:sp>
      <p:sp>
        <p:nvSpPr>
          <p:cNvPr id="9" name="Shape 7"/>
          <p:cNvSpPr/>
          <p:nvPr/>
        </p:nvSpPr>
        <p:spPr>
          <a:xfrm>
            <a:off x="2258568" y="2514600"/>
            <a:ext cx="256032" cy="256032"/>
          </a:xfrm>
          <a:prstGeom prst="ellipse">
            <a:avLst/>
          </a:prstGeom>
          <a:solidFill>
            <a:srgbClr val="3B82F6"/>
          </a:solidFill>
          <a:ln/>
        </p:spPr>
      </p:sp>
      <p:sp>
        <p:nvSpPr>
          <p:cNvPr id="10" name="Shape 8"/>
          <p:cNvSpPr/>
          <p:nvPr/>
        </p:nvSpPr>
        <p:spPr>
          <a:xfrm>
            <a:off x="2660904" y="2514600"/>
            <a:ext cx="256032" cy="256032"/>
          </a:xfrm>
          <a:prstGeom prst="ellipse">
            <a:avLst/>
          </a:prstGeom>
          <a:solidFill>
            <a:srgbClr val="2FB27F"/>
          </a:solidFill>
          <a:ln/>
        </p:spPr>
      </p:sp>
      <p:sp>
        <p:nvSpPr>
          <p:cNvPr id="11" name="Shape 9"/>
          <p:cNvSpPr/>
          <p:nvPr/>
        </p:nvSpPr>
        <p:spPr>
          <a:xfrm>
            <a:off x="3063240" y="2514600"/>
            <a:ext cx="256032" cy="256032"/>
          </a:xfrm>
          <a:prstGeom prst="ellipse">
            <a:avLst/>
          </a:prstGeom>
          <a:solidFill>
            <a:srgbClr val="E5484D"/>
          </a:solidFill>
          <a:ln/>
        </p:spPr>
      </p:sp>
      <p:sp>
        <p:nvSpPr>
          <p:cNvPr id="12" name="Shape 10"/>
          <p:cNvSpPr/>
          <p:nvPr/>
        </p:nvSpPr>
        <p:spPr>
          <a:xfrm>
            <a:off x="3465576" y="2514600"/>
            <a:ext cx="256032" cy="256032"/>
          </a:xfrm>
          <a:prstGeom prst="ellipse">
            <a:avLst/>
          </a:prstGeom>
          <a:solidFill>
            <a:srgbClr val="E8863C"/>
          </a:solidFill>
          <a:ln/>
        </p:spPr>
      </p:sp>
      <p:sp>
        <p:nvSpPr>
          <p:cNvPr id="13" name="Shape 11"/>
          <p:cNvSpPr/>
          <p:nvPr/>
        </p:nvSpPr>
        <p:spPr>
          <a:xfrm>
            <a:off x="3867912" y="2514600"/>
            <a:ext cx="256032" cy="256032"/>
          </a:xfrm>
          <a:prstGeom prst="ellipse">
            <a:avLst/>
          </a:prstGeom>
          <a:solidFill>
            <a:srgbClr val="E0B64A"/>
          </a:solidFill>
          <a:ln/>
        </p:spPr>
      </p:sp>
      <p:sp>
        <p:nvSpPr>
          <p:cNvPr id="14" name="Shape 12"/>
          <p:cNvSpPr/>
          <p:nvPr/>
        </p:nvSpPr>
        <p:spPr>
          <a:xfrm>
            <a:off x="4270248" y="2514600"/>
            <a:ext cx="256032" cy="256032"/>
          </a:xfrm>
          <a:prstGeom prst="ellipse">
            <a:avLst/>
          </a:prstGeom>
          <a:solidFill>
            <a:srgbClr val="3B82F6"/>
          </a:solidFill>
          <a:ln/>
        </p:spPr>
      </p:sp>
      <p:sp>
        <p:nvSpPr>
          <p:cNvPr id="15" name="Shape 13"/>
          <p:cNvSpPr/>
          <p:nvPr/>
        </p:nvSpPr>
        <p:spPr>
          <a:xfrm>
            <a:off x="4672584" y="2514600"/>
            <a:ext cx="256032" cy="256032"/>
          </a:xfrm>
          <a:prstGeom prst="ellipse">
            <a:avLst/>
          </a:prstGeom>
          <a:solidFill>
            <a:srgbClr val="2FB27F"/>
          </a:solidFill>
          <a:ln/>
        </p:spPr>
      </p:sp>
      <p:sp>
        <p:nvSpPr>
          <p:cNvPr id="16" name="Shape 14"/>
          <p:cNvSpPr/>
          <p:nvPr/>
        </p:nvSpPr>
        <p:spPr>
          <a:xfrm>
            <a:off x="5074920" y="2514600"/>
            <a:ext cx="256032" cy="256032"/>
          </a:xfrm>
          <a:prstGeom prst="ellipse">
            <a:avLst/>
          </a:prstGeom>
          <a:solidFill>
            <a:srgbClr val="E5484D"/>
          </a:solidFill>
          <a:ln/>
        </p:spPr>
      </p:sp>
      <p:sp>
        <p:nvSpPr>
          <p:cNvPr id="17" name="Shape 15"/>
          <p:cNvSpPr/>
          <p:nvPr/>
        </p:nvSpPr>
        <p:spPr>
          <a:xfrm>
            <a:off x="1051560" y="3081528"/>
            <a:ext cx="256032" cy="256032"/>
          </a:xfrm>
          <a:prstGeom prst="ellipse">
            <a:avLst/>
          </a:prstGeom>
          <a:solidFill>
            <a:srgbClr val="E8863C"/>
          </a:solidFill>
          <a:ln/>
        </p:spPr>
      </p:sp>
      <p:sp>
        <p:nvSpPr>
          <p:cNvPr id="18" name="Shape 16"/>
          <p:cNvSpPr/>
          <p:nvPr/>
        </p:nvSpPr>
        <p:spPr>
          <a:xfrm>
            <a:off x="1453896" y="3081528"/>
            <a:ext cx="256032" cy="256032"/>
          </a:xfrm>
          <a:prstGeom prst="ellipse">
            <a:avLst/>
          </a:prstGeom>
          <a:solidFill>
            <a:srgbClr val="E0B64A"/>
          </a:solidFill>
          <a:ln/>
        </p:spPr>
      </p:sp>
      <p:sp>
        <p:nvSpPr>
          <p:cNvPr id="19" name="Shape 17"/>
          <p:cNvSpPr/>
          <p:nvPr/>
        </p:nvSpPr>
        <p:spPr>
          <a:xfrm>
            <a:off x="1856232" y="3081528"/>
            <a:ext cx="256032" cy="256032"/>
          </a:xfrm>
          <a:prstGeom prst="ellipse">
            <a:avLst/>
          </a:prstGeom>
          <a:solidFill>
            <a:srgbClr val="3B82F6"/>
          </a:solidFill>
          <a:ln/>
        </p:spPr>
      </p:sp>
      <p:sp>
        <p:nvSpPr>
          <p:cNvPr id="20" name="Shape 18"/>
          <p:cNvSpPr/>
          <p:nvPr/>
        </p:nvSpPr>
        <p:spPr>
          <a:xfrm>
            <a:off x="2258568" y="3081528"/>
            <a:ext cx="256032" cy="256032"/>
          </a:xfrm>
          <a:prstGeom prst="ellipse">
            <a:avLst/>
          </a:prstGeom>
          <a:solidFill>
            <a:srgbClr val="2FB27F"/>
          </a:solidFill>
          <a:ln/>
        </p:spPr>
      </p:sp>
      <p:sp>
        <p:nvSpPr>
          <p:cNvPr id="21" name="Shape 19"/>
          <p:cNvSpPr/>
          <p:nvPr/>
        </p:nvSpPr>
        <p:spPr>
          <a:xfrm>
            <a:off x="2660904" y="3081528"/>
            <a:ext cx="256032" cy="256032"/>
          </a:xfrm>
          <a:prstGeom prst="ellipse">
            <a:avLst/>
          </a:prstGeom>
          <a:solidFill>
            <a:srgbClr val="E5484D"/>
          </a:solidFill>
          <a:ln/>
        </p:spPr>
      </p:sp>
      <p:sp>
        <p:nvSpPr>
          <p:cNvPr id="22" name="Shape 20"/>
          <p:cNvSpPr/>
          <p:nvPr/>
        </p:nvSpPr>
        <p:spPr>
          <a:xfrm>
            <a:off x="3063240" y="3081528"/>
            <a:ext cx="256032" cy="256032"/>
          </a:xfrm>
          <a:prstGeom prst="ellipse">
            <a:avLst/>
          </a:prstGeom>
          <a:solidFill>
            <a:srgbClr val="E8863C"/>
          </a:solidFill>
          <a:ln/>
        </p:spPr>
      </p:sp>
      <p:sp>
        <p:nvSpPr>
          <p:cNvPr id="23" name="Shape 21"/>
          <p:cNvSpPr/>
          <p:nvPr/>
        </p:nvSpPr>
        <p:spPr>
          <a:xfrm>
            <a:off x="3465576" y="3081528"/>
            <a:ext cx="256032" cy="256032"/>
          </a:xfrm>
          <a:prstGeom prst="ellipse">
            <a:avLst/>
          </a:prstGeom>
          <a:solidFill>
            <a:srgbClr val="E0B64A"/>
          </a:solidFill>
          <a:ln/>
        </p:spPr>
      </p:sp>
      <p:sp>
        <p:nvSpPr>
          <p:cNvPr id="24" name="Shape 22"/>
          <p:cNvSpPr/>
          <p:nvPr/>
        </p:nvSpPr>
        <p:spPr>
          <a:xfrm>
            <a:off x="3867912" y="3081528"/>
            <a:ext cx="256032" cy="256032"/>
          </a:xfrm>
          <a:prstGeom prst="ellipse">
            <a:avLst/>
          </a:prstGeom>
          <a:solidFill>
            <a:srgbClr val="3B82F6"/>
          </a:solidFill>
          <a:ln/>
        </p:spPr>
      </p:sp>
      <p:sp>
        <p:nvSpPr>
          <p:cNvPr id="25" name="Shape 23"/>
          <p:cNvSpPr/>
          <p:nvPr/>
        </p:nvSpPr>
        <p:spPr>
          <a:xfrm>
            <a:off x="4270248" y="3081528"/>
            <a:ext cx="256032" cy="256032"/>
          </a:xfrm>
          <a:prstGeom prst="ellipse">
            <a:avLst/>
          </a:prstGeom>
          <a:solidFill>
            <a:srgbClr val="2FB27F"/>
          </a:solidFill>
          <a:ln/>
        </p:spPr>
      </p:sp>
      <p:sp>
        <p:nvSpPr>
          <p:cNvPr id="26" name="Shape 24"/>
          <p:cNvSpPr/>
          <p:nvPr/>
        </p:nvSpPr>
        <p:spPr>
          <a:xfrm>
            <a:off x="4672584" y="3081528"/>
            <a:ext cx="256032" cy="256032"/>
          </a:xfrm>
          <a:prstGeom prst="ellipse">
            <a:avLst/>
          </a:prstGeom>
          <a:solidFill>
            <a:srgbClr val="E5484D"/>
          </a:solidFill>
          <a:ln/>
        </p:spPr>
      </p:sp>
      <p:sp>
        <p:nvSpPr>
          <p:cNvPr id="27" name="Shape 25"/>
          <p:cNvSpPr/>
          <p:nvPr/>
        </p:nvSpPr>
        <p:spPr>
          <a:xfrm>
            <a:off x="5074920" y="3081528"/>
            <a:ext cx="256032" cy="256032"/>
          </a:xfrm>
          <a:prstGeom prst="ellipse">
            <a:avLst/>
          </a:prstGeom>
          <a:solidFill>
            <a:srgbClr val="E8863C"/>
          </a:solidFill>
          <a:ln/>
        </p:spPr>
      </p:sp>
      <p:sp>
        <p:nvSpPr>
          <p:cNvPr id="28" name="Shape 26"/>
          <p:cNvSpPr/>
          <p:nvPr/>
        </p:nvSpPr>
        <p:spPr>
          <a:xfrm>
            <a:off x="1051560" y="3648456"/>
            <a:ext cx="256032" cy="256032"/>
          </a:xfrm>
          <a:prstGeom prst="ellipse">
            <a:avLst/>
          </a:prstGeom>
          <a:solidFill>
            <a:srgbClr val="E0B64A"/>
          </a:solidFill>
          <a:ln/>
        </p:spPr>
      </p:sp>
      <p:sp>
        <p:nvSpPr>
          <p:cNvPr id="29" name="Shape 27"/>
          <p:cNvSpPr/>
          <p:nvPr/>
        </p:nvSpPr>
        <p:spPr>
          <a:xfrm>
            <a:off x="1453896" y="3648456"/>
            <a:ext cx="256032" cy="256032"/>
          </a:xfrm>
          <a:prstGeom prst="ellipse">
            <a:avLst/>
          </a:prstGeom>
          <a:solidFill>
            <a:srgbClr val="3B82F6"/>
          </a:solidFill>
          <a:ln/>
        </p:spPr>
      </p:sp>
      <p:sp>
        <p:nvSpPr>
          <p:cNvPr id="30" name="Shape 28"/>
          <p:cNvSpPr/>
          <p:nvPr/>
        </p:nvSpPr>
        <p:spPr>
          <a:xfrm>
            <a:off x="1856232" y="3648456"/>
            <a:ext cx="256032" cy="256032"/>
          </a:xfrm>
          <a:prstGeom prst="ellipse">
            <a:avLst/>
          </a:prstGeom>
          <a:solidFill>
            <a:srgbClr val="2FB27F"/>
          </a:solidFill>
          <a:ln/>
        </p:spPr>
      </p:sp>
      <p:sp>
        <p:nvSpPr>
          <p:cNvPr id="31" name="Shape 29"/>
          <p:cNvSpPr/>
          <p:nvPr/>
        </p:nvSpPr>
        <p:spPr>
          <a:xfrm>
            <a:off x="2258568" y="3648456"/>
            <a:ext cx="256032" cy="256032"/>
          </a:xfrm>
          <a:prstGeom prst="ellipse">
            <a:avLst/>
          </a:prstGeom>
          <a:solidFill>
            <a:srgbClr val="E5484D"/>
          </a:solidFill>
          <a:ln/>
        </p:spPr>
      </p:sp>
      <p:sp>
        <p:nvSpPr>
          <p:cNvPr id="32" name="Shape 30"/>
          <p:cNvSpPr/>
          <p:nvPr/>
        </p:nvSpPr>
        <p:spPr>
          <a:xfrm>
            <a:off x="2660904" y="3648456"/>
            <a:ext cx="256032" cy="256032"/>
          </a:xfrm>
          <a:prstGeom prst="ellipse">
            <a:avLst/>
          </a:prstGeom>
          <a:solidFill>
            <a:srgbClr val="E8863C"/>
          </a:solidFill>
          <a:ln/>
        </p:spPr>
      </p:sp>
      <p:sp>
        <p:nvSpPr>
          <p:cNvPr id="33" name="Shape 31"/>
          <p:cNvSpPr/>
          <p:nvPr/>
        </p:nvSpPr>
        <p:spPr>
          <a:xfrm>
            <a:off x="3063240" y="3648456"/>
            <a:ext cx="256032" cy="256032"/>
          </a:xfrm>
          <a:prstGeom prst="ellipse">
            <a:avLst/>
          </a:prstGeom>
          <a:solidFill>
            <a:srgbClr val="E0B64A"/>
          </a:solidFill>
          <a:ln/>
        </p:spPr>
      </p:sp>
      <p:sp>
        <p:nvSpPr>
          <p:cNvPr id="34" name="Shape 32"/>
          <p:cNvSpPr/>
          <p:nvPr/>
        </p:nvSpPr>
        <p:spPr>
          <a:xfrm>
            <a:off x="3465576" y="3648456"/>
            <a:ext cx="256032" cy="256032"/>
          </a:xfrm>
          <a:prstGeom prst="ellipse">
            <a:avLst/>
          </a:prstGeom>
          <a:solidFill>
            <a:srgbClr val="3B82F6"/>
          </a:solidFill>
          <a:ln/>
        </p:spPr>
      </p:sp>
      <p:sp>
        <p:nvSpPr>
          <p:cNvPr id="35" name="Shape 33"/>
          <p:cNvSpPr/>
          <p:nvPr/>
        </p:nvSpPr>
        <p:spPr>
          <a:xfrm>
            <a:off x="3867912" y="3648456"/>
            <a:ext cx="256032" cy="256032"/>
          </a:xfrm>
          <a:prstGeom prst="ellipse">
            <a:avLst/>
          </a:prstGeom>
          <a:solidFill>
            <a:srgbClr val="2FB27F"/>
          </a:solidFill>
          <a:ln/>
        </p:spPr>
      </p:sp>
      <p:sp>
        <p:nvSpPr>
          <p:cNvPr id="36" name="Shape 34"/>
          <p:cNvSpPr/>
          <p:nvPr/>
        </p:nvSpPr>
        <p:spPr>
          <a:xfrm>
            <a:off x="4270248" y="3648456"/>
            <a:ext cx="256032" cy="256032"/>
          </a:xfrm>
          <a:prstGeom prst="ellipse">
            <a:avLst/>
          </a:prstGeom>
          <a:solidFill>
            <a:srgbClr val="E5484D"/>
          </a:solidFill>
          <a:ln/>
        </p:spPr>
      </p:sp>
      <p:sp>
        <p:nvSpPr>
          <p:cNvPr id="37" name="Shape 35"/>
          <p:cNvSpPr/>
          <p:nvPr/>
        </p:nvSpPr>
        <p:spPr>
          <a:xfrm>
            <a:off x="4672584" y="3648456"/>
            <a:ext cx="256032" cy="256032"/>
          </a:xfrm>
          <a:prstGeom prst="ellipse">
            <a:avLst/>
          </a:prstGeom>
          <a:solidFill>
            <a:srgbClr val="E8863C"/>
          </a:solidFill>
          <a:ln/>
        </p:spPr>
      </p:sp>
      <p:sp>
        <p:nvSpPr>
          <p:cNvPr id="38" name="Shape 36"/>
          <p:cNvSpPr/>
          <p:nvPr/>
        </p:nvSpPr>
        <p:spPr>
          <a:xfrm>
            <a:off x="5074920" y="3648456"/>
            <a:ext cx="256032" cy="256032"/>
          </a:xfrm>
          <a:prstGeom prst="ellipse">
            <a:avLst/>
          </a:prstGeom>
          <a:solidFill>
            <a:srgbClr val="E0B64A"/>
          </a:solidFill>
          <a:ln/>
        </p:spPr>
      </p:sp>
      <p:sp>
        <p:nvSpPr>
          <p:cNvPr id="39" name="Shape 37"/>
          <p:cNvSpPr/>
          <p:nvPr/>
        </p:nvSpPr>
        <p:spPr>
          <a:xfrm>
            <a:off x="1051560" y="4215384"/>
            <a:ext cx="256032" cy="256032"/>
          </a:xfrm>
          <a:prstGeom prst="ellipse">
            <a:avLst/>
          </a:prstGeom>
          <a:solidFill>
            <a:srgbClr val="3B82F6"/>
          </a:solidFill>
          <a:ln/>
        </p:spPr>
      </p:sp>
      <p:sp>
        <p:nvSpPr>
          <p:cNvPr id="40" name="Shape 38"/>
          <p:cNvSpPr/>
          <p:nvPr/>
        </p:nvSpPr>
        <p:spPr>
          <a:xfrm>
            <a:off x="1453896" y="4215384"/>
            <a:ext cx="256032" cy="256032"/>
          </a:xfrm>
          <a:prstGeom prst="ellipse">
            <a:avLst/>
          </a:prstGeom>
          <a:solidFill>
            <a:srgbClr val="2FB27F"/>
          </a:solidFill>
          <a:ln/>
        </p:spPr>
      </p:sp>
      <p:sp>
        <p:nvSpPr>
          <p:cNvPr id="41" name="Shape 39"/>
          <p:cNvSpPr/>
          <p:nvPr/>
        </p:nvSpPr>
        <p:spPr>
          <a:xfrm>
            <a:off x="1856232" y="4215384"/>
            <a:ext cx="256032" cy="256032"/>
          </a:xfrm>
          <a:prstGeom prst="ellipse">
            <a:avLst/>
          </a:prstGeom>
          <a:solidFill>
            <a:srgbClr val="E5484D"/>
          </a:solidFill>
          <a:ln/>
        </p:spPr>
      </p:sp>
      <p:sp>
        <p:nvSpPr>
          <p:cNvPr id="42" name="Shape 40"/>
          <p:cNvSpPr/>
          <p:nvPr/>
        </p:nvSpPr>
        <p:spPr>
          <a:xfrm>
            <a:off x="2258568" y="4215384"/>
            <a:ext cx="256032" cy="256032"/>
          </a:xfrm>
          <a:prstGeom prst="ellipse">
            <a:avLst/>
          </a:prstGeom>
          <a:solidFill>
            <a:srgbClr val="E8863C"/>
          </a:solidFill>
          <a:ln/>
        </p:spPr>
      </p:sp>
      <p:sp>
        <p:nvSpPr>
          <p:cNvPr id="43" name="Shape 41"/>
          <p:cNvSpPr/>
          <p:nvPr/>
        </p:nvSpPr>
        <p:spPr>
          <a:xfrm>
            <a:off x="2660904" y="4215384"/>
            <a:ext cx="256032" cy="256032"/>
          </a:xfrm>
          <a:prstGeom prst="ellipse">
            <a:avLst/>
          </a:prstGeom>
          <a:solidFill>
            <a:srgbClr val="E0B64A"/>
          </a:solidFill>
          <a:ln/>
        </p:spPr>
      </p:sp>
      <p:sp>
        <p:nvSpPr>
          <p:cNvPr id="44" name="Shape 42"/>
          <p:cNvSpPr/>
          <p:nvPr/>
        </p:nvSpPr>
        <p:spPr>
          <a:xfrm>
            <a:off x="3063240" y="4215384"/>
            <a:ext cx="256032" cy="256032"/>
          </a:xfrm>
          <a:prstGeom prst="ellipse">
            <a:avLst/>
          </a:prstGeom>
          <a:solidFill>
            <a:srgbClr val="3B82F6"/>
          </a:solidFill>
          <a:ln/>
        </p:spPr>
      </p:sp>
      <p:sp>
        <p:nvSpPr>
          <p:cNvPr id="45" name="Shape 43"/>
          <p:cNvSpPr/>
          <p:nvPr/>
        </p:nvSpPr>
        <p:spPr>
          <a:xfrm>
            <a:off x="3465576" y="4215384"/>
            <a:ext cx="256032" cy="256032"/>
          </a:xfrm>
          <a:prstGeom prst="ellipse">
            <a:avLst/>
          </a:prstGeom>
          <a:solidFill>
            <a:srgbClr val="2FB27F"/>
          </a:solidFill>
          <a:ln/>
        </p:spPr>
      </p:sp>
      <p:sp>
        <p:nvSpPr>
          <p:cNvPr id="46" name="Shape 44"/>
          <p:cNvSpPr/>
          <p:nvPr/>
        </p:nvSpPr>
        <p:spPr>
          <a:xfrm>
            <a:off x="3867912" y="4215384"/>
            <a:ext cx="256032" cy="256032"/>
          </a:xfrm>
          <a:prstGeom prst="ellipse">
            <a:avLst/>
          </a:prstGeom>
          <a:solidFill>
            <a:srgbClr val="E5484D"/>
          </a:solidFill>
          <a:ln/>
        </p:spPr>
      </p:sp>
      <p:sp>
        <p:nvSpPr>
          <p:cNvPr id="47" name="Shape 45"/>
          <p:cNvSpPr/>
          <p:nvPr/>
        </p:nvSpPr>
        <p:spPr>
          <a:xfrm>
            <a:off x="4270248" y="4215384"/>
            <a:ext cx="256032" cy="256032"/>
          </a:xfrm>
          <a:prstGeom prst="ellipse">
            <a:avLst/>
          </a:prstGeom>
          <a:solidFill>
            <a:srgbClr val="E8863C"/>
          </a:solidFill>
          <a:ln/>
        </p:spPr>
      </p:sp>
      <p:sp>
        <p:nvSpPr>
          <p:cNvPr id="48" name="Shape 46"/>
          <p:cNvSpPr/>
          <p:nvPr/>
        </p:nvSpPr>
        <p:spPr>
          <a:xfrm>
            <a:off x="4672584" y="4215384"/>
            <a:ext cx="256032" cy="256032"/>
          </a:xfrm>
          <a:prstGeom prst="ellipse">
            <a:avLst/>
          </a:prstGeom>
          <a:solidFill>
            <a:srgbClr val="E0B64A"/>
          </a:solidFill>
          <a:ln/>
        </p:spPr>
      </p:sp>
      <p:sp>
        <p:nvSpPr>
          <p:cNvPr id="49" name="Shape 47"/>
          <p:cNvSpPr/>
          <p:nvPr/>
        </p:nvSpPr>
        <p:spPr>
          <a:xfrm>
            <a:off x="5074920" y="4215384"/>
            <a:ext cx="256032" cy="256032"/>
          </a:xfrm>
          <a:prstGeom prst="ellipse">
            <a:avLst/>
          </a:prstGeom>
          <a:solidFill>
            <a:srgbClr val="3B82F6"/>
          </a:solidFill>
          <a:ln/>
        </p:spPr>
      </p:sp>
      <p:sp>
        <p:nvSpPr>
          <p:cNvPr id="50" name="Shape 48"/>
          <p:cNvSpPr/>
          <p:nvPr/>
        </p:nvSpPr>
        <p:spPr>
          <a:xfrm>
            <a:off x="1051560" y="4782312"/>
            <a:ext cx="256032" cy="256032"/>
          </a:xfrm>
          <a:prstGeom prst="ellipse">
            <a:avLst/>
          </a:prstGeom>
          <a:solidFill>
            <a:srgbClr val="2FB27F"/>
          </a:solidFill>
          <a:ln/>
        </p:spPr>
      </p:sp>
      <p:sp>
        <p:nvSpPr>
          <p:cNvPr id="51" name="Shape 49"/>
          <p:cNvSpPr/>
          <p:nvPr/>
        </p:nvSpPr>
        <p:spPr>
          <a:xfrm>
            <a:off x="1453896" y="4782312"/>
            <a:ext cx="256032" cy="256032"/>
          </a:xfrm>
          <a:prstGeom prst="ellipse">
            <a:avLst/>
          </a:prstGeom>
          <a:solidFill>
            <a:srgbClr val="E5484D"/>
          </a:solidFill>
          <a:ln/>
        </p:spPr>
      </p:sp>
      <p:sp>
        <p:nvSpPr>
          <p:cNvPr id="52" name="Shape 50"/>
          <p:cNvSpPr/>
          <p:nvPr/>
        </p:nvSpPr>
        <p:spPr>
          <a:xfrm>
            <a:off x="1856232" y="4782312"/>
            <a:ext cx="256032" cy="256032"/>
          </a:xfrm>
          <a:prstGeom prst="ellipse">
            <a:avLst/>
          </a:prstGeom>
          <a:solidFill>
            <a:srgbClr val="E8863C"/>
          </a:solidFill>
          <a:ln/>
        </p:spPr>
      </p:sp>
      <p:sp>
        <p:nvSpPr>
          <p:cNvPr id="53" name="Shape 51"/>
          <p:cNvSpPr/>
          <p:nvPr/>
        </p:nvSpPr>
        <p:spPr>
          <a:xfrm>
            <a:off x="2258568" y="4782312"/>
            <a:ext cx="256032" cy="256032"/>
          </a:xfrm>
          <a:prstGeom prst="ellipse">
            <a:avLst/>
          </a:prstGeom>
          <a:solidFill>
            <a:srgbClr val="E0B64A"/>
          </a:solidFill>
          <a:ln/>
        </p:spPr>
      </p:sp>
      <p:sp>
        <p:nvSpPr>
          <p:cNvPr id="54" name="Shape 52"/>
          <p:cNvSpPr/>
          <p:nvPr/>
        </p:nvSpPr>
        <p:spPr>
          <a:xfrm>
            <a:off x="2660904" y="4782312"/>
            <a:ext cx="256032" cy="256032"/>
          </a:xfrm>
          <a:prstGeom prst="ellipse">
            <a:avLst/>
          </a:prstGeom>
          <a:solidFill>
            <a:srgbClr val="3B82F6"/>
          </a:solidFill>
          <a:ln/>
        </p:spPr>
      </p:sp>
      <p:sp>
        <p:nvSpPr>
          <p:cNvPr id="55" name="Shape 53"/>
          <p:cNvSpPr/>
          <p:nvPr/>
        </p:nvSpPr>
        <p:spPr>
          <a:xfrm>
            <a:off x="3063240" y="4782312"/>
            <a:ext cx="256032" cy="256032"/>
          </a:xfrm>
          <a:prstGeom prst="ellipse">
            <a:avLst/>
          </a:prstGeom>
          <a:solidFill>
            <a:srgbClr val="2FB27F"/>
          </a:solidFill>
          <a:ln/>
        </p:spPr>
      </p:sp>
      <p:sp>
        <p:nvSpPr>
          <p:cNvPr id="56" name="Shape 54"/>
          <p:cNvSpPr/>
          <p:nvPr/>
        </p:nvSpPr>
        <p:spPr>
          <a:xfrm>
            <a:off x="3465576" y="4782312"/>
            <a:ext cx="256032" cy="256032"/>
          </a:xfrm>
          <a:prstGeom prst="ellipse">
            <a:avLst/>
          </a:prstGeom>
          <a:solidFill>
            <a:srgbClr val="E5484D"/>
          </a:solidFill>
          <a:ln/>
        </p:spPr>
      </p:sp>
      <p:sp>
        <p:nvSpPr>
          <p:cNvPr id="57" name="Shape 55"/>
          <p:cNvSpPr/>
          <p:nvPr/>
        </p:nvSpPr>
        <p:spPr>
          <a:xfrm>
            <a:off x="3867912" y="4782312"/>
            <a:ext cx="256032" cy="256032"/>
          </a:xfrm>
          <a:prstGeom prst="ellipse">
            <a:avLst/>
          </a:prstGeom>
          <a:solidFill>
            <a:srgbClr val="E8863C"/>
          </a:solidFill>
          <a:ln/>
        </p:spPr>
      </p:sp>
      <p:sp>
        <p:nvSpPr>
          <p:cNvPr id="58" name="Shape 56"/>
          <p:cNvSpPr/>
          <p:nvPr/>
        </p:nvSpPr>
        <p:spPr>
          <a:xfrm>
            <a:off x="4270248" y="4782312"/>
            <a:ext cx="256032" cy="256032"/>
          </a:xfrm>
          <a:prstGeom prst="ellipse">
            <a:avLst/>
          </a:prstGeom>
          <a:solidFill>
            <a:srgbClr val="E0B64A"/>
          </a:solidFill>
          <a:ln/>
        </p:spPr>
      </p:sp>
      <p:sp>
        <p:nvSpPr>
          <p:cNvPr id="59" name="Shape 57"/>
          <p:cNvSpPr/>
          <p:nvPr/>
        </p:nvSpPr>
        <p:spPr>
          <a:xfrm>
            <a:off x="4672584" y="4782312"/>
            <a:ext cx="256032" cy="256032"/>
          </a:xfrm>
          <a:prstGeom prst="ellipse">
            <a:avLst/>
          </a:prstGeom>
          <a:solidFill>
            <a:srgbClr val="3B82F6"/>
          </a:solidFill>
          <a:ln/>
        </p:spPr>
      </p:sp>
      <p:sp>
        <p:nvSpPr>
          <p:cNvPr id="60" name="Shape 58"/>
          <p:cNvSpPr/>
          <p:nvPr/>
        </p:nvSpPr>
        <p:spPr>
          <a:xfrm>
            <a:off x="5074920" y="4782312"/>
            <a:ext cx="256032" cy="256032"/>
          </a:xfrm>
          <a:prstGeom prst="ellipse">
            <a:avLst/>
          </a:prstGeom>
          <a:solidFill>
            <a:srgbClr val="2FB27F"/>
          </a:solidFill>
          <a:ln/>
        </p:spPr>
      </p:sp>
      <p:sp>
        <p:nvSpPr>
          <p:cNvPr id="61" name="Shape 59"/>
          <p:cNvSpPr/>
          <p:nvPr/>
        </p:nvSpPr>
        <p:spPr>
          <a:xfrm>
            <a:off x="1051560" y="5349240"/>
            <a:ext cx="256032" cy="256032"/>
          </a:xfrm>
          <a:prstGeom prst="ellipse">
            <a:avLst/>
          </a:prstGeom>
          <a:solidFill>
            <a:srgbClr val="E5484D"/>
          </a:solidFill>
          <a:ln/>
        </p:spPr>
      </p:sp>
      <p:sp>
        <p:nvSpPr>
          <p:cNvPr id="62" name="Shape 60"/>
          <p:cNvSpPr/>
          <p:nvPr/>
        </p:nvSpPr>
        <p:spPr>
          <a:xfrm>
            <a:off x="1453896" y="5349240"/>
            <a:ext cx="256032" cy="256032"/>
          </a:xfrm>
          <a:prstGeom prst="ellipse">
            <a:avLst/>
          </a:prstGeom>
          <a:solidFill>
            <a:srgbClr val="E8863C"/>
          </a:solidFill>
          <a:ln/>
        </p:spPr>
      </p:sp>
      <p:sp>
        <p:nvSpPr>
          <p:cNvPr id="63" name="Shape 61"/>
          <p:cNvSpPr/>
          <p:nvPr/>
        </p:nvSpPr>
        <p:spPr>
          <a:xfrm>
            <a:off x="1856232" y="5349240"/>
            <a:ext cx="256032" cy="256032"/>
          </a:xfrm>
          <a:prstGeom prst="ellipse">
            <a:avLst/>
          </a:prstGeom>
          <a:solidFill>
            <a:srgbClr val="E0B64A"/>
          </a:solidFill>
          <a:ln/>
        </p:spPr>
      </p:sp>
      <p:sp>
        <p:nvSpPr>
          <p:cNvPr id="64" name="Shape 62"/>
          <p:cNvSpPr/>
          <p:nvPr/>
        </p:nvSpPr>
        <p:spPr>
          <a:xfrm>
            <a:off x="2258568" y="5349240"/>
            <a:ext cx="256032" cy="256032"/>
          </a:xfrm>
          <a:prstGeom prst="ellipse">
            <a:avLst/>
          </a:prstGeom>
          <a:solidFill>
            <a:srgbClr val="3B82F6"/>
          </a:solidFill>
          <a:ln/>
        </p:spPr>
      </p:sp>
      <p:sp>
        <p:nvSpPr>
          <p:cNvPr id="65" name="Shape 63"/>
          <p:cNvSpPr/>
          <p:nvPr/>
        </p:nvSpPr>
        <p:spPr>
          <a:xfrm>
            <a:off x="2660904" y="5349240"/>
            <a:ext cx="256032" cy="256032"/>
          </a:xfrm>
          <a:prstGeom prst="ellipse">
            <a:avLst/>
          </a:prstGeom>
          <a:solidFill>
            <a:srgbClr val="2FB27F"/>
          </a:solidFill>
          <a:ln/>
        </p:spPr>
      </p:sp>
      <p:sp>
        <p:nvSpPr>
          <p:cNvPr id="66" name="Shape 64"/>
          <p:cNvSpPr/>
          <p:nvPr/>
        </p:nvSpPr>
        <p:spPr>
          <a:xfrm>
            <a:off x="3063240" y="5349240"/>
            <a:ext cx="256032" cy="256032"/>
          </a:xfrm>
          <a:prstGeom prst="ellipse">
            <a:avLst/>
          </a:prstGeom>
          <a:solidFill>
            <a:srgbClr val="E5484D"/>
          </a:solidFill>
          <a:ln/>
        </p:spPr>
      </p:sp>
      <p:sp>
        <p:nvSpPr>
          <p:cNvPr id="67" name="Shape 65"/>
          <p:cNvSpPr/>
          <p:nvPr/>
        </p:nvSpPr>
        <p:spPr>
          <a:xfrm>
            <a:off x="3465576" y="5349240"/>
            <a:ext cx="256032" cy="256032"/>
          </a:xfrm>
          <a:prstGeom prst="ellipse">
            <a:avLst/>
          </a:prstGeom>
          <a:solidFill>
            <a:srgbClr val="E8863C"/>
          </a:solidFill>
          <a:ln/>
        </p:spPr>
      </p:sp>
      <p:sp>
        <p:nvSpPr>
          <p:cNvPr id="68" name="Shape 66"/>
          <p:cNvSpPr/>
          <p:nvPr/>
        </p:nvSpPr>
        <p:spPr>
          <a:xfrm>
            <a:off x="3867912" y="5349240"/>
            <a:ext cx="256032" cy="256032"/>
          </a:xfrm>
          <a:prstGeom prst="ellipse">
            <a:avLst/>
          </a:prstGeom>
          <a:solidFill>
            <a:srgbClr val="E0B64A"/>
          </a:solidFill>
          <a:ln/>
        </p:spPr>
      </p:sp>
      <p:sp>
        <p:nvSpPr>
          <p:cNvPr id="69" name="Shape 67"/>
          <p:cNvSpPr/>
          <p:nvPr/>
        </p:nvSpPr>
        <p:spPr>
          <a:xfrm>
            <a:off x="4270248" y="5349240"/>
            <a:ext cx="256032" cy="256032"/>
          </a:xfrm>
          <a:prstGeom prst="ellipse">
            <a:avLst/>
          </a:prstGeom>
          <a:solidFill>
            <a:srgbClr val="3B82F6"/>
          </a:solidFill>
          <a:ln/>
        </p:spPr>
      </p:sp>
      <p:sp>
        <p:nvSpPr>
          <p:cNvPr id="70" name="Shape 68"/>
          <p:cNvSpPr/>
          <p:nvPr/>
        </p:nvSpPr>
        <p:spPr>
          <a:xfrm>
            <a:off x="4672584" y="5349240"/>
            <a:ext cx="256032" cy="256032"/>
          </a:xfrm>
          <a:prstGeom prst="ellipse">
            <a:avLst/>
          </a:prstGeom>
          <a:solidFill>
            <a:srgbClr val="2FB27F"/>
          </a:solidFill>
          <a:ln/>
        </p:spPr>
      </p:sp>
      <p:sp>
        <p:nvSpPr>
          <p:cNvPr id="71" name="Shape 69"/>
          <p:cNvSpPr/>
          <p:nvPr/>
        </p:nvSpPr>
        <p:spPr>
          <a:xfrm>
            <a:off x="5074920" y="5349240"/>
            <a:ext cx="256032" cy="256032"/>
          </a:xfrm>
          <a:prstGeom prst="ellipse">
            <a:avLst/>
          </a:prstGeom>
          <a:solidFill>
            <a:srgbClr val="E5484D"/>
          </a:solidFill>
          <a:ln/>
        </p:spPr>
      </p:sp>
      <p:sp>
        <p:nvSpPr>
          <p:cNvPr id="72" name="Text 70"/>
          <p:cNvSpPr txBox="1"/>
          <p:nvPr/>
        </p:nvSpPr>
        <p:spPr>
          <a:xfrm>
            <a:off x="5806440" y="3566160"/>
            <a:ext cx="640080" cy="731520"/>
          </a:xfrm>
          <a:prstGeom prst="rect">
            <a:avLst/>
          </a:prstGeom>
          <a:noFill/>
          <a:ln/>
        </p:spPr>
        <p:txBody>
          <a:bodyPr wrap="square" lIns="0" tIns="0" rIns="0" bIns="0" rtlCol="0" anchor="ctr"/>
          <a:lstStyle/>
          <a:p>
            <a:pPr algn="ctr" indent="0" marL="0">
              <a:buNone/>
            </a:pPr>
            <a:r>
              <a:rPr lang="en-US" sz="4000" b="1" dirty="0">
                <a:solidFill>
                  <a:srgbClr val="3B82F6"/>
                </a:solidFill>
                <a:latin typeface="Calibri" pitchFamily="34" charset="0"/>
                <a:ea typeface="Calibri" pitchFamily="34" charset="-122"/>
                <a:cs typeface="Calibri" pitchFamily="34" charset="-120"/>
              </a:rPr>
              <a:t>&gt;</a:t>
            </a:r>
            <a:endParaRPr lang="en-US" sz="4000" dirty="0"/>
          </a:p>
        </p:txBody>
      </p:sp>
      <p:sp>
        <p:nvSpPr>
          <p:cNvPr id="73" name="Shape 71"/>
          <p:cNvSpPr/>
          <p:nvPr/>
        </p:nvSpPr>
        <p:spPr>
          <a:xfrm>
            <a:off x="6492240" y="1737360"/>
            <a:ext cx="5148072" cy="4480560"/>
          </a:xfrm>
          <a:prstGeom prst="roundRect">
            <a:avLst>
              <a:gd name="adj" fmla="val 1837"/>
            </a:avLst>
          </a:prstGeom>
          <a:solidFill>
            <a:srgbClr val="16263A"/>
          </a:solidFill>
          <a:ln/>
          <a:effectLst>
            <a:outerShdw sx="100000" sy="100000" kx="0" ky="0" algn="bl" rotWithShape="0" blurRad="101600" dist="38100" dir="5400000">
              <a:srgbClr val="9AA7B4">
                <a:alpha val="35000"/>
              </a:srgbClr>
            </a:outerShdw>
          </a:effectLst>
        </p:spPr>
      </p:sp>
      <p:sp>
        <p:nvSpPr>
          <p:cNvPr id="74" name="Text 72"/>
          <p:cNvSpPr txBox="1"/>
          <p:nvPr/>
        </p:nvSpPr>
        <p:spPr>
          <a:xfrm>
            <a:off x="6492240" y="1920240"/>
            <a:ext cx="5148072"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42 incidents</a:t>
            </a:r>
            <a:endParaRPr lang="en-US" sz="1600" dirty="0"/>
          </a:p>
        </p:txBody>
      </p:sp>
      <p:sp>
        <p:nvSpPr>
          <p:cNvPr id="75" name="Text 73"/>
          <p:cNvSpPr txBox="1"/>
          <p:nvPr/>
        </p:nvSpPr>
        <p:spPr>
          <a:xfrm>
            <a:off x="6492240" y="2651760"/>
            <a:ext cx="5148072" cy="1188720"/>
          </a:xfrm>
          <a:prstGeom prst="rect">
            <a:avLst/>
          </a:prstGeom>
          <a:noFill/>
          <a:ln/>
        </p:spPr>
        <p:txBody>
          <a:bodyPr wrap="square" lIns="0" tIns="0" rIns="0" bIns="0" rtlCol="0" anchor="ctr"/>
          <a:lstStyle/>
          <a:p>
            <a:pPr algn="ctr" indent="0" marL="0">
              <a:buNone/>
            </a:pPr>
            <a:r>
              <a:rPr lang="en-US" sz="8400" b="1" dirty="0">
                <a:solidFill>
                  <a:srgbClr val="2FB27F"/>
                </a:solidFill>
                <a:latin typeface="Calibri" pitchFamily="34" charset="0"/>
                <a:ea typeface="Calibri" pitchFamily="34" charset="-122"/>
                <a:cs typeface="Calibri" pitchFamily="34" charset="-120"/>
              </a:rPr>
              <a:t>36%</a:t>
            </a:r>
            <a:endParaRPr lang="en-US" sz="8400" dirty="0"/>
          </a:p>
        </p:txBody>
      </p:sp>
      <p:sp>
        <p:nvSpPr>
          <p:cNvPr id="76" name="Text 74"/>
          <p:cNvSpPr txBox="1"/>
          <p:nvPr/>
        </p:nvSpPr>
        <p:spPr>
          <a:xfrm>
            <a:off x="6492240" y="3886200"/>
            <a:ext cx="5148072" cy="457200"/>
          </a:xfrm>
          <a:prstGeom prst="rect">
            <a:avLst/>
          </a:prstGeom>
          <a:noFill/>
          <a:ln/>
        </p:spPr>
        <p:txBody>
          <a:bodyPr wrap="square" lIns="0" tIns="0" rIns="0" bIns="0" rtlCol="0" anchor="ctr"/>
          <a:lstStyle/>
          <a:p>
            <a:pPr algn="ctr" indent="0" marL="0">
              <a:buNone/>
            </a:pPr>
            <a:r>
              <a:rPr lang="en-US" sz="1600" dirty="0">
                <a:solidFill>
                  <a:srgbClr val="CFE0F2"/>
                </a:solidFill>
                <a:latin typeface="Calibri" pitchFamily="34" charset="0"/>
                <a:ea typeface="Calibri" pitchFamily="34" charset="-122"/>
                <a:cs typeface="Calibri" pitchFamily="34" charset="-120"/>
              </a:rPr>
              <a:t>fewer things to look at</a:t>
            </a:r>
            <a:endParaRPr lang="en-US" sz="1600" dirty="0"/>
          </a:p>
        </p:txBody>
      </p:sp>
      <p:sp>
        <p:nvSpPr>
          <p:cNvPr id="77" name="Text 75"/>
          <p:cNvSpPr txBox="1"/>
          <p:nvPr/>
        </p:nvSpPr>
        <p:spPr>
          <a:xfrm>
            <a:off x="6858000" y="4754880"/>
            <a:ext cx="4434840" cy="1097280"/>
          </a:xfrm>
          <a:prstGeom prst="rect">
            <a:avLst/>
          </a:prstGeom>
          <a:noFill/>
          <a:ln/>
        </p:spPr>
        <p:txBody>
          <a:bodyPr wrap="square" lIns="0" tIns="0" rIns="0" bIns="0" rtlCol="0" anchor="ctr"/>
          <a:lstStyle/>
          <a:p>
            <a:pPr algn="ctr" indent="0" marL="0">
              <a:buNone/>
            </a:pPr>
            <a:r>
              <a:rPr lang="en-US" sz="1300" i="1" dirty="0">
                <a:solidFill>
                  <a:srgbClr val="9FB4CC"/>
                </a:solidFill>
                <a:latin typeface="Calibri" pitchFamily="34" charset="0"/>
                <a:ea typeface="Calibri" pitchFamily="34" charset="-122"/>
                <a:cs typeface="Calibri" pitchFamily="34" charset="-120"/>
              </a:rPr>
              <a:t>Alerts from the same source in a time window collapse into one incident an analyst works as a single case.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algn="l" indent="0" marL="0">
              <a:buNone/>
            </a:pPr>
            <a:r>
              <a:rPr lang="en-US" sz="3000" b="1" dirty="0">
                <a:solidFill>
                  <a:srgbClr val="16263A"/>
                </a:solidFill>
                <a:latin typeface="Calibri" pitchFamily="34" charset="0"/>
                <a:ea typeface="Calibri" pitchFamily="34" charset="-122"/>
                <a:cs typeface="Calibri" pitchFamily="34" charset="-120"/>
              </a:rPr>
              <a:t>SLA Tracking &amp; Escalation</a:t>
            </a:r>
            <a:endParaRPr lang="en-US" sz="3000" dirty="0"/>
          </a:p>
        </p:txBody>
      </p:sp>
      <p:sp>
        <p:nvSpPr>
          <p:cNvPr id="3" name="Text 1"/>
          <p:cNvSpPr txBox="1"/>
          <p:nvPr/>
        </p:nvSpPr>
        <p:spPr>
          <a:xfrm>
            <a:off x="548640" y="969264"/>
            <a:ext cx="11091672" cy="365760"/>
          </a:xfrm>
          <a:prstGeom prst="rect">
            <a:avLst/>
          </a:prstGeom>
          <a:noFill/>
          <a:ln/>
        </p:spPr>
        <p:txBody>
          <a:bodyPr wrap="square" lIns="0" tIns="0" rIns="0" bIns="0" rtlCol="0" anchor="ctr"/>
          <a:lstStyle/>
          <a:p>
            <a:pPr algn="l" indent="0" marL="0">
              <a:buNone/>
            </a:pPr>
            <a:r>
              <a:rPr lang="en-US" sz="1500" dirty="0">
                <a:solidFill>
                  <a:srgbClr val="5B6B7B"/>
                </a:solidFill>
                <a:latin typeface="Calibri" pitchFamily="34" charset="0"/>
                <a:ea typeface="Calibri" pitchFamily="34" charset="-122"/>
                <a:cs typeface="Calibri" pitchFamily="34" charset="-120"/>
              </a:rPr>
              <a:t>The feature that makes this incident management, not just an alert list.</a:t>
            </a:r>
            <a:endParaRPr lang="en-US" sz="1500" dirty="0"/>
          </a:p>
        </p:txBody>
      </p:sp>
      <p:sp>
        <p:nvSpPr>
          <p:cNvPr id="4" name="Shape 2"/>
          <p:cNvSpPr/>
          <p:nvPr/>
        </p:nvSpPr>
        <p:spPr>
          <a:xfrm>
            <a:off x="548640" y="1691640"/>
            <a:ext cx="3566160" cy="1965960"/>
          </a:xfrm>
          <a:prstGeom prst="roundRect">
            <a:avLst>
              <a:gd name="adj" fmla="val 4186"/>
            </a:avLst>
          </a:prstGeom>
          <a:solidFill>
            <a:srgbClr val="F1F5F9"/>
          </a:solidFill>
          <a:ln/>
          <a:effectLst>
            <a:outerShdw sx="100000" sy="100000" kx="0" ky="0" algn="bl" rotWithShape="0" blurRad="101600" dist="38100" dir="5400000">
              <a:srgbClr val="9AA7B4">
                <a:alpha val="35000"/>
              </a:srgbClr>
            </a:outerShdw>
          </a:effectLst>
        </p:spPr>
      </p:sp>
      <p:sp>
        <p:nvSpPr>
          <p:cNvPr id="5" name="Text 3"/>
          <p:cNvSpPr txBox="1"/>
          <p:nvPr/>
        </p:nvSpPr>
        <p:spPr>
          <a:xfrm>
            <a:off x="548640" y="1874520"/>
            <a:ext cx="3566160" cy="822960"/>
          </a:xfrm>
          <a:prstGeom prst="rect">
            <a:avLst/>
          </a:prstGeom>
          <a:noFill/>
          <a:ln/>
        </p:spPr>
        <p:txBody>
          <a:bodyPr wrap="square" lIns="0" tIns="0" rIns="0" bIns="0" rtlCol="0" anchor="ctr"/>
          <a:lstStyle/>
          <a:p>
            <a:pPr algn="ctr" indent="0" marL="0">
              <a:buNone/>
            </a:pPr>
            <a:r>
              <a:rPr lang="en-US" sz="4400" b="1" dirty="0">
                <a:solidFill>
                  <a:srgbClr val="3B82F6"/>
                </a:solidFill>
                <a:latin typeface="Calibri" pitchFamily="34" charset="0"/>
                <a:ea typeface="Calibri" pitchFamily="34" charset="-122"/>
                <a:cs typeface="Calibri" pitchFamily="34" charset="-120"/>
              </a:rPr>
              <a:t>MTTA</a:t>
            </a:r>
            <a:endParaRPr lang="en-US" sz="4400" dirty="0"/>
          </a:p>
        </p:txBody>
      </p:sp>
      <p:sp>
        <p:nvSpPr>
          <p:cNvPr id="6" name="Text 4"/>
          <p:cNvSpPr txBox="1"/>
          <p:nvPr/>
        </p:nvSpPr>
        <p:spPr>
          <a:xfrm>
            <a:off x="548640" y="2697480"/>
            <a:ext cx="3566160" cy="365760"/>
          </a:xfrm>
          <a:prstGeom prst="rect">
            <a:avLst/>
          </a:prstGeom>
          <a:noFill/>
          <a:ln/>
        </p:spPr>
        <p:txBody>
          <a:bodyPr wrap="square" lIns="0" tIns="0" rIns="0" bIns="0" rtlCol="0" anchor="ctr"/>
          <a:lstStyle/>
          <a:p>
            <a:pPr algn="ctr" indent="0" marL="0">
              <a:buNone/>
            </a:pPr>
            <a:r>
              <a:rPr lang="en-US" sz="1500" b="1" dirty="0">
                <a:solidFill>
                  <a:srgbClr val="1B2733"/>
                </a:solidFill>
                <a:latin typeface="Calibri" pitchFamily="34" charset="0"/>
                <a:ea typeface="Calibri" pitchFamily="34" charset="-122"/>
                <a:cs typeface="Calibri" pitchFamily="34" charset="-120"/>
              </a:rPr>
              <a:t>1h 46m</a:t>
            </a:r>
            <a:endParaRPr lang="en-US" sz="1500" dirty="0"/>
          </a:p>
        </p:txBody>
      </p:sp>
      <p:sp>
        <p:nvSpPr>
          <p:cNvPr id="7" name="Text 5"/>
          <p:cNvSpPr txBox="1"/>
          <p:nvPr/>
        </p:nvSpPr>
        <p:spPr>
          <a:xfrm>
            <a:off x="548640" y="3063240"/>
            <a:ext cx="3566160" cy="457200"/>
          </a:xfrm>
          <a:prstGeom prst="rect">
            <a:avLst/>
          </a:prstGeom>
          <a:noFill/>
          <a:ln/>
        </p:spPr>
        <p:txBody>
          <a:bodyPr wrap="square" lIns="0" tIns="0" rIns="0" bIns="0" rtlCol="0" anchor="ctr"/>
          <a:lstStyle/>
          <a:p>
            <a:pPr algn="ctr" indent="0" marL="0">
              <a:buNone/>
            </a:pPr>
            <a:r>
              <a:rPr lang="en-US" sz="1250" dirty="0">
                <a:solidFill>
                  <a:srgbClr val="5B6B7B"/>
                </a:solidFill>
                <a:latin typeface="Calibri" pitchFamily="34" charset="0"/>
                <a:ea typeface="Calibri" pitchFamily="34" charset="-122"/>
                <a:cs typeface="Calibri" pitchFamily="34" charset="-120"/>
              </a:rPr>
              <a:t>mean time to acknowledge</a:t>
            </a:r>
            <a:endParaRPr lang="en-US" sz="1250" dirty="0"/>
          </a:p>
        </p:txBody>
      </p:sp>
      <p:sp>
        <p:nvSpPr>
          <p:cNvPr id="8" name="Shape 6"/>
          <p:cNvSpPr/>
          <p:nvPr/>
        </p:nvSpPr>
        <p:spPr>
          <a:xfrm>
            <a:off x="4343400" y="1691640"/>
            <a:ext cx="3566160" cy="1965960"/>
          </a:xfrm>
          <a:prstGeom prst="roundRect">
            <a:avLst>
              <a:gd name="adj" fmla="val 4186"/>
            </a:avLst>
          </a:prstGeom>
          <a:solidFill>
            <a:srgbClr val="F1F5F9"/>
          </a:solidFill>
          <a:ln/>
          <a:effectLst>
            <a:outerShdw sx="100000" sy="100000" kx="0" ky="0" algn="bl" rotWithShape="0" blurRad="101600" dist="38100" dir="5400000">
              <a:srgbClr val="9AA7B4">
                <a:alpha val="35000"/>
              </a:srgbClr>
            </a:outerShdw>
          </a:effectLst>
        </p:spPr>
      </p:sp>
      <p:sp>
        <p:nvSpPr>
          <p:cNvPr id="9" name="Text 7"/>
          <p:cNvSpPr txBox="1"/>
          <p:nvPr/>
        </p:nvSpPr>
        <p:spPr>
          <a:xfrm>
            <a:off x="4343400" y="1874520"/>
            <a:ext cx="3566160" cy="822960"/>
          </a:xfrm>
          <a:prstGeom prst="rect">
            <a:avLst/>
          </a:prstGeom>
          <a:noFill/>
          <a:ln/>
        </p:spPr>
        <p:txBody>
          <a:bodyPr wrap="square" lIns="0" tIns="0" rIns="0" bIns="0" rtlCol="0" anchor="ctr"/>
          <a:lstStyle/>
          <a:p>
            <a:pPr algn="ctr" indent="0" marL="0">
              <a:buNone/>
            </a:pPr>
            <a:r>
              <a:rPr lang="en-US" sz="4400" b="1" dirty="0">
                <a:solidFill>
                  <a:srgbClr val="22B8CF"/>
                </a:solidFill>
                <a:latin typeface="Calibri" pitchFamily="34" charset="0"/>
                <a:ea typeface="Calibri" pitchFamily="34" charset="-122"/>
                <a:cs typeface="Calibri" pitchFamily="34" charset="-120"/>
              </a:rPr>
              <a:t>MTTR</a:t>
            </a:r>
            <a:endParaRPr lang="en-US" sz="4400" dirty="0"/>
          </a:p>
        </p:txBody>
      </p:sp>
      <p:sp>
        <p:nvSpPr>
          <p:cNvPr id="10" name="Text 8"/>
          <p:cNvSpPr txBox="1"/>
          <p:nvPr/>
        </p:nvSpPr>
        <p:spPr>
          <a:xfrm>
            <a:off x="4343400" y="2697480"/>
            <a:ext cx="3566160" cy="365760"/>
          </a:xfrm>
          <a:prstGeom prst="rect">
            <a:avLst/>
          </a:prstGeom>
          <a:noFill/>
          <a:ln/>
        </p:spPr>
        <p:txBody>
          <a:bodyPr wrap="square" lIns="0" tIns="0" rIns="0" bIns="0" rtlCol="0" anchor="ctr"/>
          <a:lstStyle/>
          <a:p>
            <a:pPr algn="ctr" indent="0" marL="0">
              <a:buNone/>
            </a:pPr>
            <a:r>
              <a:rPr lang="en-US" sz="1500" b="1" dirty="0">
                <a:solidFill>
                  <a:srgbClr val="1B2733"/>
                </a:solidFill>
                <a:latin typeface="Calibri" pitchFamily="34" charset="0"/>
                <a:ea typeface="Calibri" pitchFamily="34" charset="-122"/>
                <a:cs typeface="Calibri" pitchFamily="34" charset="-120"/>
              </a:rPr>
              <a:t>resolve</a:t>
            </a:r>
            <a:endParaRPr lang="en-US" sz="1500" dirty="0"/>
          </a:p>
        </p:txBody>
      </p:sp>
      <p:sp>
        <p:nvSpPr>
          <p:cNvPr id="11" name="Text 9"/>
          <p:cNvSpPr txBox="1"/>
          <p:nvPr/>
        </p:nvSpPr>
        <p:spPr>
          <a:xfrm>
            <a:off x="4343400" y="3063240"/>
            <a:ext cx="3566160" cy="457200"/>
          </a:xfrm>
          <a:prstGeom prst="rect">
            <a:avLst/>
          </a:prstGeom>
          <a:noFill/>
          <a:ln/>
        </p:spPr>
        <p:txBody>
          <a:bodyPr wrap="square" lIns="0" tIns="0" rIns="0" bIns="0" rtlCol="0" anchor="ctr"/>
          <a:lstStyle/>
          <a:p>
            <a:pPr algn="ctr" indent="0" marL="0">
              <a:buNone/>
            </a:pPr>
            <a:r>
              <a:rPr lang="en-US" sz="1250" dirty="0">
                <a:solidFill>
                  <a:srgbClr val="5B6B7B"/>
                </a:solidFill>
                <a:latin typeface="Calibri" pitchFamily="34" charset="0"/>
                <a:ea typeface="Calibri" pitchFamily="34" charset="-122"/>
                <a:cs typeface="Calibri" pitchFamily="34" charset="-120"/>
              </a:rPr>
              <a:t>mean time to resolve, tracked</a:t>
            </a:r>
            <a:endParaRPr lang="en-US" sz="1250" dirty="0"/>
          </a:p>
        </p:txBody>
      </p:sp>
      <p:sp>
        <p:nvSpPr>
          <p:cNvPr id="12" name="Shape 10"/>
          <p:cNvSpPr/>
          <p:nvPr/>
        </p:nvSpPr>
        <p:spPr>
          <a:xfrm>
            <a:off x="8138160" y="1691640"/>
            <a:ext cx="3566160" cy="1965960"/>
          </a:xfrm>
          <a:prstGeom prst="roundRect">
            <a:avLst>
              <a:gd name="adj" fmla="val 4186"/>
            </a:avLst>
          </a:prstGeom>
          <a:solidFill>
            <a:srgbClr val="F1F5F9"/>
          </a:solidFill>
          <a:ln/>
          <a:effectLst>
            <a:outerShdw sx="100000" sy="100000" kx="0" ky="0" algn="bl" rotWithShape="0" blurRad="101600" dist="38100" dir="5400000">
              <a:srgbClr val="9AA7B4">
                <a:alpha val="35000"/>
              </a:srgbClr>
            </a:outerShdw>
          </a:effectLst>
        </p:spPr>
      </p:sp>
      <p:sp>
        <p:nvSpPr>
          <p:cNvPr id="13" name="Text 11"/>
          <p:cNvSpPr txBox="1"/>
          <p:nvPr/>
        </p:nvSpPr>
        <p:spPr>
          <a:xfrm>
            <a:off x="8138160" y="1874520"/>
            <a:ext cx="3566160" cy="822960"/>
          </a:xfrm>
          <a:prstGeom prst="rect">
            <a:avLst/>
          </a:prstGeom>
          <a:noFill/>
          <a:ln/>
        </p:spPr>
        <p:txBody>
          <a:bodyPr wrap="square" lIns="0" tIns="0" rIns="0" bIns="0" rtlCol="0" anchor="ctr"/>
          <a:lstStyle/>
          <a:p>
            <a:pPr algn="ctr" indent="0" marL="0">
              <a:buNone/>
            </a:pPr>
            <a:r>
              <a:rPr lang="en-US" sz="4400" b="1" dirty="0">
                <a:solidFill>
                  <a:srgbClr val="2FB27F"/>
                </a:solidFill>
                <a:latin typeface="Calibri" pitchFamily="34" charset="0"/>
                <a:ea typeface="Calibri" pitchFamily="34" charset="-122"/>
                <a:cs typeface="Calibri" pitchFamily="34" charset="-120"/>
              </a:rPr>
              <a:t>97%</a:t>
            </a:r>
            <a:endParaRPr lang="en-US" sz="4400" dirty="0"/>
          </a:p>
        </p:txBody>
      </p:sp>
      <p:sp>
        <p:nvSpPr>
          <p:cNvPr id="14" name="Text 12"/>
          <p:cNvSpPr txBox="1"/>
          <p:nvPr/>
        </p:nvSpPr>
        <p:spPr>
          <a:xfrm>
            <a:off x="8138160" y="2697480"/>
            <a:ext cx="3566160" cy="365760"/>
          </a:xfrm>
          <a:prstGeom prst="rect">
            <a:avLst/>
          </a:prstGeom>
          <a:noFill/>
          <a:ln/>
        </p:spPr>
        <p:txBody>
          <a:bodyPr wrap="square" lIns="0" tIns="0" rIns="0" bIns="0" rtlCol="0" anchor="ctr"/>
          <a:lstStyle/>
          <a:p>
            <a:pPr algn="ctr" indent="0" marL="0">
              <a:buNone/>
            </a:pPr>
            <a:r>
              <a:rPr lang="en-US" sz="1500" b="1" dirty="0">
                <a:solidFill>
                  <a:srgbClr val="1B2733"/>
                </a:solidFill>
                <a:latin typeface="Calibri" pitchFamily="34" charset="0"/>
                <a:ea typeface="Calibri" pitchFamily="34" charset="-122"/>
                <a:cs typeface="Calibri" pitchFamily="34" charset="-120"/>
              </a:rPr>
              <a:t>on time</a:t>
            </a:r>
            <a:endParaRPr lang="en-US" sz="1500" dirty="0"/>
          </a:p>
        </p:txBody>
      </p:sp>
      <p:sp>
        <p:nvSpPr>
          <p:cNvPr id="15" name="Text 13"/>
          <p:cNvSpPr txBox="1"/>
          <p:nvPr/>
        </p:nvSpPr>
        <p:spPr>
          <a:xfrm>
            <a:off x="8138160" y="3063240"/>
            <a:ext cx="3566160" cy="457200"/>
          </a:xfrm>
          <a:prstGeom prst="rect">
            <a:avLst/>
          </a:prstGeom>
          <a:noFill/>
          <a:ln/>
        </p:spPr>
        <p:txBody>
          <a:bodyPr wrap="square" lIns="0" tIns="0" rIns="0" bIns="0" rtlCol="0" anchor="ctr"/>
          <a:lstStyle/>
          <a:p>
            <a:pPr algn="ctr" indent="0" marL="0">
              <a:buNone/>
            </a:pPr>
            <a:r>
              <a:rPr lang="en-US" sz="1250" dirty="0">
                <a:solidFill>
                  <a:srgbClr val="5B6B7B"/>
                </a:solidFill>
                <a:latin typeface="Calibri" pitchFamily="34" charset="0"/>
                <a:ea typeface="Calibri" pitchFamily="34" charset="-122"/>
                <a:cs typeface="Calibri" pitchFamily="34" charset="-120"/>
              </a:rPr>
              <a:t>acknowledged within SLA</a:t>
            </a:r>
            <a:endParaRPr lang="en-US" sz="1250" dirty="0"/>
          </a:p>
        </p:txBody>
      </p:sp>
      <p:sp>
        <p:nvSpPr>
          <p:cNvPr id="16" name="Shape 14"/>
          <p:cNvSpPr/>
          <p:nvPr/>
        </p:nvSpPr>
        <p:spPr>
          <a:xfrm>
            <a:off x="548640" y="3886200"/>
            <a:ext cx="11091672" cy="2331720"/>
          </a:xfrm>
          <a:prstGeom prst="roundRect">
            <a:avLst>
              <a:gd name="adj" fmla="val 3529"/>
            </a:avLst>
          </a:prstGeom>
          <a:solidFill>
            <a:srgbClr val="16263A"/>
          </a:solidFill>
          <a:ln/>
          <a:effectLst>
            <a:outerShdw sx="100000" sy="100000" kx="0" ky="0" algn="bl" rotWithShape="0" blurRad="101600" dist="38100" dir="5400000">
              <a:srgbClr val="9AA7B4">
                <a:alpha val="35000"/>
              </a:srgbClr>
            </a:outerShdw>
          </a:effectLst>
        </p:spPr>
      </p:sp>
      <p:sp>
        <p:nvSpPr>
          <p:cNvPr id="17" name="Text 15"/>
          <p:cNvSpPr txBox="1"/>
          <p:nvPr/>
        </p:nvSpPr>
        <p:spPr>
          <a:xfrm>
            <a:off x="914400" y="4069080"/>
            <a:ext cx="548640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How the clock works</a:t>
            </a:r>
            <a:endParaRPr lang="en-US" sz="1600" dirty="0"/>
          </a:p>
        </p:txBody>
      </p:sp>
      <p:sp>
        <p:nvSpPr>
          <p:cNvPr id="18" name="Shape 16"/>
          <p:cNvSpPr/>
          <p:nvPr/>
        </p:nvSpPr>
        <p:spPr>
          <a:xfrm>
            <a:off x="914400" y="4617720"/>
            <a:ext cx="2514600" cy="1371600"/>
          </a:xfrm>
          <a:prstGeom prst="roundRect">
            <a:avLst>
              <a:gd name="adj" fmla="val 6000"/>
            </a:avLst>
          </a:prstGeom>
          <a:solidFill>
            <a:srgbClr val="1E3350"/>
          </a:solidFill>
          <a:ln/>
          <a:effectLst>
            <a:outerShdw sx="100000" sy="100000" kx="0" ky="0" algn="bl" rotWithShape="0" blurRad="101600" dist="38100" dir="5400000">
              <a:srgbClr val="9AA7B4">
                <a:alpha val="35000"/>
              </a:srgbClr>
            </a:outerShdw>
          </a:effectLst>
        </p:spPr>
      </p:sp>
      <p:sp>
        <p:nvSpPr>
          <p:cNvPr id="19" name="Shape 17"/>
          <p:cNvSpPr/>
          <p:nvPr/>
        </p:nvSpPr>
        <p:spPr>
          <a:xfrm>
            <a:off x="1143000" y="4828032"/>
            <a:ext cx="274320" cy="274320"/>
          </a:xfrm>
          <a:prstGeom prst="ellipse">
            <a:avLst/>
          </a:prstGeom>
          <a:solidFill>
            <a:srgbClr val="2FB27F"/>
          </a:solidFill>
          <a:ln/>
        </p:spPr>
      </p:sp>
      <p:sp>
        <p:nvSpPr>
          <p:cNvPr id="20" name="Text 18"/>
          <p:cNvSpPr txBox="1"/>
          <p:nvPr/>
        </p:nvSpPr>
        <p:spPr>
          <a:xfrm>
            <a:off x="1508760" y="4754880"/>
            <a:ext cx="187452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On track</a:t>
            </a:r>
            <a:endParaRPr lang="en-US" sz="1500" dirty="0"/>
          </a:p>
        </p:txBody>
      </p:sp>
      <p:sp>
        <p:nvSpPr>
          <p:cNvPr id="21" name="Text 19"/>
          <p:cNvSpPr txBox="1"/>
          <p:nvPr/>
        </p:nvSpPr>
        <p:spPr>
          <a:xfrm>
            <a:off x="1161288" y="5230368"/>
            <a:ext cx="2057400" cy="640080"/>
          </a:xfrm>
          <a:prstGeom prst="rect">
            <a:avLst/>
          </a:prstGeom>
          <a:noFill/>
          <a:ln/>
        </p:spPr>
        <p:txBody>
          <a:bodyPr wrap="square" lIns="0" tIns="0" rIns="0" bIns="0" rtlCol="0" anchor="ctr"/>
          <a:lstStyle/>
          <a:p>
            <a:pPr indent="0" marL="0">
              <a:buNone/>
            </a:pPr>
            <a:r>
              <a:rPr lang="en-US" sz="1200" dirty="0">
                <a:solidFill>
                  <a:srgbClr val="9FB4CC"/>
                </a:solidFill>
                <a:latin typeface="Calibri" pitchFamily="34" charset="0"/>
                <a:ea typeface="Calibri" pitchFamily="34" charset="-122"/>
                <a:cs typeface="Calibri" pitchFamily="34" charset="-120"/>
              </a:rPr>
              <a:t>Plenty of time left</a:t>
            </a:r>
            <a:endParaRPr lang="en-US" sz="1200" dirty="0"/>
          </a:p>
        </p:txBody>
      </p:sp>
      <p:sp>
        <p:nvSpPr>
          <p:cNvPr id="22" name="Text 20"/>
          <p:cNvSpPr txBox="1"/>
          <p:nvPr/>
        </p:nvSpPr>
        <p:spPr>
          <a:xfrm>
            <a:off x="3410712" y="4937760"/>
            <a:ext cx="219456" cy="457200"/>
          </a:xfrm>
          <a:prstGeom prst="rect">
            <a:avLst/>
          </a:prstGeom>
          <a:noFill/>
          <a:ln/>
        </p:spPr>
        <p:txBody>
          <a:bodyPr wrap="square" lIns="0" tIns="0" rIns="0" bIns="0" rtlCol="0" anchor="ctr"/>
          <a:lstStyle/>
          <a:p>
            <a:pPr algn="ctr" indent="0" marL="0">
              <a:buNone/>
            </a:pPr>
            <a:r>
              <a:rPr lang="en-US" sz="2000" b="1" dirty="0">
                <a:solidFill>
                  <a:srgbClr val="3B82F6"/>
                </a:solidFill>
                <a:latin typeface="Calibri" pitchFamily="34" charset="0"/>
                <a:ea typeface="Calibri" pitchFamily="34" charset="-122"/>
                <a:cs typeface="Calibri" pitchFamily="34" charset="-120"/>
              </a:rPr>
              <a:t>&gt;</a:t>
            </a:r>
            <a:endParaRPr lang="en-US" sz="2000" dirty="0"/>
          </a:p>
        </p:txBody>
      </p:sp>
      <p:sp>
        <p:nvSpPr>
          <p:cNvPr id="23" name="Shape 21"/>
          <p:cNvSpPr/>
          <p:nvPr/>
        </p:nvSpPr>
        <p:spPr>
          <a:xfrm>
            <a:off x="3611880" y="4617720"/>
            <a:ext cx="2514600" cy="1371600"/>
          </a:xfrm>
          <a:prstGeom prst="roundRect">
            <a:avLst>
              <a:gd name="adj" fmla="val 6000"/>
            </a:avLst>
          </a:prstGeom>
          <a:solidFill>
            <a:srgbClr val="1E3350"/>
          </a:solidFill>
          <a:ln/>
          <a:effectLst>
            <a:outerShdw sx="100000" sy="100000" kx="0" ky="0" algn="bl" rotWithShape="0" blurRad="101600" dist="38100" dir="5400000">
              <a:srgbClr val="9AA7B4">
                <a:alpha val="35000"/>
              </a:srgbClr>
            </a:outerShdw>
          </a:effectLst>
        </p:spPr>
      </p:sp>
      <p:sp>
        <p:nvSpPr>
          <p:cNvPr id="24" name="Shape 22"/>
          <p:cNvSpPr/>
          <p:nvPr/>
        </p:nvSpPr>
        <p:spPr>
          <a:xfrm>
            <a:off x="3840480" y="4828032"/>
            <a:ext cx="274320" cy="274320"/>
          </a:xfrm>
          <a:prstGeom prst="ellipse">
            <a:avLst/>
          </a:prstGeom>
          <a:solidFill>
            <a:srgbClr val="E0B64A"/>
          </a:solidFill>
          <a:ln/>
        </p:spPr>
      </p:sp>
      <p:sp>
        <p:nvSpPr>
          <p:cNvPr id="25" name="Text 23"/>
          <p:cNvSpPr txBox="1"/>
          <p:nvPr/>
        </p:nvSpPr>
        <p:spPr>
          <a:xfrm>
            <a:off x="4206240" y="4754880"/>
            <a:ext cx="187452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At risk</a:t>
            </a:r>
            <a:endParaRPr lang="en-US" sz="1500" dirty="0"/>
          </a:p>
        </p:txBody>
      </p:sp>
      <p:sp>
        <p:nvSpPr>
          <p:cNvPr id="26" name="Text 24"/>
          <p:cNvSpPr txBox="1"/>
          <p:nvPr/>
        </p:nvSpPr>
        <p:spPr>
          <a:xfrm>
            <a:off x="3858768" y="5230368"/>
            <a:ext cx="2057400" cy="640080"/>
          </a:xfrm>
          <a:prstGeom prst="rect">
            <a:avLst/>
          </a:prstGeom>
          <a:noFill/>
          <a:ln/>
        </p:spPr>
        <p:txBody>
          <a:bodyPr wrap="square" lIns="0" tIns="0" rIns="0" bIns="0" rtlCol="0" anchor="ctr"/>
          <a:lstStyle/>
          <a:p>
            <a:pPr indent="0" marL="0">
              <a:buNone/>
            </a:pPr>
            <a:r>
              <a:rPr lang="en-US" sz="1200" dirty="0">
                <a:solidFill>
                  <a:srgbClr val="9FB4CC"/>
                </a:solidFill>
                <a:latin typeface="Calibri" pitchFamily="34" charset="0"/>
                <a:ea typeface="Calibri" pitchFamily="34" charset="-122"/>
                <a:cs typeface="Calibri" pitchFamily="34" charset="-120"/>
              </a:rPr>
              <a:t>Final 25% of the window</a:t>
            </a:r>
            <a:endParaRPr lang="en-US" sz="1200" dirty="0"/>
          </a:p>
        </p:txBody>
      </p:sp>
      <p:sp>
        <p:nvSpPr>
          <p:cNvPr id="27" name="Text 25"/>
          <p:cNvSpPr txBox="1"/>
          <p:nvPr/>
        </p:nvSpPr>
        <p:spPr>
          <a:xfrm>
            <a:off x="6108192" y="4937760"/>
            <a:ext cx="219456" cy="457200"/>
          </a:xfrm>
          <a:prstGeom prst="rect">
            <a:avLst/>
          </a:prstGeom>
          <a:noFill/>
          <a:ln/>
        </p:spPr>
        <p:txBody>
          <a:bodyPr wrap="square" lIns="0" tIns="0" rIns="0" bIns="0" rtlCol="0" anchor="ctr"/>
          <a:lstStyle/>
          <a:p>
            <a:pPr algn="ctr" indent="0" marL="0">
              <a:buNone/>
            </a:pPr>
            <a:r>
              <a:rPr lang="en-US" sz="2000" b="1" dirty="0">
                <a:solidFill>
                  <a:srgbClr val="3B82F6"/>
                </a:solidFill>
                <a:latin typeface="Calibri" pitchFamily="34" charset="0"/>
                <a:ea typeface="Calibri" pitchFamily="34" charset="-122"/>
                <a:cs typeface="Calibri" pitchFamily="34" charset="-120"/>
              </a:rPr>
              <a:t>&gt;</a:t>
            </a:r>
            <a:endParaRPr lang="en-US" sz="2000" dirty="0"/>
          </a:p>
        </p:txBody>
      </p:sp>
      <p:sp>
        <p:nvSpPr>
          <p:cNvPr id="28" name="Shape 26"/>
          <p:cNvSpPr/>
          <p:nvPr/>
        </p:nvSpPr>
        <p:spPr>
          <a:xfrm>
            <a:off x="6309360" y="4617720"/>
            <a:ext cx="2514600" cy="1371600"/>
          </a:xfrm>
          <a:prstGeom prst="roundRect">
            <a:avLst>
              <a:gd name="adj" fmla="val 6000"/>
            </a:avLst>
          </a:prstGeom>
          <a:solidFill>
            <a:srgbClr val="1E3350"/>
          </a:solidFill>
          <a:ln/>
          <a:effectLst>
            <a:outerShdw sx="100000" sy="100000" kx="0" ky="0" algn="bl" rotWithShape="0" blurRad="101600" dist="38100" dir="5400000">
              <a:srgbClr val="9AA7B4">
                <a:alpha val="35000"/>
              </a:srgbClr>
            </a:outerShdw>
          </a:effectLst>
        </p:spPr>
      </p:sp>
      <p:sp>
        <p:nvSpPr>
          <p:cNvPr id="29" name="Shape 27"/>
          <p:cNvSpPr/>
          <p:nvPr/>
        </p:nvSpPr>
        <p:spPr>
          <a:xfrm>
            <a:off x="6537960" y="4828032"/>
            <a:ext cx="274320" cy="274320"/>
          </a:xfrm>
          <a:prstGeom prst="ellipse">
            <a:avLst/>
          </a:prstGeom>
          <a:solidFill>
            <a:srgbClr val="E5484D"/>
          </a:solidFill>
          <a:ln/>
        </p:spPr>
      </p:sp>
      <p:sp>
        <p:nvSpPr>
          <p:cNvPr id="30" name="Text 28"/>
          <p:cNvSpPr txBox="1"/>
          <p:nvPr/>
        </p:nvSpPr>
        <p:spPr>
          <a:xfrm>
            <a:off x="6903720" y="4754880"/>
            <a:ext cx="187452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Breached</a:t>
            </a:r>
            <a:endParaRPr lang="en-US" sz="1500" dirty="0"/>
          </a:p>
        </p:txBody>
      </p:sp>
      <p:sp>
        <p:nvSpPr>
          <p:cNvPr id="31" name="Text 29"/>
          <p:cNvSpPr txBox="1"/>
          <p:nvPr/>
        </p:nvSpPr>
        <p:spPr>
          <a:xfrm>
            <a:off x="6556248" y="5230368"/>
            <a:ext cx="2057400" cy="640080"/>
          </a:xfrm>
          <a:prstGeom prst="rect">
            <a:avLst/>
          </a:prstGeom>
          <a:noFill/>
          <a:ln/>
        </p:spPr>
        <p:txBody>
          <a:bodyPr wrap="square" lIns="0" tIns="0" rIns="0" bIns="0" rtlCol="0" anchor="ctr"/>
          <a:lstStyle/>
          <a:p>
            <a:pPr indent="0" marL="0">
              <a:buNone/>
            </a:pPr>
            <a:r>
              <a:rPr lang="en-US" sz="1200" dirty="0">
                <a:solidFill>
                  <a:srgbClr val="9FB4CC"/>
                </a:solidFill>
                <a:latin typeface="Calibri" pitchFamily="34" charset="0"/>
                <a:ea typeface="Calibri" pitchFamily="34" charset="-122"/>
                <a:cs typeface="Calibri" pitchFamily="34" charset="-120"/>
              </a:rPr>
              <a:t>Deadline passed</a:t>
            </a:r>
            <a:endParaRPr lang="en-US" sz="1200" dirty="0"/>
          </a:p>
        </p:txBody>
      </p:sp>
      <p:sp>
        <p:nvSpPr>
          <p:cNvPr id="32" name="Text 30"/>
          <p:cNvSpPr txBox="1"/>
          <p:nvPr/>
        </p:nvSpPr>
        <p:spPr>
          <a:xfrm>
            <a:off x="8805672" y="4937760"/>
            <a:ext cx="219456" cy="457200"/>
          </a:xfrm>
          <a:prstGeom prst="rect">
            <a:avLst/>
          </a:prstGeom>
          <a:noFill/>
          <a:ln/>
        </p:spPr>
        <p:txBody>
          <a:bodyPr wrap="square" lIns="0" tIns="0" rIns="0" bIns="0" rtlCol="0" anchor="ctr"/>
          <a:lstStyle/>
          <a:p>
            <a:pPr algn="ctr" indent="0" marL="0">
              <a:buNone/>
            </a:pPr>
            <a:r>
              <a:rPr lang="en-US" sz="2000" b="1" dirty="0">
                <a:solidFill>
                  <a:srgbClr val="3B82F6"/>
                </a:solidFill>
                <a:latin typeface="Calibri" pitchFamily="34" charset="0"/>
                <a:ea typeface="Calibri" pitchFamily="34" charset="-122"/>
                <a:cs typeface="Calibri" pitchFamily="34" charset="-120"/>
              </a:rPr>
              <a:t>&gt;</a:t>
            </a:r>
            <a:endParaRPr lang="en-US" sz="2000" dirty="0"/>
          </a:p>
        </p:txBody>
      </p:sp>
      <p:sp>
        <p:nvSpPr>
          <p:cNvPr id="33" name="Shape 31"/>
          <p:cNvSpPr/>
          <p:nvPr/>
        </p:nvSpPr>
        <p:spPr>
          <a:xfrm>
            <a:off x="9006840" y="4617720"/>
            <a:ext cx="2514600" cy="1371600"/>
          </a:xfrm>
          <a:prstGeom prst="roundRect">
            <a:avLst>
              <a:gd name="adj" fmla="val 6000"/>
            </a:avLst>
          </a:prstGeom>
          <a:solidFill>
            <a:srgbClr val="1E3350"/>
          </a:solidFill>
          <a:ln/>
          <a:effectLst>
            <a:outerShdw sx="100000" sy="100000" kx="0" ky="0" algn="bl" rotWithShape="0" blurRad="101600" dist="38100" dir="5400000">
              <a:srgbClr val="9AA7B4">
                <a:alpha val="35000"/>
              </a:srgbClr>
            </a:outerShdw>
          </a:effectLst>
        </p:spPr>
      </p:sp>
      <p:sp>
        <p:nvSpPr>
          <p:cNvPr id="34" name="Shape 32"/>
          <p:cNvSpPr/>
          <p:nvPr/>
        </p:nvSpPr>
        <p:spPr>
          <a:xfrm>
            <a:off x="9235440" y="4828032"/>
            <a:ext cx="274320" cy="274320"/>
          </a:xfrm>
          <a:prstGeom prst="ellipse">
            <a:avLst/>
          </a:prstGeom>
          <a:solidFill>
            <a:srgbClr val="E8863C"/>
          </a:solidFill>
          <a:ln/>
        </p:spPr>
      </p:sp>
      <p:sp>
        <p:nvSpPr>
          <p:cNvPr id="35" name="Text 33"/>
          <p:cNvSpPr txBox="1"/>
          <p:nvPr/>
        </p:nvSpPr>
        <p:spPr>
          <a:xfrm>
            <a:off x="9601200" y="4754880"/>
            <a:ext cx="187452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Escalated</a:t>
            </a:r>
            <a:endParaRPr lang="en-US" sz="1500" dirty="0"/>
          </a:p>
        </p:txBody>
      </p:sp>
      <p:sp>
        <p:nvSpPr>
          <p:cNvPr id="36" name="Text 34"/>
          <p:cNvSpPr txBox="1"/>
          <p:nvPr/>
        </p:nvSpPr>
        <p:spPr>
          <a:xfrm>
            <a:off x="9253728" y="5230368"/>
            <a:ext cx="2057400" cy="640080"/>
          </a:xfrm>
          <a:prstGeom prst="rect">
            <a:avLst/>
          </a:prstGeom>
          <a:noFill/>
          <a:ln/>
        </p:spPr>
        <p:txBody>
          <a:bodyPr wrap="square" lIns="0" tIns="0" rIns="0" bIns="0" rtlCol="0" anchor="ctr"/>
          <a:lstStyle/>
          <a:p>
            <a:pPr indent="0" marL="0">
              <a:buNone/>
            </a:pPr>
            <a:r>
              <a:rPr lang="en-US" sz="1200" dirty="0">
                <a:solidFill>
                  <a:srgbClr val="9FB4CC"/>
                </a:solidFill>
                <a:latin typeface="Calibri" pitchFamily="34" charset="0"/>
                <a:ea typeface="Calibri" pitchFamily="34" charset="-122"/>
                <a:cs typeface="Calibri" pitchFamily="34" charset="-120"/>
              </a:rPr>
              <a:t>Auto-raised to the top</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5486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The Analyst Console</a:t>
            </a:r>
            <a:endParaRPr lang="en-US" sz="2800" dirty="0"/>
          </a:p>
        </p:txBody>
      </p:sp>
      <p:sp>
        <p:nvSpPr>
          <p:cNvPr id="3" name="Text 1"/>
          <p:cNvSpPr txBox="1"/>
          <p:nvPr/>
        </p:nvSpPr>
        <p:spPr>
          <a:xfrm>
            <a:off x="548640" y="868680"/>
            <a:ext cx="11091672" cy="365760"/>
          </a:xfrm>
          <a:prstGeom prst="rect">
            <a:avLst/>
          </a:prstGeom>
          <a:noFill/>
          <a:ln/>
        </p:spPr>
        <p:txBody>
          <a:bodyPr wrap="square" lIns="0" tIns="0" rIns="0" bIns="0" rtlCol="0" anchor="ctr"/>
          <a:lstStyle/>
          <a:p>
            <a:pPr indent="0" marL="0">
              <a:buNone/>
            </a:pPr>
            <a:r>
              <a:rPr lang="en-US" sz="1400" dirty="0">
                <a:solidFill>
                  <a:srgbClr val="9FB4CC"/>
                </a:solidFill>
                <a:latin typeface="Calibri" pitchFamily="34" charset="0"/>
                <a:ea typeface="Calibri" pitchFamily="34" charset="-122"/>
                <a:cs typeface="Calibri" pitchFamily="34" charset="-120"/>
              </a:rPr>
              <a:t>Everything on one screen: risk-ranked queue, live SLA timers, team metrics, ATT&amp;CK coverage.</a:t>
            </a:r>
            <a:endParaRPr lang="en-US" sz="1400" dirty="0"/>
          </a:p>
        </p:txBody>
      </p:sp>
      <p:pic>
        <p:nvPicPr>
          <p:cNvPr id="4" name="Image 0" descr="docs/dashboard.png">    </p:cNvPr>
          <p:cNvPicPr>
            <a:picLocks noChangeAspect="1"/>
          </p:cNvPicPr>
          <p:nvPr/>
        </p:nvPicPr>
        <p:blipFill>
          <a:blip r:embed="rId1"/>
          <a:srcRect l="0" r="0" t="0" b="0"/>
          <a:stretch/>
        </p:blipFill>
        <p:spPr>
          <a:xfrm>
            <a:off x="548640" y="1371600"/>
            <a:ext cx="8138160" cy="5120640"/>
          </a:xfrm>
          <a:prstGeom prst="rect">
            <a:avLst/>
          </a:prstGeom>
        </p:spPr>
      </p:pic>
      <p:sp>
        <p:nvSpPr>
          <p:cNvPr id="5" name="Shape 2"/>
          <p:cNvSpPr/>
          <p:nvPr/>
        </p:nvSpPr>
        <p:spPr>
          <a:xfrm>
            <a:off x="9052560" y="1554480"/>
            <a:ext cx="457200" cy="457200"/>
          </a:xfrm>
          <a:prstGeom prst="ellipse">
            <a:avLst/>
          </a:prstGeom>
          <a:solidFill>
            <a:srgbClr val="3B82F6"/>
          </a:solidFill>
          <a:ln/>
        </p:spPr>
      </p:sp>
      <p:pic>
        <p:nvPicPr>
          <p:cNvPr id="6" name="Image 1" descr="preencoded.png">    </p:cNvPr>
          <p:cNvPicPr>
            <a:picLocks noChangeAspect="1"/>
          </p:cNvPicPr>
          <p:nvPr/>
        </p:nvPicPr>
        <p:blipFill>
          <a:blip r:embed="rId2"/>
          <a:stretch>
            <a:fillRect/>
          </a:stretch>
        </p:blipFill>
        <p:spPr>
          <a:xfrm>
            <a:off x="9166860" y="1668780"/>
            <a:ext cx="228600" cy="228600"/>
          </a:xfrm>
          <a:prstGeom prst="rect">
            <a:avLst/>
          </a:prstGeom>
        </p:spPr>
      </p:pic>
      <p:sp>
        <p:nvSpPr>
          <p:cNvPr id="7" name="Text 3"/>
          <p:cNvSpPr txBox="1"/>
          <p:nvPr/>
        </p:nvSpPr>
        <p:spPr>
          <a:xfrm>
            <a:off x="9601200" y="1508760"/>
            <a:ext cx="23774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KPI row</a:t>
            </a:r>
            <a:endParaRPr lang="en-US" sz="1400" dirty="0"/>
          </a:p>
        </p:txBody>
      </p:sp>
      <p:sp>
        <p:nvSpPr>
          <p:cNvPr id="8" name="Text 4"/>
          <p:cNvSpPr txBox="1"/>
          <p:nvPr/>
        </p:nvSpPr>
        <p:spPr>
          <a:xfrm>
            <a:off x="9601200" y="1856232"/>
            <a:ext cx="2423160" cy="640080"/>
          </a:xfrm>
          <a:prstGeom prst="rect">
            <a:avLst/>
          </a:prstGeom>
          <a:noFill/>
          <a:ln/>
        </p:spPr>
        <p:txBody>
          <a:bodyPr wrap="square" lIns="0" tIns="0" rIns="0" bIns="0" rtlCol="0" anchor="ctr"/>
          <a:lstStyle/>
          <a:p>
            <a:pPr indent="0" marL="0">
              <a:buNone/>
            </a:pPr>
            <a:r>
              <a:rPr lang="en-US" sz="1150" dirty="0">
                <a:solidFill>
                  <a:srgbClr val="9FB4CC"/>
                </a:solidFill>
                <a:latin typeface="Calibri" pitchFamily="34" charset="0"/>
                <a:ea typeface="Calibri" pitchFamily="34" charset="-122"/>
                <a:cs typeface="Calibri" pitchFamily="34" charset="-120"/>
              </a:rPr>
              <a:t>open, escalated, MTTA, MTTR, SLA %</a:t>
            </a:r>
            <a:endParaRPr lang="en-US" sz="1150" dirty="0"/>
          </a:p>
        </p:txBody>
      </p:sp>
      <p:sp>
        <p:nvSpPr>
          <p:cNvPr id="9" name="Shape 5"/>
          <p:cNvSpPr/>
          <p:nvPr/>
        </p:nvSpPr>
        <p:spPr>
          <a:xfrm>
            <a:off x="9052560" y="2743200"/>
            <a:ext cx="457200" cy="457200"/>
          </a:xfrm>
          <a:prstGeom prst="ellipse">
            <a:avLst/>
          </a:prstGeom>
          <a:solidFill>
            <a:srgbClr val="3B82F6"/>
          </a:solidFill>
          <a:ln/>
        </p:spPr>
      </p:sp>
      <p:pic>
        <p:nvPicPr>
          <p:cNvPr id="10" name="Image 2" descr="preencoded.png">    </p:cNvPr>
          <p:cNvPicPr>
            <a:picLocks noChangeAspect="1"/>
          </p:cNvPicPr>
          <p:nvPr/>
        </p:nvPicPr>
        <p:blipFill>
          <a:blip r:embed="rId3"/>
          <a:stretch>
            <a:fillRect/>
          </a:stretch>
        </p:blipFill>
        <p:spPr>
          <a:xfrm>
            <a:off x="9166860" y="2857500"/>
            <a:ext cx="228600" cy="228600"/>
          </a:xfrm>
          <a:prstGeom prst="rect">
            <a:avLst/>
          </a:prstGeom>
        </p:spPr>
      </p:pic>
      <p:sp>
        <p:nvSpPr>
          <p:cNvPr id="11" name="Text 6"/>
          <p:cNvSpPr txBox="1"/>
          <p:nvPr/>
        </p:nvSpPr>
        <p:spPr>
          <a:xfrm>
            <a:off x="9601200" y="2697480"/>
            <a:ext cx="23774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Risk-ranked queue</a:t>
            </a:r>
            <a:endParaRPr lang="en-US" sz="1400" dirty="0"/>
          </a:p>
        </p:txBody>
      </p:sp>
      <p:sp>
        <p:nvSpPr>
          <p:cNvPr id="12" name="Text 7"/>
          <p:cNvSpPr txBox="1"/>
          <p:nvPr/>
        </p:nvSpPr>
        <p:spPr>
          <a:xfrm>
            <a:off x="9601200" y="3044952"/>
            <a:ext cx="2423160" cy="640080"/>
          </a:xfrm>
          <a:prstGeom prst="rect">
            <a:avLst/>
          </a:prstGeom>
          <a:noFill/>
          <a:ln/>
        </p:spPr>
        <p:txBody>
          <a:bodyPr wrap="square" lIns="0" tIns="0" rIns="0" bIns="0" rtlCol="0" anchor="ctr"/>
          <a:lstStyle/>
          <a:p>
            <a:pPr indent="0" marL="0">
              <a:buNone/>
            </a:pPr>
            <a:r>
              <a:rPr lang="en-US" sz="1150" dirty="0">
                <a:solidFill>
                  <a:srgbClr val="9FB4CC"/>
                </a:solidFill>
                <a:latin typeface="Calibri" pitchFamily="34" charset="0"/>
                <a:ea typeface="Calibri" pitchFamily="34" charset="-122"/>
                <a:cs typeface="Calibri" pitchFamily="34" charset="-120"/>
              </a:rPr>
              <a:t>worst incidents first, ESC = escalated</a:t>
            </a:r>
            <a:endParaRPr lang="en-US" sz="1150" dirty="0"/>
          </a:p>
        </p:txBody>
      </p:sp>
      <p:sp>
        <p:nvSpPr>
          <p:cNvPr id="13" name="Shape 8"/>
          <p:cNvSpPr/>
          <p:nvPr/>
        </p:nvSpPr>
        <p:spPr>
          <a:xfrm>
            <a:off x="9052560" y="3931920"/>
            <a:ext cx="457200" cy="457200"/>
          </a:xfrm>
          <a:prstGeom prst="ellipse">
            <a:avLst/>
          </a:prstGeom>
          <a:solidFill>
            <a:srgbClr val="3B82F6"/>
          </a:solidFill>
          <a:ln/>
        </p:spPr>
      </p:sp>
      <p:pic>
        <p:nvPicPr>
          <p:cNvPr id="14" name="Image 3" descr="preencoded.png">    </p:cNvPr>
          <p:cNvPicPr>
            <a:picLocks noChangeAspect="1"/>
          </p:cNvPicPr>
          <p:nvPr/>
        </p:nvPicPr>
        <p:blipFill>
          <a:blip r:embed="rId4"/>
          <a:stretch>
            <a:fillRect/>
          </a:stretch>
        </p:blipFill>
        <p:spPr>
          <a:xfrm>
            <a:off x="9166860" y="4046220"/>
            <a:ext cx="228600" cy="228600"/>
          </a:xfrm>
          <a:prstGeom prst="rect">
            <a:avLst/>
          </a:prstGeom>
        </p:spPr>
      </p:pic>
      <p:sp>
        <p:nvSpPr>
          <p:cNvPr id="15" name="Text 9"/>
          <p:cNvSpPr txBox="1"/>
          <p:nvPr/>
        </p:nvSpPr>
        <p:spPr>
          <a:xfrm>
            <a:off x="9601200" y="3886200"/>
            <a:ext cx="23774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SLA chips</a:t>
            </a:r>
            <a:endParaRPr lang="en-US" sz="1400" dirty="0"/>
          </a:p>
        </p:txBody>
      </p:sp>
      <p:sp>
        <p:nvSpPr>
          <p:cNvPr id="16" name="Text 10"/>
          <p:cNvSpPr txBox="1"/>
          <p:nvPr/>
        </p:nvSpPr>
        <p:spPr>
          <a:xfrm>
            <a:off x="9601200" y="4233672"/>
            <a:ext cx="2423160" cy="640080"/>
          </a:xfrm>
          <a:prstGeom prst="rect">
            <a:avLst/>
          </a:prstGeom>
          <a:noFill/>
          <a:ln/>
        </p:spPr>
        <p:txBody>
          <a:bodyPr wrap="square" lIns="0" tIns="0" rIns="0" bIns="0" rtlCol="0" anchor="ctr"/>
          <a:lstStyle/>
          <a:p>
            <a:pPr indent="0" marL="0">
              <a:buNone/>
            </a:pPr>
            <a:r>
              <a:rPr lang="en-US" sz="1150" dirty="0">
                <a:solidFill>
                  <a:srgbClr val="9FB4CC"/>
                </a:solidFill>
                <a:latin typeface="Calibri" pitchFamily="34" charset="0"/>
                <a:ea typeface="Calibri" pitchFamily="34" charset="-122"/>
                <a:cs typeface="Calibri" pitchFamily="34" charset="-120"/>
              </a:rPr>
              <a:t>countdown per incident</a:t>
            </a:r>
            <a:endParaRPr lang="en-US" sz="1150" dirty="0"/>
          </a:p>
        </p:txBody>
      </p:sp>
      <p:sp>
        <p:nvSpPr>
          <p:cNvPr id="17" name="Shape 11"/>
          <p:cNvSpPr/>
          <p:nvPr/>
        </p:nvSpPr>
        <p:spPr>
          <a:xfrm>
            <a:off x="9052560" y="5120640"/>
            <a:ext cx="457200" cy="457200"/>
          </a:xfrm>
          <a:prstGeom prst="ellipse">
            <a:avLst/>
          </a:prstGeom>
          <a:solidFill>
            <a:srgbClr val="3B82F6"/>
          </a:solidFill>
          <a:ln/>
        </p:spPr>
      </p:sp>
      <p:pic>
        <p:nvPicPr>
          <p:cNvPr id="18" name="Image 4" descr="preencoded.png">    </p:cNvPr>
          <p:cNvPicPr>
            <a:picLocks noChangeAspect="1"/>
          </p:cNvPicPr>
          <p:nvPr/>
        </p:nvPicPr>
        <p:blipFill>
          <a:blip r:embed="rId5"/>
          <a:stretch>
            <a:fillRect/>
          </a:stretch>
        </p:blipFill>
        <p:spPr>
          <a:xfrm>
            <a:off x="9166860" y="5234940"/>
            <a:ext cx="228600" cy="228600"/>
          </a:xfrm>
          <a:prstGeom prst="rect">
            <a:avLst/>
          </a:prstGeom>
        </p:spPr>
      </p:pic>
      <p:sp>
        <p:nvSpPr>
          <p:cNvPr id="19" name="Text 12"/>
          <p:cNvSpPr txBox="1"/>
          <p:nvPr/>
        </p:nvSpPr>
        <p:spPr>
          <a:xfrm>
            <a:off x="9601200" y="5074920"/>
            <a:ext cx="23774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ATT&amp;CK heatmap</a:t>
            </a:r>
            <a:endParaRPr lang="en-US" sz="1400" dirty="0"/>
          </a:p>
        </p:txBody>
      </p:sp>
      <p:sp>
        <p:nvSpPr>
          <p:cNvPr id="20" name="Text 13"/>
          <p:cNvSpPr txBox="1"/>
          <p:nvPr/>
        </p:nvSpPr>
        <p:spPr>
          <a:xfrm>
            <a:off x="9601200" y="5422392"/>
            <a:ext cx="2423160" cy="640080"/>
          </a:xfrm>
          <a:prstGeom prst="rect">
            <a:avLst/>
          </a:prstGeom>
          <a:noFill/>
          <a:ln/>
        </p:spPr>
        <p:txBody>
          <a:bodyPr wrap="square" lIns="0" tIns="0" rIns="0" bIns="0" rtlCol="0" anchor="ctr"/>
          <a:lstStyle/>
          <a:p>
            <a:pPr indent="0" marL="0">
              <a:buNone/>
            </a:pPr>
            <a:r>
              <a:rPr lang="en-US" sz="1150" dirty="0">
                <a:solidFill>
                  <a:srgbClr val="9FB4CC"/>
                </a:solidFill>
                <a:latin typeface="Calibri" pitchFamily="34" charset="0"/>
                <a:ea typeface="Calibri" pitchFamily="34" charset="-122"/>
                <a:cs typeface="Calibri" pitchFamily="34" charset="-120"/>
              </a:rPr>
              <a:t>techniques seen light up</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algn="l" indent="0" marL="0">
              <a:buNone/>
            </a:pPr>
            <a:r>
              <a:rPr lang="en-US" sz="3000" b="1" dirty="0">
                <a:solidFill>
                  <a:srgbClr val="16263A"/>
                </a:solidFill>
                <a:latin typeface="Calibri" pitchFamily="34" charset="0"/>
                <a:ea typeface="Calibri" pitchFamily="34" charset="-122"/>
                <a:cs typeface="Calibri" pitchFamily="34" charset="-120"/>
              </a:rPr>
              <a:t>Working an Incident</a:t>
            </a:r>
            <a:endParaRPr lang="en-US" sz="3000" dirty="0"/>
          </a:p>
        </p:txBody>
      </p:sp>
      <p:sp>
        <p:nvSpPr>
          <p:cNvPr id="3" name="Text 1"/>
          <p:cNvSpPr txBox="1"/>
          <p:nvPr/>
        </p:nvSpPr>
        <p:spPr>
          <a:xfrm>
            <a:off x="548640" y="969264"/>
            <a:ext cx="11091672" cy="365760"/>
          </a:xfrm>
          <a:prstGeom prst="rect">
            <a:avLst/>
          </a:prstGeom>
          <a:noFill/>
          <a:ln/>
        </p:spPr>
        <p:txBody>
          <a:bodyPr wrap="square" lIns="0" tIns="0" rIns="0" bIns="0" rtlCol="0" anchor="ctr"/>
          <a:lstStyle/>
          <a:p>
            <a:pPr algn="l" indent="0" marL="0">
              <a:buNone/>
            </a:pPr>
            <a:r>
              <a:rPr lang="en-US" sz="1500" dirty="0">
                <a:solidFill>
                  <a:srgbClr val="5B6B7B"/>
                </a:solidFill>
                <a:latin typeface="Calibri" pitchFamily="34" charset="0"/>
                <a:ea typeface="Calibri" pitchFamily="34" charset="-122"/>
                <a:cs typeface="Calibri" pitchFamily="34" charset="-120"/>
              </a:rPr>
              <a:t>Click any incident: context, a response playbook, and one-click actions.</a:t>
            </a:r>
            <a:endParaRPr lang="en-US" sz="1500" dirty="0"/>
          </a:p>
        </p:txBody>
      </p:sp>
      <p:pic>
        <p:nvPicPr>
          <p:cNvPr id="4" name="Image 0" descr="docs/incident_detail.png">    </p:cNvPr>
          <p:cNvPicPr>
            <a:picLocks noChangeAspect="1"/>
          </p:cNvPicPr>
          <p:nvPr/>
        </p:nvPicPr>
        <p:blipFill>
          <a:blip r:embed="rId1"/>
          <a:srcRect l="0" r="0" t="0" b="0"/>
          <a:stretch/>
        </p:blipFill>
        <p:spPr>
          <a:xfrm>
            <a:off x="548640" y="1417320"/>
            <a:ext cx="6583680" cy="4937760"/>
          </a:xfrm>
          <a:prstGeom prst="rect">
            <a:avLst/>
          </a:prstGeom>
        </p:spPr>
      </p:pic>
      <p:sp>
        <p:nvSpPr>
          <p:cNvPr id="5" name="Shape 2"/>
          <p:cNvSpPr/>
          <p:nvPr/>
        </p:nvSpPr>
        <p:spPr>
          <a:xfrm>
            <a:off x="7406640" y="1600200"/>
            <a:ext cx="4251960" cy="1078992"/>
          </a:xfrm>
          <a:prstGeom prst="roundRect">
            <a:avLst>
              <a:gd name="adj" fmla="val 7627"/>
            </a:avLst>
          </a:prstGeom>
          <a:solidFill>
            <a:srgbClr val="F1F5F9"/>
          </a:solidFill>
          <a:ln/>
          <a:effectLst>
            <a:outerShdw sx="100000" sy="100000" kx="0" ky="0" algn="bl" rotWithShape="0" blurRad="101600" dist="38100" dir="5400000">
              <a:srgbClr val="9AA7B4">
                <a:alpha val="35000"/>
              </a:srgbClr>
            </a:outerShdw>
          </a:effectLst>
        </p:spPr>
      </p:sp>
      <p:sp>
        <p:nvSpPr>
          <p:cNvPr id="6" name="Shape 3"/>
          <p:cNvSpPr/>
          <p:nvPr/>
        </p:nvSpPr>
        <p:spPr>
          <a:xfrm>
            <a:off x="7607808" y="1874520"/>
            <a:ext cx="548640" cy="548640"/>
          </a:xfrm>
          <a:prstGeom prst="ellipse">
            <a:avLst/>
          </a:prstGeom>
          <a:solidFill>
            <a:srgbClr val="E5484D"/>
          </a:solidFill>
          <a:ln/>
        </p:spPr>
      </p:sp>
      <p:pic>
        <p:nvPicPr>
          <p:cNvPr id="7" name="Image 1" descr="preencoded.png">    </p:cNvPr>
          <p:cNvPicPr>
            <a:picLocks noChangeAspect="1"/>
          </p:cNvPicPr>
          <p:nvPr/>
        </p:nvPicPr>
        <p:blipFill>
          <a:blip r:embed="rId2"/>
          <a:stretch>
            <a:fillRect/>
          </a:stretch>
        </p:blipFill>
        <p:spPr>
          <a:xfrm>
            <a:off x="7744968" y="2011680"/>
            <a:ext cx="274320" cy="274320"/>
          </a:xfrm>
          <a:prstGeom prst="rect">
            <a:avLst/>
          </a:prstGeom>
        </p:spPr>
      </p:pic>
      <p:sp>
        <p:nvSpPr>
          <p:cNvPr id="8" name="Text 4"/>
          <p:cNvSpPr txBox="1"/>
          <p:nvPr/>
        </p:nvSpPr>
        <p:spPr>
          <a:xfrm>
            <a:off x="8321040" y="1755648"/>
            <a:ext cx="3200400" cy="365760"/>
          </a:xfrm>
          <a:prstGeom prst="rect">
            <a:avLst/>
          </a:prstGeom>
          <a:noFill/>
          <a:ln/>
        </p:spPr>
        <p:txBody>
          <a:bodyPr wrap="square" lIns="0" tIns="0" rIns="0" bIns="0"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Enrichment</a:t>
            </a:r>
            <a:endParaRPr lang="en-US" sz="1500" dirty="0"/>
          </a:p>
        </p:txBody>
      </p:sp>
      <p:sp>
        <p:nvSpPr>
          <p:cNvPr id="9" name="Text 5"/>
          <p:cNvSpPr txBox="1"/>
          <p:nvPr/>
        </p:nvSpPr>
        <p:spPr>
          <a:xfrm>
            <a:off x="8321040" y="2112264"/>
            <a:ext cx="3246120" cy="502920"/>
          </a:xfrm>
          <a:prstGeom prst="rect">
            <a:avLst/>
          </a:prstGeom>
          <a:noFill/>
          <a:ln/>
        </p:spPr>
        <p:txBody>
          <a:bodyPr wrap="square" lIns="0" tIns="0" rIns="0" bIns="0" rtlCol="0" anchor="ctr"/>
          <a:lstStyle/>
          <a:p>
            <a:pPr indent="0" marL="0">
              <a:buNone/>
            </a:pPr>
            <a:r>
              <a:rPr lang="en-US" sz="1200" dirty="0">
                <a:solidFill>
                  <a:srgbClr val="5B6B7B"/>
                </a:solidFill>
                <a:latin typeface="Calibri" pitchFamily="34" charset="0"/>
                <a:ea typeface="Calibri" pitchFamily="34" charset="-122"/>
                <a:cs typeface="Calibri" pitchFamily="34" charset="-120"/>
              </a:rPr>
              <a:t>why it's dangerous, in plain words</a:t>
            </a:r>
            <a:endParaRPr lang="en-US" sz="1200" dirty="0"/>
          </a:p>
        </p:txBody>
      </p:sp>
      <p:sp>
        <p:nvSpPr>
          <p:cNvPr id="10" name="Shape 6"/>
          <p:cNvSpPr/>
          <p:nvPr/>
        </p:nvSpPr>
        <p:spPr>
          <a:xfrm>
            <a:off x="7406640" y="2807208"/>
            <a:ext cx="4251960" cy="1078992"/>
          </a:xfrm>
          <a:prstGeom prst="roundRect">
            <a:avLst>
              <a:gd name="adj" fmla="val 7627"/>
            </a:avLst>
          </a:prstGeom>
          <a:solidFill>
            <a:srgbClr val="F1F5F9"/>
          </a:solidFill>
          <a:ln/>
          <a:effectLst>
            <a:outerShdw sx="100000" sy="100000" kx="0" ky="0" algn="bl" rotWithShape="0" blurRad="101600" dist="38100" dir="5400000">
              <a:srgbClr val="9AA7B4">
                <a:alpha val="35000"/>
              </a:srgbClr>
            </a:outerShdw>
          </a:effectLst>
        </p:spPr>
      </p:sp>
      <p:sp>
        <p:nvSpPr>
          <p:cNvPr id="11" name="Shape 7"/>
          <p:cNvSpPr/>
          <p:nvPr/>
        </p:nvSpPr>
        <p:spPr>
          <a:xfrm>
            <a:off x="7607808" y="3081528"/>
            <a:ext cx="548640" cy="548640"/>
          </a:xfrm>
          <a:prstGeom prst="ellipse">
            <a:avLst/>
          </a:prstGeom>
          <a:solidFill>
            <a:srgbClr val="3B82F6"/>
          </a:solidFill>
          <a:ln/>
        </p:spPr>
      </p:sp>
      <p:pic>
        <p:nvPicPr>
          <p:cNvPr id="12" name="Image 2" descr="preencoded.png">    </p:cNvPr>
          <p:cNvPicPr>
            <a:picLocks noChangeAspect="1"/>
          </p:cNvPicPr>
          <p:nvPr/>
        </p:nvPicPr>
        <p:blipFill>
          <a:blip r:embed="rId3"/>
          <a:stretch>
            <a:fillRect/>
          </a:stretch>
        </p:blipFill>
        <p:spPr>
          <a:xfrm>
            <a:off x="7744968" y="3218688"/>
            <a:ext cx="274320" cy="274320"/>
          </a:xfrm>
          <a:prstGeom prst="rect">
            <a:avLst/>
          </a:prstGeom>
        </p:spPr>
      </p:pic>
      <p:sp>
        <p:nvSpPr>
          <p:cNvPr id="13" name="Text 8"/>
          <p:cNvSpPr txBox="1"/>
          <p:nvPr/>
        </p:nvSpPr>
        <p:spPr>
          <a:xfrm>
            <a:off x="8321040" y="2962656"/>
            <a:ext cx="3200400" cy="365760"/>
          </a:xfrm>
          <a:prstGeom prst="rect">
            <a:avLst/>
          </a:prstGeom>
          <a:noFill/>
          <a:ln/>
        </p:spPr>
        <p:txBody>
          <a:bodyPr wrap="square" lIns="0" tIns="0" rIns="0" bIns="0"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ATT&amp;CK playbook</a:t>
            </a:r>
            <a:endParaRPr lang="en-US" sz="1500" dirty="0"/>
          </a:p>
        </p:txBody>
      </p:sp>
      <p:sp>
        <p:nvSpPr>
          <p:cNvPr id="14" name="Text 9"/>
          <p:cNvSpPr txBox="1"/>
          <p:nvPr/>
        </p:nvSpPr>
        <p:spPr>
          <a:xfrm>
            <a:off x="8321040" y="3319272"/>
            <a:ext cx="3246120" cy="502920"/>
          </a:xfrm>
          <a:prstGeom prst="rect">
            <a:avLst/>
          </a:prstGeom>
          <a:noFill/>
          <a:ln/>
        </p:spPr>
        <p:txBody>
          <a:bodyPr wrap="square" lIns="0" tIns="0" rIns="0" bIns="0" rtlCol="0" anchor="ctr"/>
          <a:lstStyle/>
          <a:p>
            <a:pPr indent="0" marL="0">
              <a:buNone/>
            </a:pPr>
            <a:r>
              <a:rPr lang="en-US" sz="1200" dirty="0">
                <a:solidFill>
                  <a:srgbClr val="5B6B7B"/>
                </a:solidFill>
                <a:latin typeface="Calibri" pitchFamily="34" charset="0"/>
                <a:ea typeface="Calibri" pitchFamily="34" charset="-122"/>
                <a:cs typeface="Calibri" pitchFamily="34" charset="-120"/>
              </a:rPr>
              <a:t>step-by-step response for the analyst</a:t>
            </a:r>
            <a:endParaRPr lang="en-US" sz="1200" dirty="0"/>
          </a:p>
        </p:txBody>
      </p:sp>
      <p:sp>
        <p:nvSpPr>
          <p:cNvPr id="15" name="Shape 10"/>
          <p:cNvSpPr/>
          <p:nvPr/>
        </p:nvSpPr>
        <p:spPr>
          <a:xfrm>
            <a:off x="7406640" y="4014216"/>
            <a:ext cx="4251960" cy="1078992"/>
          </a:xfrm>
          <a:prstGeom prst="roundRect">
            <a:avLst>
              <a:gd name="adj" fmla="val 7627"/>
            </a:avLst>
          </a:prstGeom>
          <a:solidFill>
            <a:srgbClr val="F1F5F9"/>
          </a:solidFill>
          <a:ln/>
          <a:effectLst>
            <a:outerShdw sx="100000" sy="100000" kx="0" ky="0" algn="bl" rotWithShape="0" blurRad="101600" dist="38100" dir="5400000">
              <a:srgbClr val="9AA7B4">
                <a:alpha val="35000"/>
              </a:srgbClr>
            </a:outerShdw>
          </a:effectLst>
        </p:spPr>
      </p:sp>
      <p:sp>
        <p:nvSpPr>
          <p:cNvPr id="16" name="Shape 11"/>
          <p:cNvSpPr/>
          <p:nvPr/>
        </p:nvSpPr>
        <p:spPr>
          <a:xfrm>
            <a:off x="7607808" y="4288536"/>
            <a:ext cx="548640" cy="548640"/>
          </a:xfrm>
          <a:prstGeom prst="ellipse">
            <a:avLst/>
          </a:prstGeom>
          <a:solidFill>
            <a:srgbClr val="2FB27F"/>
          </a:solidFill>
          <a:ln/>
        </p:spPr>
      </p:sp>
      <p:pic>
        <p:nvPicPr>
          <p:cNvPr id="17" name="Image 3" descr="preencoded.png">    </p:cNvPr>
          <p:cNvPicPr>
            <a:picLocks noChangeAspect="1"/>
          </p:cNvPicPr>
          <p:nvPr/>
        </p:nvPicPr>
        <p:blipFill>
          <a:blip r:embed="rId4"/>
          <a:stretch>
            <a:fillRect/>
          </a:stretch>
        </p:blipFill>
        <p:spPr>
          <a:xfrm>
            <a:off x="7744968" y="4425696"/>
            <a:ext cx="274320" cy="274320"/>
          </a:xfrm>
          <a:prstGeom prst="rect">
            <a:avLst/>
          </a:prstGeom>
        </p:spPr>
      </p:pic>
      <p:sp>
        <p:nvSpPr>
          <p:cNvPr id="18" name="Text 12"/>
          <p:cNvSpPr txBox="1"/>
          <p:nvPr/>
        </p:nvSpPr>
        <p:spPr>
          <a:xfrm>
            <a:off x="8321040" y="4169664"/>
            <a:ext cx="3200400" cy="365760"/>
          </a:xfrm>
          <a:prstGeom prst="rect">
            <a:avLst/>
          </a:prstGeom>
          <a:noFill/>
          <a:ln/>
        </p:spPr>
        <p:txBody>
          <a:bodyPr wrap="square" lIns="0" tIns="0" rIns="0" bIns="0"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SLA + actions</a:t>
            </a:r>
            <a:endParaRPr lang="en-US" sz="1500" dirty="0"/>
          </a:p>
        </p:txBody>
      </p:sp>
      <p:sp>
        <p:nvSpPr>
          <p:cNvPr id="19" name="Text 13"/>
          <p:cNvSpPr txBox="1"/>
          <p:nvPr/>
        </p:nvSpPr>
        <p:spPr>
          <a:xfrm>
            <a:off x="8321040" y="4526280"/>
            <a:ext cx="3246120" cy="502920"/>
          </a:xfrm>
          <a:prstGeom prst="rect">
            <a:avLst/>
          </a:prstGeom>
          <a:noFill/>
          <a:ln/>
        </p:spPr>
        <p:txBody>
          <a:bodyPr wrap="square" lIns="0" tIns="0" rIns="0" bIns="0" rtlCol="0" anchor="ctr"/>
          <a:lstStyle/>
          <a:p>
            <a:pPr indent="0" marL="0">
              <a:buNone/>
            </a:pPr>
            <a:r>
              <a:rPr lang="en-US" sz="1200" dirty="0">
                <a:solidFill>
                  <a:srgbClr val="5B6B7B"/>
                </a:solidFill>
                <a:latin typeface="Calibri" pitchFamily="34" charset="0"/>
                <a:ea typeface="Calibri" pitchFamily="34" charset="-122"/>
                <a:cs typeface="Calibri" pitchFamily="34" charset="-120"/>
              </a:rPr>
              <a:t>acknowledge, assign, resolve with a verdict</a:t>
            </a:r>
            <a:endParaRPr lang="en-US" sz="1200" dirty="0"/>
          </a:p>
        </p:txBody>
      </p:sp>
      <p:sp>
        <p:nvSpPr>
          <p:cNvPr id="20" name="Shape 14"/>
          <p:cNvSpPr/>
          <p:nvPr/>
        </p:nvSpPr>
        <p:spPr>
          <a:xfrm>
            <a:off x="7406640" y="5221224"/>
            <a:ext cx="4251960" cy="1078992"/>
          </a:xfrm>
          <a:prstGeom prst="roundRect">
            <a:avLst>
              <a:gd name="adj" fmla="val 7627"/>
            </a:avLst>
          </a:prstGeom>
          <a:solidFill>
            <a:srgbClr val="F1F5F9"/>
          </a:solidFill>
          <a:ln/>
          <a:effectLst>
            <a:outerShdw sx="100000" sy="100000" kx="0" ky="0" algn="bl" rotWithShape="0" blurRad="101600" dist="38100" dir="5400000">
              <a:srgbClr val="9AA7B4">
                <a:alpha val="35000"/>
              </a:srgbClr>
            </a:outerShdw>
          </a:effectLst>
        </p:spPr>
      </p:sp>
      <p:sp>
        <p:nvSpPr>
          <p:cNvPr id="21" name="Shape 15"/>
          <p:cNvSpPr/>
          <p:nvPr/>
        </p:nvSpPr>
        <p:spPr>
          <a:xfrm>
            <a:off x="7607808" y="5495544"/>
            <a:ext cx="548640" cy="548640"/>
          </a:xfrm>
          <a:prstGeom prst="ellipse">
            <a:avLst/>
          </a:prstGeom>
          <a:solidFill>
            <a:srgbClr val="E0B64A"/>
          </a:solidFill>
          <a:ln/>
        </p:spPr>
      </p:sp>
      <p:pic>
        <p:nvPicPr>
          <p:cNvPr id="22" name="Image 4" descr="preencoded.png">    </p:cNvPr>
          <p:cNvPicPr>
            <a:picLocks noChangeAspect="1"/>
          </p:cNvPicPr>
          <p:nvPr/>
        </p:nvPicPr>
        <p:blipFill>
          <a:blip r:embed="rId5"/>
          <a:stretch>
            <a:fillRect/>
          </a:stretch>
        </p:blipFill>
        <p:spPr>
          <a:xfrm>
            <a:off x="7744968" y="5632704"/>
            <a:ext cx="274320" cy="274320"/>
          </a:xfrm>
          <a:prstGeom prst="rect">
            <a:avLst/>
          </a:prstGeom>
        </p:spPr>
      </p:pic>
      <p:sp>
        <p:nvSpPr>
          <p:cNvPr id="23" name="Text 16"/>
          <p:cNvSpPr txBox="1"/>
          <p:nvPr/>
        </p:nvSpPr>
        <p:spPr>
          <a:xfrm>
            <a:off x="8321040" y="5376672"/>
            <a:ext cx="3200400" cy="365760"/>
          </a:xfrm>
          <a:prstGeom prst="rect">
            <a:avLst/>
          </a:prstGeom>
          <a:noFill/>
          <a:ln/>
        </p:spPr>
        <p:txBody>
          <a:bodyPr wrap="square" lIns="0" tIns="0" rIns="0" bIns="0"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Audit trail</a:t>
            </a:r>
            <a:endParaRPr lang="en-US" sz="1500" dirty="0"/>
          </a:p>
        </p:txBody>
      </p:sp>
      <p:sp>
        <p:nvSpPr>
          <p:cNvPr id="24" name="Text 17"/>
          <p:cNvSpPr txBox="1"/>
          <p:nvPr/>
        </p:nvSpPr>
        <p:spPr>
          <a:xfrm>
            <a:off x="8321040" y="5733288"/>
            <a:ext cx="3246120" cy="502920"/>
          </a:xfrm>
          <a:prstGeom prst="rect">
            <a:avLst/>
          </a:prstGeom>
          <a:noFill/>
          <a:ln/>
        </p:spPr>
        <p:txBody>
          <a:bodyPr wrap="square" lIns="0" tIns="0" rIns="0" bIns="0" rtlCol="0" anchor="ctr"/>
          <a:lstStyle/>
          <a:p>
            <a:pPr indent="0" marL="0">
              <a:buNone/>
            </a:pPr>
            <a:r>
              <a:rPr lang="en-US" sz="1200" dirty="0">
                <a:solidFill>
                  <a:srgbClr val="5B6B7B"/>
                </a:solidFill>
                <a:latin typeface="Calibri" pitchFamily="34" charset="0"/>
                <a:ea typeface="Calibri" pitchFamily="34" charset="-122"/>
                <a:cs typeface="Calibri" pitchFamily="34" charset="-120"/>
              </a:rPr>
              <a:t>every action is recorded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algn="l" indent="0" marL="0">
              <a:buNone/>
            </a:pPr>
            <a:r>
              <a:rPr lang="en-US" sz="3000" b="1" dirty="0">
                <a:solidFill>
                  <a:srgbClr val="16263A"/>
                </a:solidFill>
                <a:latin typeface="Calibri" pitchFamily="34" charset="0"/>
                <a:ea typeface="Calibri" pitchFamily="34" charset="-122"/>
                <a:cs typeface="Calibri" pitchFamily="34" charset="-120"/>
              </a:rPr>
              <a:t>How It's Built</a:t>
            </a:r>
            <a:endParaRPr lang="en-US" sz="3000" dirty="0"/>
          </a:p>
        </p:txBody>
      </p:sp>
      <p:sp>
        <p:nvSpPr>
          <p:cNvPr id="3" name="Text 1"/>
          <p:cNvSpPr txBox="1"/>
          <p:nvPr/>
        </p:nvSpPr>
        <p:spPr>
          <a:xfrm>
            <a:off x="548640" y="969264"/>
            <a:ext cx="11091672" cy="365760"/>
          </a:xfrm>
          <a:prstGeom prst="rect">
            <a:avLst/>
          </a:prstGeom>
          <a:noFill/>
          <a:ln/>
        </p:spPr>
        <p:txBody>
          <a:bodyPr wrap="square" lIns="0" tIns="0" rIns="0" bIns="0" rtlCol="0" anchor="ctr"/>
          <a:lstStyle/>
          <a:p>
            <a:pPr algn="l" indent="0" marL="0">
              <a:buNone/>
            </a:pPr>
            <a:r>
              <a:rPr lang="en-US" sz="1500" dirty="0">
                <a:solidFill>
                  <a:srgbClr val="5B6B7B"/>
                </a:solidFill>
                <a:latin typeface="Calibri" pitchFamily="34" charset="0"/>
                <a:ea typeface="Calibri" pitchFamily="34" charset="-122"/>
                <a:cs typeface="Calibri" pitchFamily="34" charset="-120"/>
              </a:rPr>
              <a:t>Small, open, and fully tested — runs on a laptop with no paid services.</a:t>
            </a:r>
            <a:endParaRPr lang="en-US" sz="1500" dirty="0"/>
          </a:p>
        </p:txBody>
      </p:sp>
      <p:sp>
        <p:nvSpPr>
          <p:cNvPr id="4" name="Shape 2"/>
          <p:cNvSpPr/>
          <p:nvPr/>
        </p:nvSpPr>
        <p:spPr>
          <a:xfrm>
            <a:off x="548640" y="1737360"/>
            <a:ext cx="3566160" cy="1965960"/>
          </a:xfrm>
          <a:prstGeom prst="roundRect">
            <a:avLst>
              <a:gd name="adj" fmla="val 4186"/>
            </a:avLst>
          </a:prstGeom>
          <a:solidFill>
            <a:srgbClr val="F1F5F9"/>
          </a:solidFill>
          <a:ln/>
          <a:effectLst>
            <a:outerShdw sx="100000" sy="100000" kx="0" ky="0" algn="bl" rotWithShape="0" blurRad="101600" dist="38100" dir="5400000">
              <a:srgbClr val="9AA7B4">
                <a:alpha val="35000"/>
              </a:srgbClr>
            </a:outerShdw>
          </a:effectLst>
        </p:spPr>
      </p:sp>
      <p:sp>
        <p:nvSpPr>
          <p:cNvPr id="5" name="Shape 3"/>
          <p:cNvSpPr/>
          <p:nvPr/>
        </p:nvSpPr>
        <p:spPr>
          <a:xfrm>
            <a:off x="822960" y="2057400"/>
            <a:ext cx="777240" cy="777240"/>
          </a:xfrm>
          <a:prstGeom prst="ellipse">
            <a:avLst/>
          </a:prstGeom>
          <a:solidFill>
            <a:srgbClr val="3B82F6"/>
          </a:solidFill>
          <a:ln/>
        </p:spPr>
      </p:sp>
      <p:pic>
        <p:nvPicPr>
          <p:cNvPr id="6" name="Image 0" descr="preencoded.png">    </p:cNvPr>
          <p:cNvPicPr>
            <a:picLocks noChangeAspect="1"/>
          </p:cNvPicPr>
          <p:nvPr/>
        </p:nvPicPr>
        <p:blipFill>
          <a:blip r:embed="rId1"/>
          <a:stretch>
            <a:fillRect/>
          </a:stretch>
        </p:blipFill>
        <p:spPr>
          <a:xfrm>
            <a:off x="1017270" y="2251710"/>
            <a:ext cx="388620" cy="388620"/>
          </a:xfrm>
          <a:prstGeom prst="rect">
            <a:avLst/>
          </a:prstGeom>
        </p:spPr>
      </p:pic>
      <p:sp>
        <p:nvSpPr>
          <p:cNvPr id="7" name="Text 4"/>
          <p:cNvSpPr txBox="1"/>
          <p:nvPr/>
        </p:nvSpPr>
        <p:spPr>
          <a:xfrm>
            <a:off x="1783080" y="2103120"/>
            <a:ext cx="2194560" cy="640080"/>
          </a:xfrm>
          <a:prstGeom prst="rect">
            <a:avLst/>
          </a:prstGeom>
          <a:noFill/>
          <a:ln/>
        </p:spPr>
        <p:txBody>
          <a:bodyPr wrap="square" lIns="0" tIns="0" rIns="0" bIns="0" rtlCol="0" anchor="ctr"/>
          <a:lstStyle/>
          <a:p>
            <a:pPr indent="0" marL="0">
              <a:buNone/>
            </a:pPr>
            <a:r>
              <a:rPr lang="en-US" sz="1550" b="1" dirty="0">
                <a:solidFill>
                  <a:srgbClr val="1B2733"/>
                </a:solidFill>
                <a:latin typeface="Calibri" pitchFamily="34" charset="0"/>
                <a:ea typeface="Calibri" pitchFamily="34" charset="-122"/>
                <a:cs typeface="Calibri" pitchFamily="34" charset="-120"/>
              </a:rPr>
              <a:t>Python + FastAPI</a:t>
            </a:r>
            <a:endParaRPr lang="en-US" sz="1550" dirty="0"/>
          </a:p>
        </p:txBody>
      </p:sp>
      <p:sp>
        <p:nvSpPr>
          <p:cNvPr id="8" name="Text 5"/>
          <p:cNvSpPr txBox="1"/>
          <p:nvPr/>
        </p:nvSpPr>
        <p:spPr>
          <a:xfrm>
            <a:off x="822960" y="2880360"/>
            <a:ext cx="3063240" cy="731520"/>
          </a:xfrm>
          <a:prstGeom prst="rect">
            <a:avLst/>
          </a:prstGeom>
          <a:noFill/>
          <a:ln/>
        </p:spPr>
        <p:txBody>
          <a:bodyPr wrap="square" lIns="0" tIns="0" rIns="0" bIns="0" rtlCol="0" anchor="ctr"/>
          <a:lstStyle/>
          <a:p>
            <a:pPr indent="0" marL="0">
              <a:buNone/>
            </a:pPr>
            <a:r>
              <a:rPr lang="en-US" sz="1250" dirty="0">
                <a:solidFill>
                  <a:srgbClr val="5B6B7B"/>
                </a:solidFill>
                <a:latin typeface="Calibri" pitchFamily="34" charset="0"/>
                <a:ea typeface="Calibri" pitchFamily="34" charset="-122"/>
                <a:cs typeface="Calibri" pitchFamily="34" charset="-120"/>
              </a:rPr>
              <a:t>REST API backend; ~1,450 lines of my own code</a:t>
            </a:r>
            <a:endParaRPr lang="en-US" sz="1250" dirty="0"/>
          </a:p>
        </p:txBody>
      </p:sp>
      <p:sp>
        <p:nvSpPr>
          <p:cNvPr id="9" name="Shape 6"/>
          <p:cNvSpPr/>
          <p:nvPr/>
        </p:nvSpPr>
        <p:spPr>
          <a:xfrm>
            <a:off x="4370832" y="1737360"/>
            <a:ext cx="3566160" cy="1965960"/>
          </a:xfrm>
          <a:prstGeom prst="roundRect">
            <a:avLst>
              <a:gd name="adj" fmla="val 4186"/>
            </a:avLst>
          </a:prstGeom>
          <a:solidFill>
            <a:srgbClr val="F1F5F9"/>
          </a:solidFill>
          <a:ln/>
          <a:effectLst>
            <a:outerShdw sx="100000" sy="100000" kx="0" ky="0" algn="bl" rotWithShape="0" blurRad="101600" dist="38100" dir="5400000">
              <a:srgbClr val="9AA7B4">
                <a:alpha val="35000"/>
              </a:srgbClr>
            </a:outerShdw>
          </a:effectLst>
        </p:spPr>
      </p:sp>
      <p:sp>
        <p:nvSpPr>
          <p:cNvPr id="10" name="Shape 7"/>
          <p:cNvSpPr/>
          <p:nvPr/>
        </p:nvSpPr>
        <p:spPr>
          <a:xfrm>
            <a:off x="4645152" y="2057400"/>
            <a:ext cx="777240" cy="777240"/>
          </a:xfrm>
          <a:prstGeom prst="ellipse">
            <a:avLst/>
          </a:prstGeom>
          <a:solidFill>
            <a:srgbClr val="16263A"/>
          </a:solidFill>
          <a:ln/>
        </p:spPr>
      </p:sp>
      <p:pic>
        <p:nvPicPr>
          <p:cNvPr id="11" name="Image 1" descr="preencoded.png">    </p:cNvPr>
          <p:cNvPicPr>
            <a:picLocks noChangeAspect="1"/>
          </p:cNvPicPr>
          <p:nvPr/>
        </p:nvPicPr>
        <p:blipFill>
          <a:blip r:embed="rId2"/>
          <a:stretch>
            <a:fillRect/>
          </a:stretch>
        </p:blipFill>
        <p:spPr>
          <a:xfrm>
            <a:off x="4839462" y="2251710"/>
            <a:ext cx="388620" cy="388620"/>
          </a:xfrm>
          <a:prstGeom prst="rect">
            <a:avLst/>
          </a:prstGeom>
        </p:spPr>
      </p:pic>
      <p:sp>
        <p:nvSpPr>
          <p:cNvPr id="12" name="Text 8"/>
          <p:cNvSpPr txBox="1"/>
          <p:nvPr/>
        </p:nvSpPr>
        <p:spPr>
          <a:xfrm>
            <a:off x="5605272" y="2103120"/>
            <a:ext cx="2194560" cy="640080"/>
          </a:xfrm>
          <a:prstGeom prst="rect">
            <a:avLst/>
          </a:prstGeom>
          <a:noFill/>
          <a:ln/>
        </p:spPr>
        <p:txBody>
          <a:bodyPr wrap="square" lIns="0" tIns="0" rIns="0" bIns="0" rtlCol="0" anchor="ctr"/>
          <a:lstStyle/>
          <a:p>
            <a:pPr indent="0" marL="0">
              <a:buNone/>
            </a:pPr>
            <a:r>
              <a:rPr lang="en-US" sz="1550" b="1" dirty="0">
                <a:solidFill>
                  <a:srgbClr val="1B2733"/>
                </a:solidFill>
                <a:latin typeface="Calibri" pitchFamily="34" charset="0"/>
                <a:ea typeface="Calibri" pitchFamily="34" charset="-122"/>
                <a:cs typeface="Calibri" pitchFamily="34" charset="-120"/>
              </a:rPr>
              <a:t>SQLite</a:t>
            </a:r>
            <a:endParaRPr lang="en-US" sz="1550" dirty="0"/>
          </a:p>
        </p:txBody>
      </p:sp>
      <p:sp>
        <p:nvSpPr>
          <p:cNvPr id="13" name="Text 9"/>
          <p:cNvSpPr txBox="1"/>
          <p:nvPr/>
        </p:nvSpPr>
        <p:spPr>
          <a:xfrm>
            <a:off x="4645152" y="2880360"/>
            <a:ext cx="3063240" cy="731520"/>
          </a:xfrm>
          <a:prstGeom prst="rect">
            <a:avLst/>
          </a:prstGeom>
          <a:noFill/>
          <a:ln/>
        </p:spPr>
        <p:txBody>
          <a:bodyPr wrap="square" lIns="0" tIns="0" rIns="0" bIns="0" rtlCol="0" anchor="ctr"/>
          <a:lstStyle/>
          <a:p>
            <a:pPr indent="0" marL="0">
              <a:buNone/>
            </a:pPr>
            <a:r>
              <a:rPr lang="en-US" sz="1250" dirty="0">
                <a:solidFill>
                  <a:srgbClr val="5B6B7B"/>
                </a:solidFill>
                <a:latin typeface="Calibri" pitchFamily="34" charset="0"/>
                <a:ea typeface="Calibri" pitchFamily="34" charset="-122"/>
                <a:cs typeface="Calibri" pitchFamily="34" charset="-120"/>
              </a:rPr>
              <a:t>Zero-setup database for history &amp; audit</a:t>
            </a:r>
            <a:endParaRPr lang="en-US" sz="1250" dirty="0"/>
          </a:p>
        </p:txBody>
      </p:sp>
      <p:sp>
        <p:nvSpPr>
          <p:cNvPr id="14" name="Shape 10"/>
          <p:cNvSpPr/>
          <p:nvPr/>
        </p:nvSpPr>
        <p:spPr>
          <a:xfrm>
            <a:off x="8193024" y="1737360"/>
            <a:ext cx="3566160" cy="1965960"/>
          </a:xfrm>
          <a:prstGeom prst="roundRect">
            <a:avLst>
              <a:gd name="adj" fmla="val 4186"/>
            </a:avLst>
          </a:prstGeom>
          <a:solidFill>
            <a:srgbClr val="F1F5F9"/>
          </a:solidFill>
          <a:ln/>
          <a:effectLst>
            <a:outerShdw sx="100000" sy="100000" kx="0" ky="0" algn="bl" rotWithShape="0" blurRad="101600" dist="38100" dir="5400000">
              <a:srgbClr val="9AA7B4">
                <a:alpha val="35000"/>
              </a:srgbClr>
            </a:outerShdw>
          </a:effectLst>
        </p:spPr>
      </p:sp>
      <p:sp>
        <p:nvSpPr>
          <p:cNvPr id="15" name="Shape 11"/>
          <p:cNvSpPr/>
          <p:nvPr/>
        </p:nvSpPr>
        <p:spPr>
          <a:xfrm>
            <a:off x="8467344" y="2057400"/>
            <a:ext cx="777240" cy="777240"/>
          </a:xfrm>
          <a:prstGeom prst="ellipse">
            <a:avLst/>
          </a:prstGeom>
          <a:solidFill>
            <a:srgbClr val="22B8CF"/>
          </a:solidFill>
          <a:ln/>
        </p:spPr>
      </p:sp>
      <p:pic>
        <p:nvPicPr>
          <p:cNvPr id="16" name="Image 2" descr="preencoded.png">    </p:cNvPr>
          <p:cNvPicPr>
            <a:picLocks noChangeAspect="1"/>
          </p:cNvPicPr>
          <p:nvPr/>
        </p:nvPicPr>
        <p:blipFill>
          <a:blip r:embed="rId3"/>
          <a:stretch>
            <a:fillRect/>
          </a:stretch>
        </p:blipFill>
        <p:spPr>
          <a:xfrm>
            <a:off x="8661654" y="2251710"/>
            <a:ext cx="388620" cy="388620"/>
          </a:xfrm>
          <a:prstGeom prst="rect">
            <a:avLst/>
          </a:prstGeom>
        </p:spPr>
      </p:pic>
      <p:sp>
        <p:nvSpPr>
          <p:cNvPr id="17" name="Text 12"/>
          <p:cNvSpPr txBox="1"/>
          <p:nvPr/>
        </p:nvSpPr>
        <p:spPr>
          <a:xfrm>
            <a:off x="9427464" y="2103120"/>
            <a:ext cx="2194560" cy="640080"/>
          </a:xfrm>
          <a:prstGeom prst="rect">
            <a:avLst/>
          </a:prstGeom>
          <a:noFill/>
          <a:ln/>
        </p:spPr>
        <p:txBody>
          <a:bodyPr wrap="square" lIns="0" tIns="0" rIns="0" bIns="0" rtlCol="0" anchor="ctr"/>
          <a:lstStyle/>
          <a:p>
            <a:pPr indent="0" marL="0">
              <a:buNone/>
            </a:pPr>
            <a:r>
              <a:rPr lang="en-US" sz="1550" b="1" dirty="0">
                <a:solidFill>
                  <a:srgbClr val="1B2733"/>
                </a:solidFill>
                <a:latin typeface="Calibri" pitchFamily="34" charset="0"/>
                <a:ea typeface="Calibri" pitchFamily="34" charset="-122"/>
                <a:cs typeface="Calibri" pitchFamily="34" charset="-120"/>
              </a:rPr>
              <a:t>Single-file dashboard</a:t>
            </a:r>
            <a:endParaRPr lang="en-US" sz="1550" dirty="0"/>
          </a:p>
        </p:txBody>
      </p:sp>
      <p:sp>
        <p:nvSpPr>
          <p:cNvPr id="18" name="Text 13"/>
          <p:cNvSpPr txBox="1"/>
          <p:nvPr/>
        </p:nvSpPr>
        <p:spPr>
          <a:xfrm>
            <a:off x="8467344" y="2880360"/>
            <a:ext cx="3063240" cy="731520"/>
          </a:xfrm>
          <a:prstGeom prst="rect">
            <a:avLst/>
          </a:prstGeom>
          <a:noFill/>
          <a:ln/>
        </p:spPr>
        <p:txBody>
          <a:bodyPr wrap="square" lIns="0" tIns="0" rIns="0" bIns="0" rtlCol="0" anchor="ctr"/>
          <a:lstStyle/>
          <a:p>
            <a:pPr indent="0" marL="0">
              <a:buNone/>
            </a:pPr>
            <a:r>
              <a:rPr lang="en-US" sz="1250" dirty="0">
                <a:solidFill>
                  <a:srgbClr val="5B6B7B"/>
                </a:solidFill>
                <a:latin typeface="Calibri" pitchFamily="34" charset="0"/>
                <a:ea typeface="Calibri" pitchFamily="34" charset="-122"/>
                <a:cs typeface="Calibri" pitchFamily="34" charset="-120"/>
              </a:rPr>
              <a:t>Plain HTML/JS — no framework, runs offline</a:t>
            </a:r>
            <a:endParaRPr lang="en-US" sz="1250" dirty="0"/>
          </a:p>
        </p:txBody>
      </p:sp>
      <p:sp>
        <p:nvSpPr>
          <p:cNvPr id="19" name="Shape 14"/>
          <p:cNvSpPr/>
          <p:nvPr/>
        </p:nvSpPr>
        <p:spPr>
          <a:xfrm>
            <a:off x="548640" y="4023360"/>
            <a:ext cx="3566160" cy="1965960"/>
          </a:xfrm>
          <a:prstGeom prst="roundRect">
            <a:avLst>
              <a:gd name="adj" fmla="val 4186"/>
            </a:avLst>
          </a:prstGeom>
          <a:solidFill>
            <a:srgbClr val="F1F5F9"/>
          </a:solidFill>
          <a:ln/>
          <a:effectLst>
            <a:outerShdw sx="100000" sy="100000" kx="0" ky="0" algn="bl" rotWithShape="0" blurRad="101600" dist="38100" dir="5400000">
              <a:srgbClr val="9AA7B4">
                <a:alpha val="35000"/>
              </a:srgbClr>
            </a:outerShdw>
          </a:effectLst>
        </p:spPr>
      </p:sp>
      <p:sp>
        <p:nvSpPr>
          <p:cNvPr id="20" name="Shape 15"/>
          <p:cNvSpPr/>
          <p:nvPr/>
        </p:nvSpPr>
        <p:spPr>
          <a:xfrm>
            <a:off x="822960" y="4343400"/>
            <a:ext cx="777240" cy="777240"/>
          </a:xfrm>
          <a:prstGeom prst="ellipse">
            <a:avLst/>
          </a:prstGeom>
          <a:solidFill>
            <a:srgbClr val="E8863C"/>
          </a:solidFill>
          <a:ln/>
        </p:spPr>
      </p:sp>
      <p:pic>
        <p:nvPicPr>
          <p:cNvPr id="21" name="Image 3" descr="preencoded.png">    </p:cNvPr>
          <p:cNvPicPr>
            <a:picLocks noChangeAspect="1"/>
          </p:cNvPicPr>
          <p:nvPr/>
        </p:nvPicPr>
        <p:blipFill>
          <a:blip r:embed="rId4"/>
          <a:stretch>
            <a:fillRect/>
          </a:stretch>
        </p:blipFill>
        <p:spPr>
          <a:xfrm>
            <a:off x="1017270" y="4537710"/>
            <a:ext cx="388620" cy="388620"/>
          </a:xfrm>
          <a:prstGeom prst="rect">
            <a:avLst/>
          </a:prstGeom>
        </p:spPr>
      </p:pic>
      <p:sp>
        <p:nvSpPr>
          <p:cNvPr id="22" name="Text 16"/>
          <p:cNvSpPr txBox="1"/>
          <p:nvPr/>
        </p:nvSpPr>
        <p:spPr>
          <a:xfrm>
            <a:off x="1783080" y="4389120"/>
            <a:ext cx="2194560" cy="640080"/>
          </a:xfrm>
          <a:prstGeom prst="rect">
            <a:avLst/>
          </a:prstGeom>
          <a:noFill/>
          <a:ln/>
        </p:spPr>
        <p:txBody>
          <a:bodyPr wrap="square" lIns="0" tIns="0" rIns="0" bIns="0" rtlCol="0" anchor="ctr"/>
          <a:lstStyle/>
          <a:p>
            <a:pPr indent="0" marL="0">
              <a:buNone/>
            </a:pPr>
            <a:r>
              <a:rPr lang="en-US" sz="1550" b="1" dirty="0">
                <a:solidFill>
                  <a:srgbClr val="1B2733"/>
                </a:solidFill>
                <a:latin typeface="Calibri" pitchFamily="34" charset="0"/>
                <a:ea typeface="Calibri" pitchFamily="34" charset="-122"/>
                <a:cs typeface="Calibri" pitchFamily="34" charset="-120"/>
              </a:rPr>
              <a:t>MITRE ATT&amp;CK</a:t>
            </a:r>
            <a:endParaRPr lang="en-US" sz="1550" dirty="0"/>
          </a:p>
        </p:txBody>
      </p:sp>
      <p:sp>
        <p:nvSpPr>
          <p:cNvPr id="23" name="Text 17"/>
          <p:cNvSpPr txBox="1"/>
          <p:nvPr/>
        </p:nvSpPr>
        <p:spPr>
          <a:xfrm>
            <a:off x="822960" y="5166360"/>
            <a:ext cx="3063240" cy="731520"/>
          </a:xfrm>
          <a:prstGeom prst="rect">
            <a:avLst/>
          </a:prstGeom>
          <a:noFill/>
          <a:ln/>
        </p:spPr>
        <p:txBody>
          <a:bodyPr wrap="square" lIns="0" tIns="0" rIns="0" bIns="0" rtlCol="0" anchor="ctr"/>
          <a:lstStyle/>
          <a:p>
            <a:pPr indent="0" marL="0">
              <a:buNone/>
            </a:pPr>
            <a:r>
              <a:rPr lang="en-US" sz="1250" dirty="0">
                <a:solidFill>
                  <a:srgbClr val="5B6B7B"/>
                </a:solidFill>
                <a:latin typeface="Calibri" pitchFamily="34" charset="0"/>
                <a:ea typeface="Calibri" pitchFamily="34" charset="-122"/>
                <a:cs typeface="Calibri" pitchFamily="34" charset="-120"/>
              </a:rPr>
              <a:t>15 techniques mapped, with playbooks</a:t>
            </a:r>
            <a:endParaRPr lang="en-US" sz="1250" dirty="0"/>
          </a:p>
        </p:txBody>
      </p:sp>
      <p:sp>
        <p:nvSpPr>
          <p:cNvPr id="24" name="Shape 18"/>
          <p:cNvSpPr/>
          <p:nvPr/>
        </p:nvSpPr>
        <p:spPr>
          <a:xfrm>
            <a:off x="4370832" y="4023360"/>
            <a:ext cx="3566160" cy="1965960"/>
          </a:xfrm>
          <a:prstGeom prst="roundRect">
            <a:avLst>
              <a:gd name="adj" fmla="val 4186"/>
            </a:avLst>
          </a:prstGeom>
          <a:solidFill>
            <a:srgbClr val="F1F5F9"/>
          </a:solidFill>
          <a:ln/>
          <a:effectLst>
            <a:outerShdw sx="100000" sy="100000" kx="0" ky="0" algn="bl" rotWithShape="0" blurRad="101600" dist="38100" dir="5400000">
              <a:srgbClr val="9AA7B4">
                <a:alpha val="35000"/>
              </a:srgbClr>
            </a:outerShdw>
          </a:effectLst>
        </p:spPr>
      </p:sp>
      <p:sp>
        <p:nvSpPr>
          <p:cNvPr id="25" name="Shape 19"/>
          <p:cNvSpPr/>
          <p:nvPr/>
        </p:nvSpPr>
        <p:spPr>
          <a:xfrm>
            <a:off x="4645152" y="4343400"/>
            <a:ext cx="777240" cy="777240"/>
          </a:xfrm>
          <a:prstGeom prst="ellipse">
            <a:avLst/>
          </a:prstGeom>
          <a:solidFill>
            <a:srgbClr val="2FB27F"/>
          </a:solidFill>
          <a:ln/>
        </p:spPr>
      </p:sp>
      <p:pic>
        <p:nvPicPr>
          <p:cNvPr id="26" name="Image 4" descr="preencoded.png">    </p:cNvPr>
          <p:cNvPicPr>
            <a:picLocks noChangeAspect="1"/>
          </p:cNvPicPr>
          <p:nvPr/>
        </p:nvPicPr>
        <p:blipFill>
          <a:blip r:embed="rId5"/>
          <a:stretch>
            <a:fillRect/>
          </a:stretch>
        </p:blipFill>
        <p:spPr>
          <a:xfrm>
            <a:off x="4839462" y="4537710"/>
            <a:ext cx="388620" cy="388620"/>
          </a:xfrm>
          <a:prstGeom prst="rect">
            <a:avLst/>
          </a:prstGeom>
        </p:spPr>
      </p:pic>
      <p:sp>
        <p:nvSpPr>
          <p:cNvPr id="27" name="Text 20"/>
          <p:cNvSpPr txBox="1"/>
          <p:nvPr/>
        </p:nvSpPr>
        <p:spPr>
          <a:xfrm>
            <a:off x="5605272" y="4389120"/>
            <a:ext cx="2194560" cy="640080"/>
          </a:xfrm>
          <a:prstGeom prst="rect">
            <a:avLst/>
          </a:prstGeom>
          <a:noFill/>
          <a:ln/>
        </p:spPr>
        <p:txBody>
          <a:bodyPr wrap="square" lIns="0" tIns="0" rIns="0" bIns="0" rtlCol="0" anchor="ctr"/>
          <a:lstStyle/>
          <a:p>
            <a:pPr indent="0" marL="0">
              <a:buNone/>
            </a:pPr>
            <a:r>
              <a:rPr lang="en-US" sz="1550" b="1" dirty="0">
                <a:solidFill>
                  <a:srgbClr val="1B2733"/>
                </a:solidFill>
                <a:latin typeface="Calibri" pitchFamily="34" charset="0"/>
                <a:ea typeface="Calibri" pitchFamily="34" charset="-122"/>
                <a:cs typeface="Calibri" pitchFamily="34" charset="-120"/>
              </a:rPr>
              <a:t>24 automated tests</a:t>
            </a:r>
            <a:endParaRPr lang="en-US" sz="1550" dirty="0"/>
          </a:p>
        </p:txBody>
      </p:sp>
      <p:sp>
        <p:nvSpPr>
          <p:cNvPr id="28" name="Text 21"/>
          <p:cNvSpPr txBox="1"/>
          <p:nvPr/>
        </p:nvSpPr>
        <p:spPr>
          <a:xfrm>
            <a:off x="4645152" y="5166360"/>
            <a:ext cx="3063240" cy="731520"/>
          </a:xfrm>
          <a:prstGeom prst="rect">
            <a:avLst/>
          </a:prstGeom>
          <a:noFill/>
          <a:ln/>
        </p:spPr>
        <p:txBody>
          <a:bodyPr wrap="square" lIns="0" tIns="0" rIns="0" bIns="0" rtlCol="0" anchor="ctr"/>
          <a:lstStyle/>
          <a:p>
            <a:pPr indent="0" marL="0">
              <a:buNone/>
            </a:pPr>
            <a:r>
              <a:rPr lang="en-US" sz="1250" dirty="0">
                <a:solidFill>
                  <a:srgbClr val="5B6B7B"/>
                </a:solidFill>
                <a:latin typeface="Calibri" pitchFamily="34" charset="0"/>
                <a:ea typeface="Calibri" pitchFamily="34" charset="-122"/>
                <a:cs typeface="Calibri" pitchFamily="34" charset="-120"/>
              </a:rPr>
              <a:t>All passing — every stage verified</a:t>
            </a:r>
            <a:endParaRPr lang="en-US" sz="1250" dirty="0"/>
          </a:p>
        </p:txBody>
      </p:sp>
      <p:sp>
        <p:nvSpPr>
          <p:cNvPr id="29" name="Shape 22"/>
          <p:cNvSpPr/>
          <p:nvPr/>
        </p:nvSpPr>
        <p:spPr>
          <a:xfrm>
            <a:off x="8193024" y="4023360"/>
            <a:ext cx="3566160" cy="1965960"/>
          </a:xfrm>
          <a:prstGeom prst="roundRect">
            <a:avLst>
              <a:gd name="adj" fmla="val 4186"/>
            </a:avLst>
          </a:prstGeom>
          <a:solidFill>
            <a:srgbClr val="F1F5F9"/>
          </a:solidFill>
          <a:ln/>
          <a:effectLst>
            <a:outerShdw sx="100000" sy="100000" kx="0" ky="0" algn="bl" rotWithShape="0" blurRad="101600" dist="38100" dir="5400000">
              <a:srgbClr val="9AA7B4">
                <a:alpha val="35000"/>
              </a:srgbClr>
            </a:outerShdw>
          </a:effectLst>
        </p:spPr>
      </p:sp>
      <p:sp>
        <p:nvSpPr>
          <p:cNvPr id="30" name="Shape 23"/>
          <p:cNvSpPr/>
          <p:nvPr/>
        </p:nvSpPr>
        <p:spPr>
          <a:xfrm>
            <a:off x="8467344" y="4343400"/>
            <a:ext cx="777240" cy="777240"/>
          </a:xfrm>
          <a:prstGeom prst="ellipse">
            <a:avLst/>
          </a:prstGeom>
          <a:solidFill>
            <a:srgbClr val="E0B64A"/>
          </a:solidFill>
          <a:ln/>
        </p:spPr>
      </p:sp>
      <p:pic>
        <p:nvPicPr>
          <p:cNvPr id="31" name="Image 5" descr="preencoded.png">    </p:cNvPr>
          <p:cNvPicPr>
            <a:picLocks noChangeAspect="1"/>
          </p:cNvPicPr>
          <p:nvPr/>
        </p:nvPicPr>
        <p:blipFill>
          <a:blip r:embed="rId6"/>
          <a:stretch>
            <a:fillRect/>
          </a:stretch>
        </p:blipFill>
        <p:spPr>
          <a:xfrm>
            <a:off x="8661654" y="4537710"/>
            <a:ext cx="388620" cy="388620"/>
          </a:xfrm>
          <a:prstGeom prst="rect">
            <a:avLst/>
          </a:prstGeom>
        </p:spPr>
      </p:pic>
      <p:sp>
        <p:nvSpPr>
          <p:cNvPr id="32" name="Text 24"/>
          <p:cNvSpPr txBox="1"/>
          <p:nvPr/>
        </p:nvSpPr>
        <p:spPr>
          <a:xfrm>
            <a:off x="9427464" y="4389120"/>
            <a:ext cx="2194560" cy="640080"/>
          </a:xfrm>
          <a:prstGeom prst="rect">
            <a:avLst/>
          </a:prstGeom>
          <a:noFill/>
          <a:ln/>
        </p:spPr>
        <p:txBody>
          <a:bodyPr wrap="square" lIns="0" tIns="0" rIns="0" bIns="0" rtlCol="0" anchor="ctr"/>
          <a:lstStyle/>
          <a:p>
            <a:pPr indent="0" marL="0">
              <a:buNone/>
            </a:pPr>
            <a:r>
              <a:rPr lang="en-US" sz="1550" b="1" dirty="0">
                <a:solidFill>
                  <a:srgbClr val="1B2733"/>
                </a:solidFill>
                <a:latin typeface="Calibri" pitchFamily="34" charset="0"/>
                <a:ea typeface="Calibri" pitchFamily="34" charset="-122"/>
                <a:cs typeface="Calibri" pitchFamily="34" charset="-120"/>
              </a:rPr>
              <a:t>Offline threat-intel</a:t>
            </a:r>
            <a:endParaRPr lang="en-US" sz="1550" dirty="0"/>
          </a:p>
        </p:txBody>
      </p:sp>
      <p:sp>
        <p:nvSpPr>
          <p:cNvPr id="33" name="Text 25"/>
          <p:cNvSpPr txBox="1"/>
          <p:nvPr/>
        </p:nvSpPr>
        <p:spPr>
          <a:xfrm>
            <a:off x="8467344" y="5166360"/>
            <a:ext cx="3063240" cy="731520"/>
          </a:xfrm>
          <a:prstGeom prst="rect">
            <a:avLst/>
          </a:prstGeom>
          <a:noFill/>
          <a:ln/>
        </p:spPr>
        <p:txBody>
          <a:bodyPr wrap="square" lIns="0" tIns="0" rIns="0" bIns="0" rtlCol="0" anchor="ctr"/>
          <a:lstStyle/>
          <a:p>
            <a:pPr indent="0" marL="0">
              <a:buNone/>
            </a:pPr>
            <a:r>
              <a:rPr lang="en-US" sz="1250" dirty="0">
                <a:solidFill>
                  <a:srgbClr val="5B6B7B"/>
                </a:solidFill>
                <a:latin typeface="Calibri" pitchFamily="34" charset="0"/>
                <a:ea typeface="Calibri" pitchFamily="34" charset="-122"/>
                <a:cs typeface="Calibri" pitchFamily="34" charset="-120"/>
              </a:rPr>
              <a:t>Bundled feed + asset inventory; live feeds pluggable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457200"/>
            <a:ext cx="11091672" cy="64008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Results (Demo Dataset)</a:t>
            </a:r>
            <a:endParaRPr lang="en-US" sz="3000" dirty="0"/>
          </a:p>
        </p:txBody>
      </p:sp>
      <p:sp>
        <p:nvSpPr>
          <p:cNvPr id="3" name="Text 1"/>
          <p:cNvSpPr txBox="1"/>
          <p:nvPr/>
        </p:nvSpPr>
        <p:spPr>
          <a:xfrm>
            <a:off x="548640" y="1051560"/>
            <a:ext cx="11091672" cy="365760"/>
          </a:xfrm>
          <a:prstGeom prst="rect">
            <a:avLst/>
          </a:prstGeom>
          <a:noFill/>
          <a:ln/>
        </p:spPr>
        <p:txBody>
          <a:bodyPr wrap="square" lIns="0" tIns="0" rIns="0" bIns="0" rtlCol="0" anchor="ctr"/>
          <a:lstStyle/>
          <a:p>
            <a:pPr indent="0" marL="0">
              <a:buNone/>
            </a:pPr>
            <a:r>
              <a:rPr lang="en-US" sz="1400" dirty="0">
                <a:solidFill>
                  <a:srgbClr val="9FB4CC"/>
                </a:solidFill>
                <a:latin typeface="Calibri" pitchFamily="34" charset="0"/>
                <a:ea typeface="Calibri" pitchFamily="34" charset="-122"/>
                <a:cs typeface="Calibri" pitchFamily="34" charset="-120"/>
              </a:rPr>
              <a:t>Deterministic seed data, so the numbers are the same every run.</a:t>
            </a:r>
            <a:endParaRPr lang="en-US" sz="1400" dirty="0"/>
          </a:p>
        </p:txBody>
      </p:sp>
      <p:sp>
        <p:nvSpPr>
          <p:cNvPr id="4" name="Shape 2"/>
          <p:cNvSpPr/>
          <p:nvPr/>
        </p:nvSpPr>
        <p:spPr>
          <a:xfrm>
            <a:off x="548640" y="1691640"/>
            <a:ext cx="3566160" cy="2148840"/>
          </a:xfrm>
          <a:prstGeom prst="roundRect">
            <a:avLst>
              <a:gd name="adj" fmla="val 3830"/>
            </a:avLst>
          </a:prstGeom>
          <a:solidFill>
            <a:srgbClr val="16273D"/>
          </a:solidFill>
          <a:ln/>
        </p:spPr>
      </p:sp>
      <p:sp>
        <p:nvSpPr>
          <p:cNvPr id="5" name="Text 3"/>
          <p:cNvSpPr txBox="1"/>
          <p:nvPr/>
        </p:nvSpPr>
        <p:spPr>
          <a:xfrm>
            <a:off x="548640" y="2011680"/>
            <a:ext cx="3566160" cy="1097280"/>
          </a:xfrm>
          <a:prstGeom prst="rect">
            <a:avLst/>
          </a:prstGeom>
          <a:noFill/>
          <a:ln/>
        </p:spPr>
        <p:txBody>
          <a:bodyPr wrap="square" lIns="0" tIns="0" rIns="0" bIns="0" rtlCol="0" anchor="ctr"/>
          <a:lstStyle/>
          <a:p>
            <a:pPr algn="ctr" indent="0" marL="0">
              <a:buNone/>
            </a:pPr>
            <a:r>
              <a:rPr lang="en-US" sz="6000" b="1" dirty="0">
                <a:solidFill>
                  <a:srgbClr val="3B82F6"/>
                </a:solidFill>
                <a:latin typeface="Calibri" pitchFamily="34" charset="0"/>
                <a:ea typeface="Calibri" pitchFamily="34" charset="-122"/>
                <a:cs typeface="Calibri" pitchFamily="34" charset="-120"/>
              </a:rPr>
              <a:t>66</a:t>
            </a:r>
            <a:endParaRPr lang="en-US" sz="6000" dirty="0"/>
          </a:p>
        </p:txBody>
      </p:sp>
      <p:sp>
        <p:nvSpPr>
          <p:cNvPr id="6" name="Text 4"/>
          <p:cNvSpPr txBox="1"/>
          <p:nvPr/>
        </p:nvSpPr>
        <p:spPr>
          <a:xfrm>
            <a:off x="731520" y="3108960"/>
            <a:ext cx="3200400" cy="548640"/>
          </a:xfrm>
          <a:prstGeom prst="rect">
            <a:avLst/>
          </a:prstGeom>
          <a:noFill/>
          <a:ln/>
        </p:spPr>
        <p:txBody>
          <a:bodyPr wrap="square" lIns="0" tIns="0" rIns="0" bIns="0" rtlCol="0" anchor="ctr"/>
          <a:lstStyle/>
          <a:p>
            <a:pPr algn="ctr" indent="0" marL="0">
              <a:buNone/>
            </a:pPr>
            <a:r>
              <a:rPr lang="en-US" sz="1450" dirty="0">
                <a:solidFill>
                  <a:srgbClr val="CFE0F2"/>
                </a:solidFill>
                <a:latin typeface="Calibri" pitchFamily="34" charset="0"/>
                <a:ea typeface="Calibri" pitchFamily="34" charset="-122"/>
                <a:cs typeface="Calibri" pitchFamily="34" charset="-120"/>
              </a:rPr>
              <a:t>alerts ingested</a:t>
            </a:r>
            <a:endParaRPr lang="en-US" sz="1450" dirty="0"/>
          </a:p>
        </p:txBody>
      </p:sp>
      <p:sp>
        <p:nvSpPr>
          <p:cNvPr id="7" name="Shape 5"/>
          <p:cNvSpPr/>
          <p:nvPr/>
        </p:nvSpPr>
        <p:spPr>
          <a:xfrm>
            <a:off x="4370832" y="1691640"/>
            <a:ext cx="3566160" cy="2148840"/>
          </a:xfrm>
          <a:prstGeom prst="roundRect">
            <a:avLst>
              <a:gd name="adj" fmla="val 3830"/>
            </a:avLst>
          </a:prstGeom>
          <a:solidFill>
            <a:srgbClr val="16273D"/>
          </a:solidFill>
          <a:ln/>
        </p:spPr>
      </p:sp>
      <p:sp>
        <p:nvSpPr>
          <p:cNvPr id="8" name="Text 6"/>
          <p:cNvSpPr txBox="1"/>
          <p:nvPr/>
        </p:nvSpPr>
        <p:spPr>
          <a:xfrm>
            <a:off x="4370832" y="2011680"/>
            <a:ext cx="3566160" cy="1097280"/>
          </a:xfrm>
          <a:prstGeom prst="rect">
            <a:avLst/>
          </a:prstGeom>
          <a:noFill/>
          <a:ln/>
        </p:spPr>
        <p:txBody>
          <a:bodyPr wrap="square" lIns="0" tIns="0" rIns="0" bIns="0" rtlCol="0" anchor="ctr"/>
          <a:lstStyle/>
          <a:p>
            <a:pPr algn="ctr" indent="0" marL="0">
              <a:buNone/>
            </a:pPr>
            <a:r>
              <a:rPr lang="en-US" sz="6000" b="1" dirty="0">
                <a:solidFill>
                  <a:srgbClr val="22B8CF"/>
                </a:solidFill>
                <a:latin typeface="Calibri" pitchFamily="34" charset="0"/>
                <a:ea typeface="Calibri" pitchFamily="34" charset="-122"/>
                <a:cs typeface="Calibri" pitchFamily="34" charset="-120"/>
              </a:rPr>
              <a:t>42</a:t>
            </a:r>
            <a:endParaRPr lang="en-US" sz="6000" dirty="0"/>
          </a:p>
        </p:txBody>
      </p:sp>
      <p:sp>
        <p:nvSpPr>
          <p:cNvPr id="9" name="Text 7"/>
          <p:cNvSpPr txBox="1"/>
          <p:nvPr/>
        </p:nvSpPr>
        <p:spPr>
          <a:xfrm>
            <a:off x="4553712" y="3108960"/>
            <a:ext cx="3200400" cy="548640"/>
          </a:xfrm>
          <a:prstGeom prst="rect">
            <a:avLst/>
          </a:prstGeom>
          <a:noFill/>
          <a:ln/>
        </p:spPr>
        <p:txBody>
          <a:bodyPr wrap="square" lIns="0" tIns="0" rIns="0" bIns="0" rtlCol="0" anchor="ctr"/>
          <a:lstStyle/>
          <a:p>
            <a:pPr algn="ctr" indent="0" marL="0">
              <a:buNone/>
            </a:pPr>
            <a:r>
              <a:rPr lang="en-US" sz="1450" dirty="0">
                <a:solidFill>
                  <a:srgbClr val="CFE0F2"/>
                </a:solidFill>
                <a:latin typeface="Calibri" pitchFamily="34" charset="0"/>
                <a:ea typeface="Calibri" pitchFamily="34" charset="-122"/>
                <a:cs typeface="Calibri" pitchFamily="34" charset="-120"/>
              </a:rPr>
              <a:t>incidents correlated</a:t>
            </a:r>
            <a:endParaRPr lang="en-US" sz="1450" dirty="0"/>
          </a:p>
        </p:txBody>
      </p:sp>
      <p:sp>
        <p:nvSpPr>
          <p:cNvPr id="10" name="Shape 8"/>
          <p:cNvSpPr/>
          <p:nvPr/>
        </p:nvSpPr>
        <p:spPr>
          <a:xfrm>
            <a:off x="8193024" y="1691640"/>
            <a:ext cx="3566160" cy="2148840"/>
          </a:xfrm>
          <a:prstGeom prst="roundRect">
            <a:avLst>
              <a:gd name="adj" fmla="val 3830"/>
            </a:avLst>
          </a:prstGeom>
          <a:solidFill>
            <a:srgbClr val="16273D"/>
          </a:solidFill>
          <a:ln/>
        </p:spPr>
      </p:sp>
      <p:sp>
        <p:nvSpPr>
          <p:cNvPr id="11" name="Text 9"/>
          <p:cNvSpPr txBox="1"/>
          <p:nvPr/>
        </p:nvSpPr>
        <p:spPr>
          <a:xfrm>
            <a:off x="8193024" y="2011680"/>
            <a:ext cx="3566160" cy="1097280"/>
          </a:xfrm>
          <a:prstGeom prst="rect">
            <a:avLst/>
          </a:prstGeom>
          <a:noFill/>
          <a:ln/>
        </p:spPr>
        <p:txBody>
          <a:bodyPr wrap="square" lIns="0" tIns="0" rIns="0" bIns="0" rtlCol="0" anchor="ctr"/>
          <a:lstStyle/>
          <a:p>
            <a:pPr algn="ctr" indent="0" marL="0">
              <a:buNone/>
            </a:pPr>
            <a:r>
              <a:rPr lang="en-US" sz="6000" b="1" dirty="0">
                <a:solidFill>
                  <a:srgbClr val="2FB27F"/>
                </a:solidFill>
                <a:latin typeface="Calibri" pitchFamily="34" charset="0"/>
                <a:ea typeface="Calibri" pitchFamily="34" charset="-122"/>
                <a:cs typeface="Calibri" pitchFamily="34" charset="-120"/>
              </a:rPr>
              <a:t>97%</a:t>
            </a:r>
            <a:endParaRPr lang="en-US" sz="6000" dirty="0"/>
          </a:p>
        </p:txBody>
      </p:sp>
      <p:sp>
        <p:nvSpPr>
          <p:cNvPr id="12" name="Text 10"/>
          <p:cNvSpPr txBox="1"/>
          <p:nvPr/>
        </p:nvSpPr>
        <p:spPr>
          <a:xfrm>
            <a:off x="8375904" y="3108960"/>
            <a:ext cx="3200400" cy="548640"/>
          </a:xfrm>
          <a:prstGeom prst="rect">
            <a:avLst/>
          </a:prstGeom>
          <a:noFill/>
          <a:ln/>
        </p:spPr>
        <p:txBody>
          <a:bodyPr wrap="square" lIns="0" tIns="0" rIns="0" bIns="0" rtlCol="0" anchor="ctr"/>
          <a:lstStyle/>
          <a:p>
            <a:pPr algn="ctr" indent="0" marL="0">
              <a:buNone/>
            </a:pPr>
            <a:r>
              <a:rPr lang="en-US" sz="1450" dirty="0">
                <a:solidFill>
                  <a:srgbClr val="CFE0F2"/>
                </a:solidFill>
                <a:latin typeface="Calibri" pitchFamily="34" charset="0"/>
                <a:ea typeface="Calibri" pitchFamily="34" charset="-122"/>
                <a:cs typeface="Calibri" pitchFamily="34" charset="-120"/>
              </a:rPr>
              <a:t>acknowledged on time</a:t>
            </a:r>
            <a:endParaRPr lang="en-US" sz="1450" dirty="0"/>
          </a:p>
        </p:txBody>
      </p:sp>
      <p:sp>
        <p:nvSpPr>
          <p:cNvPr id="13" name="Shape 11"/>
          <p:cNvSpPr/>
          <p:nvPr/>
        </p:nvSpPr>
        <p:spPr>
          <a:xfrm>
            <a:off x="548640" y="4133088"/>
            <a:ext cx="3566160" cy="2148840"/>
          </a:xfrm>
          <a:prstGeom prst="roundRect">
            <a:avLst>
              <a:gd name="adj" fmla="val 3830"/>
            </a:avLst>
          </a:prstGeom>
          <a:solidFill>
            <a:srgbClr val="16273D"/>
          </a:solidFill>
          <a:ln/>
        </p:spPr>
      </p:sp>
      <p:sp>
        <p:nvSpPr>
          <p:cNvPr id="14" name="Text 12"/>
          <p:cNvSpPr txBox="1"/>
          <p:nvPr/>
        </p:nvSpPr>
        <p:spPr>
          <a:xfrm>
            <a:off x="548640" y="4453128"/>
            <a:ext cx="3566160" cy="1097280"/>
          </a:xfrm>
          <a:prstGeom prst="rect">
            <a:avLst/>
          </a:prstGeom>
          <a:noFill/>
          <a:ln/>
        </p:spPr>
        <p:txBody>
          <a:bodyPr wrap="square" lIns="0" tIns="0" rIns="0" bIns="0" rtlCol="0" anchor="ctr"/>
          <a:lstStyle/>
          <a:p>
            <a:pPr algn="ctr" indent="0" marL="0">
              <a:buNone/>
            </a:pPr>
            <a:r>
              <a:rPr lang="en-US" sz="6000" b="1" dirty="0">
                <a:solidFill>
                  <a:srgbClr val="E5484D"/>
                </a:solidFill>
                <a:latin typeface="Calibri" pitchFamily="34" charset="0"/>
                <a:ea typeface="Calibri" pitchFamily="34" charset="-122"/>
                <a:cs typeface="Calibri" pitchFamily="34" charset="-120"/>
              </a:rPr>
              <a:t>5</a:t>
            </a:r>
            <a:endParaRPr lang="en-US" sz="6000" dirty="0"/>
          </a:p>
        </p:txBody>
      </p:sp>
      <p:sp>
        <p:nvSpPr>
          <p:cNvPr id="15" name="Text 13"/>
          <p:cNvSpPr txBox="1"/>
          <p:nvPr/>
        </p:nvSpPr>
        <p:spPr>
          <a:xfrm>
            <a:off x="731520" y="5550408"/>
            <a:ext cx="3200400" cy="548640"/>
          </a:xfrm>
          <a:prstGeom prst="rect">
            <a:avLst/>
          </a:prstGeom>
          <a:noFill/>
          <a:ln/>
        </p:spPr>
        <p:txBody>
          <a:bodyPr wrap="square" lIns="0" tIns="0" rIns="0" bIns="0" rtlCol="0" anchor="ctr"/>
          <a:lstStyle/>
          <a:p>
            <a:pPr algn="ctr" indent="0" marL="0">
              <a:buNone/>
            </a:pPr>
            <a:r>
              <a:rPr lang="en-US" sz="1450" dirty="0">
                <a:solidFill>
                  <a:srgbClr val="CFE0F2"/>
                </a:solidFill>
                <a:latin typeface="Calibri" pitchFamily="34" charset="0"/>
                <a:ea typeface="Calibri" pitchFamily="34" charset="-122"/>
                <a:cs typeface="Calibri" pitchFamily="34" charset="-120"/>
              </a:rPr>
              <a:t>auto-escalated</a:t>
            </a:r>
            <a:endParaRPr lang="en-US" sz="1450" dirty="0"/>
          </a:p>
        </p:txBody>
      </p:sp>
      <p:sp>
        <p:nvSpPr>
          <p:cNvPr id="16" name="Shape 14"/>
          <p:cNvSpPr/>
          <p:nvPr/>
        </p:nvSpPr>
        <p:spPr>
          <a:xfrm>
            <a:off x="4370832" y="4133088"/>
            <a:ext cx="3566160" cy="2148840"/>
          </a:xfrm>
          <a:prstGeom prst="roundRect">
            <a:avLst>
              <a:gd name="adj" fmla="val 3830"/>
            </a:avLst>
          </a:prstGeom>
          <a:solidFill>
            <a:srgbClr val="16273D"/>
          </a:solidFill>
          <a:ln/>
        </p:spPr>
      </p:sp>
      <p:sp>
        <p:nvSpPr>
          <p:cNvPr id="17" name="Text 15"/>
          <p:cNvSpPr txBox="1"/>
          <p:nvPr/>
        </p:nvSpPr>
        <p:spPr>
          <a:xfrm>
            <a:off x="4370832" y="4453128"/>
            <a:ext cx="3566160" cy="1097280"/>
          </a:xfrm>
          <a:prstGeom prst="rect">
            <a:avLst/>
          </a:prstGeom>
          <a:noFill/>
          <a:ln/>
        </p:spPr>
        <p:txBody>
          <a:bodyPr wrap="square" lIns="0" tIns="0" rIns="0" bIns="0" rtlCol="0" anchor="ctr"/>
          <a:lstStyle/>
          <a:p>
            <a:pPr algn="ctr" indent="0" marL="0">
              <a:buNone/>
            </a:pPr>
            <a:r>
              <a:rPr lang="en-US" sz="6000" b="1" dirty="0">
                <a:solidFill>
                  <a:srgbClr val="E0B64A"/>
                </a:solidFill>
                <a:latin typeface="Calibri" pitchFamily="34" charset="0"/>
                <a:ea typeface="Calibri" pitchFamily="34" charset="-122"/>
                <a:cs typeface="Calibri" pitchFamily="34" charset="-120"/>
              </a:rPr>
              <a:t>24</a:t>
            </a:r>
            <a:endParaRPr lang="en-US" sz="6000" dirty="0"/>
          </a:p>
        </p:txBody>
      </p:sp>
      <p:sp>
        <p:nvSpPr>
          <p:cNvPr id="18" name="Text 16"/>
          <p:cNvSpPr txBox="1"/>
          <p:nvPr/>
        </p:nvSpPr>
        <p:spPr>
          <a:xfrm>
            <a:off x="4553712" y="5550408"/>
            <a:ext cx="3200400" cy="548640"/>
          </a:xfrm>
          <a:prstGeom prst="rect">
            <a:avLst/>
          </a:prstGeom>
          <a:noFill/>
          <a:ln/>
        </p:spPr>
        <p:txBody>
          <a:bodyPr wrap="square" lIns="0" tIns="0" rIns="0" bIns="0" rtlCol="0" anchor="ctr"/>
          <a:lstStyle/>
          <a:p>
            <a:pPr algn="ctr" indent="0" marL="0">
              <a:buNone/>
            </a:pPr>
            <a:r>
              <a:rPr lang="en-US" sz="1450" dirty="0">
                <a:solidFill>
                  <a:srgbClr val="CFE0F2"/>
                </a:solidFill>
                <a:latin typeface="Calibri" pitchFamily="34" charset="0"/>
                <a:ea typeface="Calibri" pitchFamily="34" charset="-122"/>
                <a:cs typeface="Calibri" pitchFamily="34" charset="-120"/>
              </a:rPr>
              <a:t>tests passing</a:t>
            </a:r>
            <a:endParaRPr lang="en-US" sz="1450" dirty="0"/>
          </a:p>
        </p:txBody>
      </p:sp>
      <p:sp>
        <p:nvSpPr>
          <p:cNvPr id="19" name="Shape 17"/>
          <p:cNvSpPr/>
          <p:nvPr/>
        </p:nvSpPr>
        <p:spPr>
          <a:xfrm>
            <a:off x="8193024" y="4133088"/>
            <a:ext cx="3566160" cy="2148840"/>
          </a:xfrm>
          <a:prstGeom prst="roundRect">
            <a:avLst>
              <a:gd name="adj" fmla="val 3830"/>
            </a:avLst>
          </a:prstGeom>
          <a:solidFill>
            <a:srgbClr val="16273D"/>
          </a:solidFill>
          <a:ln/>
        </p:spPr>
      </p:sp>
      <p:sp>
        <p:nvSpPr>
          <p:cNvPr id="20" name="Text 18"/>
          <p:cNvSpPr txBox="1"/>
          <p:nvPr/>
        </p:nvSpPr>
        <p:spPr>
          <a:xfrm>
            <a:off x="8193024" y="4453128"/>
            <a:ext cx="3566160" cy="1097280"/>
          </a:xfrm>
          <a:prstGeom prst="rect">
            <a:avLst/>
          </a:prstGeom>
          <a:noFill/>
          <a:ln/>
        </p:spPr>
        <p:txBody>
          <a:bodyPr wrap="square" lIns="0" tIns="0" rIns="0" bIns="0" rtlCol="0" anchor="ctr"/>
          <a:lstStyle/>
          <a:p>
            <a:pPr algn="ctr" indent="0" marL="0">
              <a:buNone/>
            </a:pPr>
            <a:r>
              <a:rPr lang="en-US" sz="6000" b="1" dirty="0">
                <a:solidFill>
                  <a:srgbClr val="E8863C"/>
                </a:solidFill>
                <a:latin typeface="Calibri" pitchFamily="34" charset="0"/>
                <a:ea typeface="Calibri" pitchFamily="34" charset="-122"/>
                <a:cs typeface="Calibri" pitchFamily="34" charset="-120"/>
              </a:rPr>
              <a:t>0</a:t>
            </a:r>
            <a:endParaRPr lang="en-US" sz="6000" dirty="0"/>
          </a:p>
        </p:txBody>
      </p:sp>
      <p:sp>
        <p:nvSpPr>
          <p:cNvPr id="21" name="Text 19"/>
          <p:cNvSpPr txBox="1"/>
          <p:nvPr/>
        </p:nvSpPr>
        <p:spPr>
          <a:xfrm>
            <a:off x="8375904" y="5550408"/>
            <a:ext cx="3200400" cy="548640"/>
          </a:xfrm>
          <a:prstGeom prst="rect">
            <a:avLst/>
          </a:prstGeom>
          <a:noFill/>
          <a:ln/>
        </p:spPr>
        <p:txBody>
          <a:bodyPr wrap="square" lIns="0" tIns="0" rIns="0" bIns="0" rtlCol="0" anchor="ctr"/>
          <a:lstStyle/>
          <a:p>
            <a:pPr algn="ctr" indent="0" marL="0">
              <a:buNone/>
            </a:pPr>
            <a:r>
              <a:rPr lang="en-US" sz="1450" dirty="0">
                <a:solidFill>
                  <a:srgbClr val="CFE0F2"/>
                </a:solidFill>
                <a:latin typeface="Calibri" pitchFamily="34" charset="0"/>
                <a:ea typeface="Calibri" pitchFamily="34" charset="-122"/>
                <a:cs typeface="Calibri" pitchFamily="34" charset="-120"/>
              </a:rPr>
              <a:t>paid services / setup</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algn="l" indent="0" marL="0">
              <a:buNone/>
            </a:pPr>
            <a:r>
              <a:rPr lang="en-US" sz="3000" b="1" dirty="0">
                <a:solidFill>
                  <a:srgbClr val="16263A"/>
                </a:solidFill>
                <a:latin typeface="Calibri" pitchFamily="34" charset="0"/>
                <a:ea typeface="Calibri" pitchFamily="34" charset="-122"/>
                <a:cs typeface="Calibri" pitchFamily="34" charset="-120"/>
              </a:rPr>
              <a:t>Honest Limits &amp; What's Next</a:t>
            </a:r>
            <a:endParaRPr lang="en-US" sz="3000" dirty="0"/>
          </a:p>
        </p:txBody>
      </p:sp>
      <p:sp>
        <p:nvSpPr>
          <p:cNvPr id="3" name="Text 1"/>
          <p:cNvSpPr txBox="1"/>
          <p:nvPr/>
        </p:nvSpPr>
        <p:spPr>
          <a:xfrm>
            <a:off x="548640" y="969264"/>
            <a:ext cx="11091672" cy="365760"/>
          </a:xfrm>
          <a:prstGeom prst="rect">
            <a:avLst/>
          </a:prstGeom>
          <a:noFill/>
          <a:ln/>
        </p:spPr>
        <p:txBody>
          <a:bodyPr wrap="square" lIns="0" tIns="0" rIns="0" bIns="0" rtlCol="0" anchor="ctr"/>
          <a:lstStyle/>
          <a:p>
            <a:pPr algn="l" indent="0" marL="0">
              <a:buNone/>
            </a:pPr>
            <a:r>
              <a:rPr lang="en-US" sz="1500" dirty="0">
                <a:solidFill>
                  <a:srgbClr val="5B6B7B"/>
                </a:solidFill>
                <a:latin typeface="Calibri" pitchFamily="34" charset="0"/>
                <a:ea typeface="Calibri" pitchFamily="34" charset="-122"/>
                <a:cs typeface="Calibri" pitchFamily="34" charset="-120"/>
              </a:rPr>
              <a:t>Knowing the boundaries is part of good security work.</a:t>
            </a:r>
            <a:endParaRPr lang="en-US" sz="1500" dirty="0"/>
          </a:p>
        </p:txBody>
      </p:sp>
      <p:sp>
        <p:nvSpPr>
          <p:cNvPr id="4" name="Shape 2"/>
          <p:cNvSpPr/>
          <p:nvPr/>
        </p:nvSpPr>
        <p:spPr>
          <a:xfrm>
            <a:off x="548640" y="1737360"/>
            <a:ext cx="5394960" cy="4480560"/>
          </a:xfrm>
          <a:prstGeom prst="roundRect">
            <a:avLst>
              <a:gd name="adj" fmla="val 1837"/>
            </a:avLst>
          </a:prstGeom>
          <a:solidFill>
            <a:srgbClr val="F1F5F9"/>
          </a:solidFill>
          <a:ln/>
          <a:effectLst>
            <a:outerShdw sx="100000" sy="100000" kx="0" ky="0" algn="bl" rotWithShape="0" blurRad="101600" dist="38100" dir="5400000">
              <a:srgbClr val="9AA7B4">
                <a:alpha val="35000"/>
              </a:srgbClr>
            </a:outerShdw>
          </a:effectLst>
        </p:spPr>
      </p:sp>
      <p:sp>
        <p:nvSpPr>
          <p:cNvPr id="5" name="Text 3"/>
          <p:cNvSpPr txBox="1"/>
          <p:nvPr/>
        </p:nvSpPr>
        <p:spPr>
          <a:xfrm>
            <a:off x="868680" y="1965960"/>
            <a:ext cx="4572000" cy="457200"/>
          </a:xfrm>
          <a:prstGeom prst="rect">
            <a:avLst/>
          </a:prstGeom>
          <a:noFill/>
          <a:ln/>
        </p:spPr>
        <p:txBody>
          <a:bodyPr wrap="square" lIns="0" tIns="0" rIns="0" bIns="0" rtlCol="0" anchor="ctr"/>
          <a:lstStyle/>
          <a:p>
            <a:pPr indent="0" marL="0">
              <a:buNone/>
            </a:pPr>
            <a:r>
              <a:rPr lang="en-US" sz="1800" b="1" dirty="0">
                <a:solidFill>
                  <a:srgbClr val="1B2733"/>
                </a:solidFill>
                <a:latin typeface="Calibri" pitchFamily="34" charset="0"/>
                <a:ea typeface="Calibri" pitchFamily="34" charset="-122"/>
                <a:cs typeface="Calibri" pitchFamily="34" charset="-120"/>
              </a:rPr>
              <a:t>Current limits</a:t>
            </a:r>
            <a:endParaRPr lang="en-US" sz="1800" dirty="0"/>
          </a:p>
        </p:txBody>
      </p:sp>
      <p:sp>
        <p:nvSpPr>
          <p:cNvPr id="6" name="Text 4"/>
          <p:cNvSpPr txBox="1"/>
          <p:nvPr/>
        </p:nvSpPr>
        <p:spPr>
          <a:xfrm>
            <a:off x="914400" y="2560320"/>
            <a:ext cx="4754880" cy="3383280"/>
          </a:xfrm>
          <a:prstGeom prst="rect">
            <a:avLst/>
          </a:prstGeom>
          <a:noFill/>
          <a:ln/>
        </p:spPr>
        <p:txBody>
          <a:bodyPr wrap="square" lIns="0" tIns="0" rIns="0" bIns="0" rtlCol="0" anchor="ctr"/>
          <a:lstStyle/>
          <a:p>
            <a:pPr marL="203200" indent="-203200">
              <a:spcAft>
                <a:spcPts val="1200"/>
              </a:spcAft>
              <a:buSzPct val="100000"/>
              <a:buChar char="•"/>
            </a:pPr>
            <a:r>
              <a:rPr lang="en-US" sz="1400" dirty="0">
                <a:solidFill>
                  <a:srgbClr val="1B2733"/>
                </a:solidFill>
                <a:latin typeface="Calibri" pitchFamily="34" charset="0"/>
                <a:ea typeface="Calibri" pitchFamily="34" charset="-122"/>
                <a:cs typeface="Calibri" pitchFamily="34" charset="-120"/>
              </a:rPr>
              <a:t>Simple 'acting analyst' selector, not real login/RBAC</a:t>
            </a:r>
            <a:endParaRPr lang="en-US" sz="1400" dirty="0"/>
          </a:p>
          <a:p>
            <a:pPr marL="203200" indent="-203200">
              <a:spcAft>
                <a:spcPts val="1200"/>
              </a:spcAft>
              <a:buSzPct val="100000"/>
              <a:buChar char="•"/>
            </a:pPr>
            <a:r>
              <a:rPr lang="en-US" sz="1400" dirty="0">
                <a:solidFill>
                  <a:srgbClr val="1B2733"/>
                </a:solidFill>
                <a:latin typeface="Calibri" pitchFamily="34" charset="0"/>
                <a:ea typeface="Calibri" pitchFamily="34" charset="-122"/>
                <a:cs typeface="Calibri" pitchFamily="34" charset="-120"/>
              </a:rPr>
              <a:t>Threat-intel &amp; asset lists are bundled samples, not live feeds</a:t>
            </a:r>
            <a:endParaRPr lang="en-US" sz="1400" dirty="0"/>
          </a:p>
          <a:p>
            <a:pPr marL="203200" indent="-203200">
              <a:spcAft>
                <a:spcPts val="1200"/>
              </a:spcAft>
              <a:buSzPct val="100000"/>
              <a:buChar char="•"/>
            </a:pPr>
            <a:r>
              <a:rPr lang="en-US" sz="1400" dirty="0">
                <a:solidFill>
                  <a:srgbClr val="1B2733"/>
                </a:solidFill>
                <a:latin typeface="Calibri" pitchFamily="34" charset="0"/>
                <a:ea typeface="Calibri" pitchFamily="34" charset="-122"/>
                <a:cs typeface="Calibri" pitchFamily="34" charset="-120"/>
              </a:rPr>
              <a:t>Correlation is rule-based (same source + time window)</a:t>
            </a:r>
            <a:endParaRPr lang="en-US" sz="1400" dirty="0"/>
          </a:p>
          <a:p>
            <a:pPr marL="203200" indent="-203200">
              <a:spcAft>
                <a:spcPts val="1200"/>
              </a:spcAft>
              <a:buSzPct val="100000"/>
              <a:buChar char="•"/>
            </a:pPr>
            <a:r>
              <a:rPr lang="en-US" sz="1400" dirty="0">
                <a:solidFill>
                  <a:srgbClr val="1B2733"/>
                </a:solidFill>
                <a:latin typeface="Calibri" pitchFamily="34" charset="0"/>
                <a:ea typeface="Calibri" pitchFamily="34" charset="-122"/>
                <a:cs typeface="Calibri" pitchFamily="34" charset="-120"/>
              </a:rPr>
              <a:t>Assists response; doesn't take actions automatically</a:t>
            </a:r>
            <a:endParaRPr lang="en-US" sz="1400" dirty="0"/>
          </a:p>
        </p:txBody>
      </p:sp>
      <p:sp>
        <p:nvSpPr>
          <p:cNvPr id="7" name="Shape 5"/>
          <p:cNvSpPr/>
          <p:nvPr/>
        </p:nvSpPr>
        <p:spPr>
          <a:xfrm>
            <a:off x="6245352" y="1737360"/>
            <a:ext cx="5394960" cy="4480560"/>
          </a:xfrm>
          <a:prstGeom prst="roundRect">
            <a:avLst>
              <a:gd name="adj" fmla="val 1837"/>
            </a:avLst>
          </a:prstGeom>
          <a:solidFill>
            <a:srgbClr val="16263A"/>
          </a:solidFill>
          <a:ln/>
          <a:effectLst>
            <a:outerShdw sx="100000" sy="100000" kx="0" ky="0" algn="bl" rotWithShape="0" blurRad="101600" dist="38100" dir="5400000">
              <a:srgbClr val="9AA7B4">
                <a:alpha val="35000"/>
              </a:srgbClr>
            </a:outerShdw>
          </a:effectLst>
        </p:spPr>
      </p:sp>
      <p:sp>
        <p:nvSpPr>
          <p:cNvPr id="8" name="Shape 6"/>
          <p:cNvSpPr/>
          <p:nvPr/>
        </p:nvSpPr>
        <p:spPr>
          <a:xfrm>
            <a:off x="6537960" y="1920240"/>
            <a:ext cx="640080" cy="640080"/>
          </a:xfrm>
          <a:prstGeom prst="ellipse">
            <a:avLst/>
          </a:prstGeom>
          <a:solidFill>
            <a:srgbClr val="2FB27F"/>
          </a:solidFill>
          <a:ln/>
        </p:spPr>
      </p:sp>
      <p:pic>
        <p:nvPicPr>
          <p:cNvPr id="9" name="Image 0" descr="preencoded.png">    </p:cNvPr>
          <p:cNvPicPr>
            <a:picLocks noChangeAspect="1"/>
          </p:cNvPicPr>
          <p:nvPr/>
        </p:nvPicPr>
        <p:blipFill>
          <a:blip r:embed="rId1"/>
          <a:stretch>
            <a:fillRect/>
          </a:stretch>
        </p:blipFill>
        <p:spPr>
          <a:xfrm>
            <a:off x="6697980" y="2080260"/>
            <a:ext cx="320040" cy="320040"/>
          </a:xfrm>
          <a:prstGeom prst="rect">
            <a:avLst/>
          </a:prstGeom>
        </p:spPr>
      </p:pic>
      <p:sp>
        <p:nvSpPr>
          <p:cNvPr id="10" name="Text 7"/>
          <p:cNvSpPr txBox="1"/>
          <p:nvPr/>
        </p:nvSpPr>
        <p:spPr>
          <a:xfrm>
            <a:off x="7315200" y="1993392"/>
            <a:ext cx="420624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Version 2 roadmap</a:t>
            </a:r>
            <a:endParaRPr lang="en-US" sz="1800" dirty="0"/>
          </a:p>
        </p:txBody>
      </p:sp>
      <p:sp>
        <p:nvSpPr>
          <p:cNvPr id="11" name="Text 8"/>
          <p:cNvSpPr txBox="1"/>
          <p:nvPr/>
        </p:nvSpPr>
        <p:spPr>
          <a:xfrm>
            <a:off x="6583680" y="2788920"/>
            <a:ext cx="4754880" cy="3291840"/>
          </a:xfrm>
          <a:prstGeom prst="rect">
            <a:avLst/>
          </a:prstGeom>
          <a:noFill/>
          <a:ln/>
        </p:spPr>
        <p:txBody>
          <a:bodyPr wrap="square" lIns="0" tIns="0" rIns="0" bIns="0" rtlCol="0" anchor="ctr"/>
          <a:lstStyle/>
          <a:p>
            <a:pPr marL="203200" indent="-203200">
              <a:spcAft>
                <a:spcPts val="1200"/>
              </a:spcAft>
              <a:buSzPct val="100000"/>
              <a:buChar char="•"/>
            </a:pPr>
            <a:r>
              <a:rPr lang="en-US" sz="1400" dirty="0">
                <a:solidFill>
                  <a:srgbClr val="E3ECF7"/>
                </a:solidFill>
                <a:latin typeface="Calibri" pitchFamily="34" charset="0"/>
                <a:ea typeface="Calibri" pitchFamily="34" charset="-122"/>
                <a:cs typeface="Calibri" pitchFamily="34" charset="-120"/>
              </a:rPr>
              <a:t>Real authentication &amp; role-based access</a:t>
            </a:r>
            <a:endParaRPr lang="en-US" sz="1400" dirty="0"/>
          </a:p>
          <a:p>
            <a:pPr marL="203200" indent="-203200">
              <a:spcAft>
                <a:spcPts val="1200"/>
              </a:spcAft>
              <a:buSzPct val="100000"/>
              <a:buChar char="•"/>
            </a:pPr>
            <a:r>
              <a:rPr lang="en-US" sz="1400" dirty="0">
                <a:solidFill>
                  <a:srgbClr val="E3ECF7"/>
                </a:solidFill>
                <a:latin typeface="Calibri" pitchFamily="34" charset="0"/>
                <a:ea typeface="Calibri" pitchFamily="34" charset="-122"/>
                <a:cs typeface="Calibri" pitchFamily="34" charset="-120"/>
              </a:rPr>
              <a:t>Live threat feeds (AbuseIPDB, OTX) + CMDB sync</a:t>
            </a:r>
            <a:endParaRPr lang="en-US" sz="1400" dirty="0"/>
          </a:p>
          <a:p>
            <a:pPr marL="203200" indent="-203200">
              <a:spcAft>
                <a:spcPts val="1200"/>
              </a:spcAft>
              <a:buSzPct val="100000"/>
              <a:buChar char="•"/>
            </a:pPr>
            <a:r>
              <a:rPr lang="en-US" sz="1400" dirty="0">
                <a:solidFill>
                  <a:srgbClr val="E3ECF7"/>
                </a:solidFill>
                <a:latin typeface="Calibri" pitchFamily="34" charset="0"/>
                <a:ea typeface="Calibri" pitchFamily="34" charset="-122"/>
                <a:cs typeface="Calibri" pitchFamily="34" charset="-120"/>
              </a:rPr>
              <a:t>Automated response actions → toward SOAR</a:t>
            </a:r>
            <a:endParaRPr lang="en-US" sz="1400" dirty="0"/>
          </a:p>
          <a:p>
            <a:pPr marL="203200" indent="-203200">
              <a:spcAft>
                <a:spcPts val="1200"/>
              </a:spcAft>
              <a:buSzPct val="100000"/>
              <a:buChar char="•"/>
            </a:pPr>
            <a:r>
              <a:rPr lang="en-US" sz="1400" dirty="0">
                <a:solidFill>
                  <a:srgbClr val="E3ECF7"/>
                </a:solidFill>
                <a:latin typeface="Calibri" pitchFamily="34" charset="0"/>
                <a:ea typeface="Calibri" pitchFamily="34" charset="-122"/>
                <a:cs typeface="Calibri" pitchFamily="34" charset="-120"/>
              </a:rPr>
              <a:t>Two-way integration with Wazuh / a SIEM</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1463040" y="3108960"/>
            <a:ext cx="5120640" cy="5120640"/>
          </a:xfrm>
          <a:prstGeom prst="ellipse">
            <a:avLst/>
          </a:prstGeom>
          <a:solidFill>
            <a:srgbClr val="13233A"/>
          </a:solidFill>
          <a:ln/>
        </p:spPr>
      </p:sp>
      <p:sp>
        <p:nvSpPr>
          <p:cNvPr id="3" name="Shape 1"/>
          <p:cNvSpPr/>
          <p:nvPr/>
        </p:nvSpPr>
        <p:spPr>
          <a:xfrm>
            <a:off x="548640" y="1280160"/>
            <a:ext cx="914400" cy="914400"/>
          </a:xfrm>
          <a:prstGeom prst="ellipse">
            <a:avLst/>
          </a:prstGeom>
          <a:solidFill>
            <a:srgbClr val="3B82F6"/>
          </a:solidFill>
          <a:ln/>
        </p:spPr>
      </p:sp>
      <p:pic>
        <p:nvPicPr>
          <p:cNvPr id="4" name="Image 0" descr="preencoded.png">    </p:cNvPr>
          <p:cNvPicPr>
            <a:picLocks noChangeAspect="1"/>
          </p:cNvPicPr>
          <p:nvPr/>
        </p:nvPicPr>
        <p:blipFill>
          <a:blip r:embed="rId1"/>
          <a:stretch>
            <a:fillRect/>
          </a:stretch>
        </p:blipFill>
        <p:spPr>
          <a:xfrm>
            <a:off x="777240" y="1508760"/>
            <a:ext cx="457200" cy="457200"/>
          </a:xfrm>
          <a:prstGeom prst="rect">
            <a:avLst/>
          </a:prstGeom>
        </p:spPr>
      </p:pic>
      <p:sp>
        <p:nvSpPr>
          <p:cNvPr id="5" name="Text 2"/>
          <p:cNvSpPr txBox="1"/>
          <p:nvPr/>
        </p:nvSpPr>
        <p:spPr>
          <a:xfrm>
            <a:off x="548640" y="2468880"/>
            <a:ext cx="10515600" cy="457200"/>
          </a:xfrm>
          <a:prstGeom prst="rect">
            <a:avLst/>
          </a:prstGeom>
          <a:noFill/>
          <a:ln/>
        </p:spPr>
        <p:txBody>
          <a:bodyPr wrap="square" lIns="0" tIns="0" rIns="0" bIns="0" rtlCol="0" anchor="ctr"/>
          <a:lstStyle/>
          <a:p>
            <a:pPr indent="0" marL="0">
              <a:buNone/>
            </a:pPr>
            <a:r>
              <a:rPr lang="en-US" sz="1600" dirty="0">
                <a:solidFill>
                  <a:srgbClr val="7FA8D8"/>
                </a:solidFill>
                <a:latin typeface="Calibri" pitchFamily="34" charset="0"/>
                <a:ea typeface="Calibri" pitchFamily="34" charset="-122"/>
                <a:cs typeface="Calibri" pitchFamily="34" charset="-120"/>
              </a:rPr>
              <a:t>In one sentence</a:t>
            </a:r>
            <a:endParaRPr lang="en-US" sz="1600" dirty="0"/>
          </a:p>
        </p:txBody>
      </p:sp>
      <p:sp>
        <p:nvSpPr>
          <p:cNvPr id="6" name="Text 3"/>
          <p:cNvSpPr txBox="1"/>
          <p:nvPr/>
        </p:nvSpPr>
        <p:spPr>
          <a:xfrm>
            <a:off x="548640" y="2926080"/>
            <a:ext cx="10607040" cy="1645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TriageDesk pulls every alert into one place, adds context, groups them into incidents, and tracks response deadlines — so nothing serious slips through.</a:t>
            </a:r>
            <a:endParaRPr lang="en-US" sz="2600" dirty="0"/>
          </a:p>
        </p:txBody>
      </p:sp>
      <p:sp>
        <p:nvSpPr>
          <p:cNvPr id="7" name="Text 4"/>
          <p:cNvSpPr txBox="1"/>
          <p:nvPr/>
        </p:nvSpPr>
        <p:spPr>
          <a:xfrm>
            <a:off x="548640" y="5029200"/>
            <a:ext cx="10058400" cy="548640"/>
          </a:xfrm>
          <a:prstGeom prst="rect">
            <a:avLst/>
          </a:prstGeom>
          <a:noFill/>
          <a:ln/>
        </p:spPr>
        <p:txBody>
          <a:bodyPr wrap="square" lIns="0" tIns="0" rIns="0" bIns="0" rtlCol="0" anchor="ctr"/>
          <a:lstStyle/>
          <a:p>
            <a:pPr indent="0" marL="0">
              <a:buNone/>
            </a:pPr>
            <a:r>
              <a:rPr lang="en-US" sz="2000" i="1" dirty="0">
                <a:solidFill>
                  <a:srgbClr val="CFE0F2"/>
                </a:solidFill>
                <a:latin typeface="Calibri" pitchFamily="34" charset="0"/>
                <a:ea typeface="Calibri" pitchFamily="34" charset="-122"/>
                <a:cs typeface="Calibri" pitchFamily="34" charset="-120"/>
              </a:rPr>
              <a:t>Thank you — questions welcome.</a:t>
            </a:r>
            <a:endParaRPr lang="en-US" sz="2000" dirty="0"/>
          </a:p>
        </p:txBody>
      </p:sp>
      <p:sp>
        <p:nvSpPr>
          <p:cNvPr id="8" name="Text 5"/>
          <p:cNvSpPr txBox="1"/>
          <p:nvPr/>
        </p:nvSpPr>
        <p:spPr>
          <a:xfrm>
            <a:off x="548640" y="5943600"/>
            <a:ext cx="10972800" cy="365760"/>
          </a:xfrm>
          <a:prstGeom prst="rect">
            <a:avLst/>
          </a:prstGeom>
          <a:noFill/>
          <a:ln/>
        </p:spPr>
        <p:txBody>
          <a:bodyPr wrap="square" lIns="0" tIns="0" rIns="0" bIns="0" rtlCol="0" anchor="ctr"/>
          <a:lstStyle/>
          <a:p>
            <a:pPr indent="0" marL="0">
              <a:buNone/>
            </a:pPr>
            <a:r>
              <a:rPr lang="en-US" sz="1300" dirty="0">
                <a:solidFill>
                  <a:srgbClr val="6E8199"/>
                </a:solidFill>
                <a:latin typeface="Calibri" pitchFamily="34" charset="0"/>
                <a:ea typeface="Calibri" pitchFamily="34" charset="-122"/>
                <a:cs typeface="Calibri" pitchFamily="34" charset="-120"/>
              </a:rPr>
              <a:t>Win Myat Aung (Zane)  ·  IT Project 1  ·  Siam University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2026-09-22T05:31:48Z</dcterms:created>
  <dcterms:modified xsi:type="dcterms:W3CDTF">2026-09-22T05:31:48Z</dcterms:modified>
</cp:coreProperties>
</file>